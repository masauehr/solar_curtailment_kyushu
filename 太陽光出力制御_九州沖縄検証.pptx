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概要" id="{503949ee-ab87-35f5-8239-9125c5065bef}">
          <p14:sldIdLst>
            <p14:sldId id="256"/>
            <p14:sldId id="257"/>
            <p14:sldId id="258"/>
          </p14:sldIdLst>
        </p14:section>
        <p14:section name="気象と制御の関係" id="{68939926-5f49-f1be-a172-445b0577aaf5}">
          <p14:sldIdLst>
            <p14:sldId id="259"/>
            <p14:sldId id="260"/>
            <p14:sldId id="261"/>
          </p14:sldIdLst>
        </p14:section>
        <p14:section name="予測モデル" id="{050056f2-fb51-ca7e-5daa-396f0d2819e2}">
          <p14:sldIdLst>
            <p14:sldId id="262"/>
            <p14:sldId id="263"/>
            <p14:sldId id="264"/>
          </p14:sldIdLst>
        </p14:section>
        <p14:section name="発電量と要因" id="{f8569375-18a0-29e4-2a98-7f2cd08db767}">
          <p14:sldIdLst>
            <p14:sldId id="265"/>
            <p14:sldId id="266"/>
          </p14:sldIdLst>
        </p14:section>
        <p14:section name="予報と説明" id="{1b4dd1ad-59f8-837b-02e2-d4d761d034c9}">
          <p14:sldIdLst>
            <p14:sldId id="267"/>
            <p14:sldId id="268"/>
          </p14:sldIdLst>
        </p14:section>
        <p14:section name="信頼性とまとめ" id="{ac0ed576-3ca7-005d-0b8e-a641cbe0a52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平均日照時間(時間)</a:t>
            </a:r>
          </a:p>
        </c:rich>
      </c:tx>
      <c:layout/>
      <c:overlay val="0"/>
    </c:title>
    <c:autoTitleDeleted val="0"/>
    <c:plotArea>
      <c:layout/>
      <c:barChart>
        <c:barDir val="col"/>
        <c:grouping val="clustered"/>
        <c:varyColors val="0"/>
        <c:ser>
          <c:idx val="0"/>
          <c:order val="0"/>
          <c:tx>
            <c:strRef>
              <c:f>Sheet1!$B$1</c:f>
              <c:strCache>
                <c:ptCount val="1"/>
                <c:pt idx="0">
                  <c:v>制御日</c:v>
                </c:pt>
              </c:strCache>
            </c:strRef>
          </c:tx>
          <c:spPr>
            <a:solidFill>
              <a:srgbClr val="D1495B"/>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Sheet1!$A$2:$A$3</c:f>
              <c:multiLvlStrCache>
                <c:ptCount val="2"/>
                <c:lvl>
                  <c:pt idx="0">
                    <c:v>九州</c:v>
                  </c:pt>
                  <c:pt idx="1">
                    <c:v>沖縄</c:v>
                  </c:pt>
                </c:lvl>
              </c:multiLvlStrCache>
            </c:multiLvlStrRef>
          </c:cat>
          <c:val>
            <c:numRef>
              <c:f>Sheet1!$B$2:$B$3</c:f>
              <c:numCache>
                <c:formatCode>General</c:formatCode>
                <c:ptCount val="2"/>
                <c:pt idx="0">
                  <c:v>8.46</c:v>
                </c:pt>
                <c:pt idx="1">
                  <c:v>7.16</c:v>
                </c:pt>
              </c:numCache>
            </c:numRef>
          </c:val>
        </c:ser>
        <c:ser>
          <c:idx val="1"/>
          <c:order val="1"/>
          <c:tx>
            <c:strRef>
              <c:f>Sheet1!$C$1</c:f>
              <c:strCache>
                <c:ptCount val="1"/>
                <c:pt idx="0">
                  <c:v>非制御日</c:v>
                </c:pt>
              </c:strCache>
            </c:strRef>
          </c:tx>
          <c:spPr>
            <a:solidFill>
              <a:srgbClr val="2A6F97"/>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Sheet1!$A$2:$A$3</c:f>
              <c:multiLvlStrCache>
                <c:ptCount val="2"/>
                <c:lvl>
                  <c:pt idx="0">
                    <c:v>九州</c:v>
                  </c:pt>
                  <c:pt idx="1">
                    <c:v>沖縄</c:v>
                  </c:pt>
                </c:lvl>
              </c:multiLvlStrCache>
            </c:multiLvlStrRef>
          </c:cat>
          <c:val>
            <c:numRef>
              <c:f>Sheet1!$C$2:$C$3</c:f>
              <c:numCache>
                <c:formatCode>General</c:formatCode>
                <c:ptCount val="2"/>
                <c:pt idx="0">
                  <c:v>4.58</c:v>
                </c:pt>
                <c:pt idx="1">
                  <c:v>4.84</c:v>
                </c:pt>
              </c:numCache>
            </c:numRef>
          </c:val>
        </c:ser>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DDE3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制御日 vs 非制御日の判別力(Cohen's d)</a:t>
            </a:r>
          </a:p>
        </c:rich>
      </c:tx>
      <c:layout/>
      <c:overlay val="0"/>
    </c:title>
    <c:autoTitleDeleted val="0"/>
    <c:plotArea>
      <c:layout/>
      <c:barChart>
        <c:barDir val="col"/>
        <c:grouping val="clustered"/>
        <c:varyColors val="0"/>
        <c:ser>
          <c:idx val="0"/>
          <c:order val="0"/>
          <c:tx>
            <c:strRef>
              <c:f>Sheet1!$B$1</c:f>
              <c:strCache>
                <c:ptCount val="1"/>
                <c:pt idx="0">
                  <c:v>日照時間</c:v>
                </c:pt>
              </c:strCache>
            </c:strRef>
          </c:tx>
          <c:spPr>
            <a:solidFill>
              <a:srgbClr val="F2A900"/>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九州(全日)</c:v>
                  </c:pt>
                  <c:pt idx="1">
                    <c:v>九州(日曜)</c:v>
                  </c:pt>
                  <c:pt idx="2">
                    <c:v>沖縄(全日)</c:v>
                  </c:pt>
                  <c:pt idx="3">
                    <c:v>沖縄(日曜)</c:v>
                  </c:pt>
                </c:lvl>
              </c:multiLvlStrCache>
            </c:multiLvlStrRef>
          </c:cat>
          <c:val>
            <c:numRef>
              <c:f>Sheet1!$B$2:$B$5</c:f>
              <c:numCache>
                <c:formatCode>General</c:formatCode>
                <c:ptCount val="4"/>
                <c:pt idx="0">
                  <c:v>1.07</c:v>
                </c:pt>
                <c:pt idx="1">
                  <c:v>1.26</c:v>
                </c:pt>
                <c:pt idx="2">
                  <c:v>0.63</c:v>
                </c:pt>
                <c:pt idx="3">
                  <c:v>0.32</c:v>
                </c:pt>
              </c:numCache>
            </c:numRef>
          </c:val>
        </c:ser>
        <c:ser>
          <c:idx val="1"/>
          <c:order val="1"/>
          <c:tx>
            <c:strRef>
              <c:f>Sheet1!$C$1</c:f>
              <c:strCache>
                <c:ptCount val="1"/>
                <c:pt idx="0">
                  <c:v>全天日射量</c:v>
                </c:pt>
              </c:strCache>
            </c:strRef>
          </c:tx>
          <c:spPr>
            <a:solidFill>
              <a:srgbClr val="2A6F97"/>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九州(全日)</c:v>
                  </c:pt>
                  <c:pt idx="1">
                    <c:v>九州(日曜)</c:v>
                  </c:pt>
                  <c:pt idx="2">
                    <c:v>沖縄(全日)</c:v>
                  </c:pt>
                  <c:pt idx="3">
                    <c:v>沖縄(日曜)</c:v>
                  </c:pt>
                </c:lvl>
              </c:multiLvlStrCache>
            </c:multiLvlStrRef>
          </c:cat>
          <c:val>
            <c:numRef>
              <c:f>Sheet1!$C$2:$C$5</c:f>
              <c:numCache>
                <c:formatCode>General</c:formatCode>
                <c:ptCount val="4"/>
                <c:pt idx="0">
                  <c:v>0.93</c:v>
                </c:pt>
                <c:pt idx="1">
                  <c:v>0.94</c:v>
                </c:pt>
                <c:pt idx="2">
                  <c:v>0.41</c:v>
                </c:pt>
                <c:pt idx="3">
                  <c:v>0.19</c:v>
                </c:pt>
              </c:numCache>
            </c:numRef>
          </c:val>
        </c:ser>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DDE3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九州の判別力(ROC-AUC、福岡の日照)</a:t>
            </a:r>
          </a:p>
        </c:rich>
      </c:tx>
      <c:layout/>
      <c:overlay val="0"/>
    </c:title>
    <c:autoTitleDeleted val="0"/>
    <c:plotArea>
      <c:layout/>
      <c:barChart>
        <c:barDir val="bar"/>
        <c:grouping val="clustered"/>
        <c:varyColors val="0"/>
        <c:ser>
          <c:idx val="0"/>
          <c:order val="0"/>
          <c:tx>
            <c:strRef>
              <c:f>Sheet1!$B$1</c:f>
              <c:strCache>
                <c:ptCount val="1"/>
                <c:pt idx="0">
                  <c:v>ROC-AUC</c:v>
                </c:pt>
              </c:strCache>
            </c:strRef>
          </c:tx>
          <c:spPr>
            <a:solidFill>
              <a:srgbClr val="F2A900"/>
            </a:solidFill>
            <a:effectLst/>
          </c:spPr>
          <c:invertIfNegative val="0"/>
          <c:dLbls>
            <c:numFmt formatCode="0.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F2A900"/>
              </a:solidFill>
              <a:effectLst/>
            </c:spPr>
          </c:dPt>
          <c:dPt>
            <c:idx val="1"/>
            <c:invertIfNegative val="0"/>
            <c:bubble3D val="0"/>
            <c:spPr>
              <a:solidFill>
                <a:srgbClr val="5B6B80"/>
              </a:solidFill>
              <a:effectLst/>
            </c:spPr>
          </c:dPt>
          <c:dPt>
            <c:idx val="2"/>
            <c:invertIfNegative val="0"/>
            <c:bubble3D val="0"/>
            <c:spPr>
              <a:solidFill>
                <a:srgbClr val="5B6B80"/>
              </a:solidFill>
              <a:effectLst/>
            </c:spPr>
          </c:dPt>
          <c:dPt>
            <c:idx val="3"/>
            <c:invertIfNegative val="0"/>
            <c:bubble3D val="0"/>
            <c:spPr>
              <a:solidFill>
                <a:srgbClr val="5B6B80"/>
              </a:solidFill>
              <a:effectLst/>
            </c:spPr>
          </c:dPt>
          <c:dPt>
            <c:idx val="4"/>
            <c:invertIfNegative val="0"/>
            <c:bubble3D val="0"/>
            <c:spPr>
              <a:solidFill>
                <a:srgbClr val="5B6B80"/>
              </a:solidFill>
              <a:effectLst/>
            </c:spPr>
          </c:dPt>
          <c:dPt>
            <c:idx val="5"/>
            <c:invertIfNegative val="0"/>
            <c:bubble3D val="0"/>
            <c:spPr>
              <a:solidFill>
                <a:srgbClr val="5B6B80"/>
              </a:solidFill>
              <a:effectLst/>
            </c:spPr>
          </c:dPt>
          <c:cat>
            <c:multiLvlStrRef>
              <c:f>Sheet1!$A$2:$A$7</c:f>
              <c:multiLvlStrCache>
                <c:ptCount val="6"/>
                <c:lvl>
                  <c:pt idx="0">
                    <c:v>月+日照+曜日+トレンド</c:v>
                  </c:pt>
                  <c:pt idx="1">
                    <c:v>月+日照+トレンド</c:v>
                  </c:pt>
                  <c:pt idx="2">
                    <c:v>月のみ+トレンド</c:v>
                  </c:pt>
                  <c:pt idx="3">
                    <c:v>日照+曜日</c:v>
                  </c:pt>
                  <c:pt idx="4">
                    <c:v>日照のみ</c:v>
                  </c:pt>
                  <c:pt idx="5">
                    <c:v>曜日のみ</c:v>
                  </c:pt>
                </c:lvl>
              </c:multiLvlStrCache>
            </c:multiLvlStrRef>
          </c:cat>
          <c:val>
            <c:numRef>
              <c:f>Sheet1!$B$2:$B$7</c:f>
              <c:numCache>
                <c:formatCode>General</c:formatCode>
                <c:ptCount val="6"/>
                <c:pt idx="0">
                  <c:v>0.904</c:v>
                </c:pt>
                <c:pt idx="1">
                  <c:v>0.894</c:v>
                </c:pt>
                <c:pt idx="2">
                  <c:v>0.763</c:v>
                </c:pt>
                <c:pt idx="3">
                  <c:v>0.777</c:v>
                </c:pt>
                <c:pt idx="4">
                  <c:v>0.756</c:v>
                </c:pt>
                <c:pt idx="5">
                  <c:v>0.571</c:v>
                </c:pt>
              </c:numCache>
            </c:numRef>
          </c:val>
        </c:ser>
        <c:dLbls>
          <c:numFmt formatCode="0.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majorGridlines>
          <c:spPr>
            <a:ln w="9525" cap="flat">
              <a:solidFill>
                <a:srgbClr val="DDE3E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フルモデルのAUC(日照の取り方別)</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5B6B80"/>
            </a:solidFill>
            <a:effectLst/>
          </c:spPr>
          <c:invertIfNegative val="0"/>
          <c:dLbls>
            <c:numFmt formatCode="0.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5B6B80"/>
              </a:solidFill>
              <a:effectLst/>
            </c:spPr>
          </c:dPt>
          <c:dPt>
            <c:idx val="1"/>
            <c:invertIfNegative val="0"/>
            <c:bubble3D val="0"/>
            <c:spPr>
              <a:solidFill>
                <a:srgbClr val="F2A900"/>
              </a:solidFill>
              <a:effectLst/>
            </c:spPr>
          </c:dPt>
          <c:dPt>
            <c:idx val="2"/>
            <c:invertIfNegative val="0"/>
            <c:bubble3D val="0"/>
            <c:spPr>
              <a:solidFill>
                <a:srgbClr val="F2A900"/>
              </a:solidFill>
              <a:effectLst/>
            </c:spPr>
          </c:dPt>
          <c:cat>
            <c:multiLvlStrRef>
              <c:f>Sheet1!$A$2:$A$4</c:f>
              <c:multiLvlStrCache>
                <c:ptCount val="3"/>
                <c:lvl>
                  <c:pt idx="0">
                    <c:v>福岡1点</c:v>
                  </c:pt>
                  <c:pt idx="1">
                    <c:v>AMeDAS</c:v>
                  </c:pt>
                  <c:pt idx="2">
                    <c:v>AMGSDS</c:v>
                  </c:pt>
                </c:lvl>
              </c:multiLvlStrCache>
            </c:multiLvlStrRef>
          </c:cat>
          <c:val>
            <c:numRef>
              <c:f>Sheet1!$B$2:$B$4</c:f>
              <c:numCache>
                <c:formatCode>General</c:formatCode>
                <c:ptCount val="3"/>
                <c:pt idx="0">
                  <c:v>0.904</c:v>
                </c:pt>
                <c:pt idx="1">
                  <c:v>0.925</c:v>
                </c:pt>
                <c:pt idx="2">
                  <c:v>0.924</c:v>
                </c:pt>
              </c:numCache>
            </c:numRef>
          </c:val>
        </c:ser>
        <c:dLbls>
          <c:numFmt formatCode="0.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9525" cap="flat">
              <a:solidFill>
                <a:srgbClr val="DDE3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太陽光の系統出力との相関係数 r</a:t>
            </a:r>
          </a:p>
        </c:rich>
      </c:tx>
      <c:layout/>
      <c:overlay val="0"/>
    </c:title>
    <c:autoTitleDeleted val="0"/>
    <c:plotArea>
      <c:layout/>
      <c:barChart>
        <c:barDir val="col"/>
        <c:grouping val="clustered"/>
        <c:varyColors val="0"/>
        <c:ser>
          <c:idx val="0"/>
          <c:order val="0"/>
          <c:tx>
            <c:strRef>
              <c:f>Sheet1!$B$1</c:f>
              <c:strCache>
                <c:ptCount val="1"/>
                <c:pt idx="0">
                  <c:v>全日</c:v>
                </c:pt>
              </c:strCache>
            </c:strRef>
          </c:tx>
          <c:spPr>
            <a:solidFill>
              <a:srgbClr val="2A6F97"/>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日照時間</c:v>
                  </c:pt>
                  <c:pt idx="1">
                    <c:v>全天日射量</c:v>
                  </c:pt>
                  <c:pt idx="2">
                    <c:v>AMGSDS模擬</c:v>
                  </c:pt>
                  <c:pt idx="3">
                    <c:v>簡略化</c:v>
                  </c:pt>
                </c:lvl>
              </c:multiLvlStrCache>
            </c:multiLvlStrRef>
          </c:cat>
          <c:val>
            <c:numRef>
              <c:f>Sheet1!$B$2:$B$5</c:f>
              <c:numCache>
                <c:formatCode>General</c:formatCode>
                <c:ptCount val="4"/>
                <c:pt idx="0">
                  <c:v>0.799</c:v>
                </c:pt>
                <c:pt idx="1">
                  <c:v>0.835</c:v>
                </c:pt>
                <c:pt idx="2">
                  <c:v>0.67</c:v>
                </c:pt>
                <c:pt idx="3">
                  <c:v>0.691</c:v>
                </c:pt>
              </c:numCache>
            </c:numRef>
          </c:val>
        </c:ser>
        <c:ser>
          <c:idx val="1"/>
          <c:order val="1"/>
          <c:tx>
            <c:strRef>
              <c:f>Sheet1!$C$1</c:f>
              <c:strCache>
                <c:ptCount val="1"/>
                <c:pt idx="0">
                  <c:v>非制御日のみ</c:v>
                </c:pt>
              </c:strCache>
            </c:strRef>
          </c:tx>
          <c:spPr>
            <a:solidFill>
              <a:srgbClr val="F2A900"/>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日照時間</c:v>
                  </c:pt>
                  <c:pt idx="1">
                    <c:v>全天日射量</c:v>
                  </c:pt>
                  <c:pt idx="2">
                    <c:v>AMGSDS模擬</c:v>
                  </c:pt>
                  <c:pt idx="3">
                    <c:v>簡略化</c:v>
                  </c:pt>
                </c:lvl>
              </c:multiLvlStrCache>
            </c:multiLvlStrRef>
          </c:cat>
          <c:val>
            <c:numRef>
              <c:f>Sheet1!$C$2:$C$5</c:f>
              <c:numCache>
                <c:formatCode>General</c:formatCode>
                <c:ptCount val="4"/>
                <c:pt idx="0">
                  <c:v>0.811</c:v>
                </c:pt>
                <c:pt idx="1">
                  <c:v>0.854</c:v>
                </c:pt>
                <c:pt idx="2">
                  <c:v>0.695</c:v>
                </c:pt>
                <c:pt idx="3">
                  <c:v>0.693</c:v>
                </c:pt>
              </c:numCache>
            </c:numRef>
          </c:val>
        </c:ser>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9525" cap="flat">
              <a:solidFill>
                <a:srgbClr val="DDE3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AMGSDS日照予報のバイアス(h)</a:t>
            </a:r>
          </a:p>
        </c:rich>
      </c:tx>
      <c:layout/>
      <c:overlay val="0"/>
    </c:title>
    <c:autoTitleDeleted val="0"/>
    <c:plotArea>
      <c:layout/>
      <c:barChart>
        <c:barDir val="col"/>
        <c:grouping val="clustered"/>
        <c:varyColors val="0"/>
        <c:ser>
          <c:idx val="0"/>
          <c:order val="0"/>
          <c:tx>
            <c:strRef>
              <c:f>Sheet1!$B$1</c:f>
              <c:strCache>
                <c:ptCount val="1"/>
                <c:pt idx="0">
                  <c:v>バイアス(時間)</c:v>
                </c:pt>
              </c:strCache>
            </c:strRef>
          </c:tx>
          <c:spPr>
            <a:solidFill>
              <a:srgbClr val="D1495B"/>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D1495B"/>
              </a:solidFill>
              <a:effectLst/>
            </c:spPr>
          </c:dPt>
          <c:dPt>
            <c:idx val="1"/>
            <c:invertIfNegative val="0"/>
            <c:bubble3D val="0"/>
            <c:spPr>
              <a:solidFill>
                <a:srgbClr val="5B6B80"/>
              </a:solidFill>
              <a:effectLst/>
            </c:spPr>
          </c:dPt>
          <c:dPt>
            <c:idx val="2"/>
            <c:invertIfNegative val="0"/>
            <c:bubble3D val="0"/>
            <c:spPr>
              <a:solidFill>
                <a:srgbClr val="5B6B80"/>
              </a:solidFill>
              <a:effectLst/>
            </c:spPr>
          </c:dPt>
          <c:dPt>
            <c:idx val="3"/>
            <c:invertIfNegative val="0"/>
            <c:bubble3D val="0"/>
            <c:spPr>
              <a:solidFill>
                <a:srgbClr val="5B6B80"/>
              </a:solidFill>
              <a:effectLst/>
            </c:spPr>
          </c:dPt>
          <c:cat>
            <c:multiLvlStrRef>
              <c:f>Sheet1!$A$2:$A$5</c:f>
              <c:multiLvlStrCache>
                <c:ptCount val="4"/>
                <c:lvl>
                  <c:pt idx="0">
                    <c:v>快晴</c:v>
                  </c:pt>
                  <c:pt idx="1">
                    <c:v>晴れ</c:v>
                  </c:pt>
                  <c:pt idx="2">
                    <c:v>薄曇り</c:v>
                  </c:pt>
                  <c:pt idx="3">
                    <c:v>曇り雨</c:v>
                  </c:pt>
                </c:lvl>
              </c:multiLvlStrCache>
            </c:multiLvlStrRef>
          </c:cat>
          <c:val>
            <c:numRef>
              <c:f>Sheet1!$B$2:$B$5</c:f>
              <c:numCache>
                <c:formatCode>General</c:formatCode>
                <c:ptCount val="4"/>
                <c:pt idx="0">
                  <c:v>-5.3</c:v>
                </c:pt>
                <c:pt idx="1">
                  <c:v>-0.97</c:v>
                </c:pt>
                <c:pt idx="2">
                  <c:v>2.74</c:v>
                </c:pt>
                <c:pt idx="3">
                  <c:v>2.43</c:v>
                </c:pt>
              </c:numCache>
            </c:numRef>
          </c:val>
        </c:ser>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2"/>
        <c:crosses val="autoZero"/>
        <c:auto val="1"/>
        <c:lblAlgn val="ctr"/>
        <c:noMultiLvlLbl val="1"/>
      </c:catAx>
      <c:valAx>
        <c:axId val="2094734552"/>
        <c:scaling>
          <c:orientation val="minMax"/>
          <c:max val="4"/>
          <c:min val="-7"/>
        </c:scaling>
        <c:delete val="0"/>
        <c:axPos val="l"/>
        <c:majorGridlines>
          <c:spPr>
            <a:ln w="9525" cap="flat">
              <a:solidFill>
                <a:srgbClr val="DDE3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九州バックテストのAUC</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5B6B80"/>
            </a:solidFill>
            <a:effectLst/>
          </c:spPr>
          <c:invertIfNegative val="0"/>
          <c:dLbls>
            <c:numFmt formatCode="0.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5B6B80"/>
              </a:solidFill>
              <a:effectLst/>
            </c:spPr>
          </c:dPt>
          <c:dPt>
            <c:idx val="1"/>
            <c:invertIfNegative val="0"/>
            <c:bubble3D val="0"/>
            <c:spPr>
              <a:solidFill>
                <a:srgbClr val="D1495B"/>
              </a:solidFill>
              <a:effectLst/>
            </c:spPr>
          </c:dPt>
          <c:dPt>
            <c:idx val="2"/>
            <c:invertIfNegative val="0"/>
            <c:bubble3D val="0"/>
            <c:spPr>
              <a:solidFill>
                <a:srgbClr val="F2A900"/>
              </a:solidFill>
              <a:effectLst/>
            </c:spPr>
          </c:dPt>
          <c:cat>
            <c:multiLvlStrRef>
              <c:f>Sheet1!$A$2:$A$4</c:f>
              <c:multiLvlStrCache>
                <c:ptCount val="3"/>
                <c:lvl>
                  <c:pt idx="0">
                    <c:v>実測そのまま</c:v>
                  </c:pt>
                  <c:pt idx="1">
                    <c:v>AMGSDS模擬</c:v>
                  </c:pt>
                  <c:pt idx="2">
                    <c:v>簡略化</c:v>
                  </c:pt>
                </c:lvl>
              </c:multiLvlStrCache>
            </c:multiLvlStrRef>
          </c:cat>
          <c:val>
            <c:numRef>
              <c:f>Sheet1!$B$2:$B$4</c:f>
              <c:numCache>
                <c:formatCode>General</c:formatCode>
                <c:ptCount val="3"/>
                <c:pt idx="0">
                  <c:v>0.777</c:v>
                </c:pt>
                <c:pt idx="1">
                  <c:v>0.706</c:v>
                </c:pt>
                <c:pt idx="2">
                  <c:v>0.768</c:v>
                </c:pt>
              </c:numCache>
            </c:numRef>
          </c:val>
        </c:ser>
        <c:dLbls>
          <c:numFmt formatCode="0.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9525" cap="flat">
              <a:solidFill>
                <a:srgbClr val="DDE3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このデッキは、リポジトリ solar_curtailment_kyushu(README.md / REPORT.md / CORRECTIONS_LOG.md)を15枚に要約したものです。問い:太陽光の出力制御(カーテイルメント)は、天気・曜日・季節で説明できるか。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数値はすべて2026-10-01の訂正(制御日判定のバグ修正)を反映済み。訂正前は九州1175日・沖縄160日でした。詳細はスライド14。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州は経産省の開示ルールに基づくExcel(通し番号ブロックを走査して制御期間を抽出)、沖縄は同じ書式のPDF(pdfplumber)。気象は気象庁etrnの日値と農研機構メッシュ農業気象データ(AMGSDS)。評価はランダム分割だと季節が混ざり楽観的になるため時系列分割を採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九州: 制御日の日照時間8.46h vs 非制御日4.58h(Cohen's d=1.07、日曜のみ1.26)。沖縄: 7.16h vs 4.84h(d=0.63、日曜のみ0.32)。土日比率は九州39.2%・沖縄59.1%。ただし年間集計は季節で異なる2パターンの平均(次スライド)。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の土日比率39.2%は、春(曜日差が小さい)と夏(土日に極端に偏る)という正反対の2つの現象の平均。曜日だけを見る分析では季節の効果を見落とす。基準は土日のカレンダー割合28.6%。沖縄の11・12月の100%はn=1〜2で参考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目的変数によって最適な気象指標が変わる、という発見。沖縄の日曜に限ると全天日射量の判別力は低く不安定。d目安: 0.2小・0.5中・0.8以上大。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ROC-AUCは「ランダムに制御日と非制御日を1日ずつ見せたとき、制御日の方が高い確率と正しく順位付けできる割合」。しきい値の選び方で適合率・再現率は変わるが、AUCはしきい値に依らない。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系列分割(前70%学習・後30%評価)。評価期間は制御日の割合が高く、導入量増加による分布シフトが起きる。トレンド項を入れないと確率を低く見積もり再現率が0.241まで落ちる。月+日照(0.894)が月+曜日(0.779)や月のみ(0.763)を大きく上回る。軸は0.5始まり(AUC=0.5が当てずっぽ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福岡1点より九州全体の面で見る方が、局地的な晴天のばらつきを避けられ、AUCは0.904→0.924〜0.925(本リポジトリ最高)。AMeDAS7県の単純平均とAMGSDSメッシュ面平均はほぼ同精度なので、運用コストの低いAMeDASで十分。軸は0.8始ま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「発電量」は系統に実際に流れ込んだ太陽光の出力(出力制御で下がる値)。風力を含む合計データでは相関が弱まる。2023年以降で快晴/晴れ日を比べると日照時間は8.94h vs 8.38hとほぼ同じなのに、制御日の出力は頭打ち。軸は0.5始まり。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全天日射量の小さい側にも制御日が少数あるというユーザーの指摘を検証。九州電力送配電のエリア総需要を新規取得して風力と需要を比較。元日・年度末などの低需要日や強風日が該当。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 前日予報(lead=1)の天気別バイアス。那覇の2026年8〜9月の検証(ml_forecast、快晴n=21)。快晴日=制御が最も起きやすい日にAMGSDSは日照を約5時間過少評価する。右: 九州では実際の予報アーカイブが無いため、実測にバイアスを加えた模擬予報でバックテスト。簡略化(天気カテゴリを実測分布の分位点に置換)が上回ったが、最初の『AMGSDSの方が正確』は誤りだったと訂正した経緯がある。沖縄の出力制御実績(〜2026年3月)と予報アーカイブ(2026年5月〜)は重複期間がなく直接検証は不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-01の元案にあった『需給ひとことレポート』の実装。生の確率だけでは分かりにくいというユーザー指摘を受け、3段階の判定ラベルを最初に表示する形に変更。例は2026-10-02実行(対象日10-03、福岡地方『晴れ』予報)。最終判断は電力会社の公式発表で確認する前提の参考情報。APIが使えない場合は気象庁の天気カテゴリによる簡略化にフォールバック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CORRECTIONS_LOGの#8。パーサーを『速報があれば速報を優先』に修正し、全分析を再計算。以降すべての数値は訂正後。他の訂正: 全天日射量の追加検証(#1)、AMGSDS優位の取り下げ(#2)、季節変動の反映(#4・#5)、風力を含まない太陽光単独データへの切替(#6)、『発電量』の定義明記(#7)。教訓: 散布図を目で見る、もっともらしすぎる結果を疑う、修正は関連箇所へ伝播させる、データの定義を最初に確認する。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README『限界』と『次にやるなら』より。制御量は見ていない、沖縄の代表点、沖縄電力FY2026分公開後の再検証、予報ペアを集めた分位点の補正。推奨は九州を本命に進めること。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1234440"/>
            <a:ext cx="5120640" cy="15544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ph idx="102" type="body" hasCustomPrompt="1"/>
          </p:nvPr>
        </p:nvSpPr>
        <p:spPr>
          <a:xfrm>
            <a:off x="548640" y="2971800"/>
            <a:ext cx="5120640" cy="8229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chemeClr val="accent5"/>
                </a:solidFill>
              </a:rPr>
              <a:t>出典: solar_curtailment_kyushu(README・REPORT・CORRECTIONS_LOG)</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1"/>
          <p:cNvSpPr/>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chemeClr val="accent6"/>
                </a:solidFill>
              </a:rPr>
              <a:t>出典: solar_curtailment_kyushu(README・REPORT・CORRECTIONS_LOG)</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un halo outer"/>
          <p:cNvSpPr/>
          <p:nvPr/>
        </p:nvSpPr>
        <p:spPr>
          <a:xfrm>
            <a:off x="5669280" y="914400"/>
            <a:ext cx="3291840" cy="3291840"/>
          </a:xfrm>
          <a:prstGeom prst="ellipse">
            <a:avLst/>
          </a:prstGeom>
          <a:solidFill>
            <a:schemeClr val="accent1">
              <a:alpha val="12000"/>
            </a:schemeClr>
          </a:solidFill>
          <a:ln/>
        </p:spPr>
      </p:sp>
      <p:sp>
        <p:nvSpPr>
          <p:cNvPr id="3" name="sun halo mid"/>
          <p:cNvSpPr/>
          <p:nvPr/>
        </p:nvSpPr>
        <p:spPr>
          <a:xfrm>
            <a:off x="6035040" y="1280160"/>
            <a:ext cx="2560320" cy="2560320"/>
          </a:xfrm>
          <a:prstGeom prst="ellipse">
            <a:avLst/>
          </a:prstGeom>
          <a:solidFill>
            <a:schemeClr val="accent1">
              <a:alpha val="30000"/>
            </a:schemeClr>
          </a:solidFill>
          <a:ln/>
        </p:spPr>
      </p:sp>
      <p:sp>
        <p:nvSpPr>
          <p:cNvPr id="4" name="sun core"/>
          <p:cNvSpPr/>
          <p:nvPr/>
        </p:nvSpPr>
        <p:spPr>
          <a:xfrm>
            <a:off x="6400800" y="1645920"/>
            <a:ext cx="1828800" cy="1828800"/>
          </a:xfrm>
          <a:prstGeom prst="ellipse">
            <a:avLst/>
          </a:prstGeom>
          <a:solidFill>
            <a:schemeClr val="accent1"/>
          </a:solidFill>
          <a:ln/>
        </p:spPr>
      </p:sp>
      <p:sp>
        <p:nvSpPr>
          <p:cNvPr id="5" name="Text 1"/>
          <p:cNvSpPr/>
          <p:nvPr>
            <p:ph idx="101" type="title" hasCustomPrompt="1"/>
          </p:nvPr>
        </p:nvSpPr>
        <p:spPr>
          <a:xfrm>
            <a:off x="548640" y="1234440"/>
            <a:ext cx="5120640" cy="1554480"/>
          </a:xfrm>
          <a:prstGeom prst="rect">
            <a:avLst/>
          </a:prstGeom>
          <a:noFill/>
          <a:ln/>
        </p:spPr>
        <p:txBody>
          <a:bodyPr wrap="square" lIns="0" tIns="0" rIns="0" bIns="0" rtlCol="0" anchor="t"/>
          <a:lstStyle/>
          <a:p>
            <a:pPr algn="l" indent="0" marL="0">
              <a:buNone/>
            </a:pPr>
            <a:r>
              <a:rPr lang="en-US" sz="3600" b="1" dirty="0">
                <a:solidFill>
                  <a:schemeClr val="bg1"/>
                </a:solidFill>
              </a:rPr>
              <a:t>太陽光の出力制御は</a:t>
            </a:r>
            <a:endParaRPr lang="en-US" sz="3600" dirty="0"/>
          </a:p>
          <a:p>
            <a:pPr algn="l" indent="0" marL="0">
              <a:buNone/>
            </a:pPr>
            <a:r>
              <a:rPr lang="en-US" sz="3600" b="1" dirty="0">
                <a:solidFill>
                  <a:schemeClr val="bg1"/>
                </a:solidFill>
              </a:rPr>
              <a:t>天気で説明できるか</a:t>
            </a:r>
            <a:endParaRPr lang="en-US" sz="3600" dirty="0"/>
          </a:p>
        </p:txBody>
      </p:sp>
      <p:sp>
        <p:nvSpPr>
          <p:cNvPr id="6" name="Text 1"/>
          <p:cNvSpPr/>
          <p:nvPr>
            <p:ph idx="102" type="body" hasCustomPrompt="1"/>
          </p:nvPr>
        </p:nvSpPr>
        <p:spPr>
          <a:xfrm>
            <a:off x="548640" y="2971800"/>
            <a:ext cx="5120640" cy="822960"/>
          </a:xfrm>
          <a:prstGeom prst="rect">
            <a:avLst/>
          </a:prstGeom>
          <a:noFill/>
          <a:ln/>
        </p:spPr>
        <p:txBody>
          <a:bodyPr wrap="square" lIns="0" tIns="0" rIns="0" bIns="0" rtlCol="0" anchor="t"/>
          <a:lstStyle/>
          <a:p>
            <a:pPr algn="l" indent="0" marL="0">
              <a:buNone/>
            </a:pPr>
            <a:r>
              <a:rPr lang="en-US" sz="1800" dirty="0">
                <a:solidFill>
                  <a:schemeClr val="accent6"/>
                </a:solidFill>
              </a:rPr>
              <a:t>九州・沖縄の実績データによる検証</a:t>
            </a:r>
            <a:endParaRPr lang="en-US" sz="1800" dirty="0"/>
          </a:p>
        </p:txBody>
      </p:sp>
      <p:sp>
        <p:nvSpPr>
          <p:cNvPr id="7" name="source"/>
          <p:cNvSpPr txBox="1"/>
          <p:nvPr/>
        </p:nvSpPr>
        <p:spPr>
          <a:xfrm>
            <a:off x="548640" y="4526280"/>
            <a:ext cx="8046720" cy="274320"/>
          </a:xfrm>
          <a:prstGeom prst="rect">
            <a:avLst/>
          </a:prstGeom>
          <a:noFill/>
          <a:ln/>
        </p:spPr>
        <p:txBody>
          <a:bodyPr wrap="square" lIns="0" tIns="0" rIns="0" bIns="0" rtlCol="0" anchor="t"/>
          <a:lstStyle/>
          <a:p>
            <a:pPr algn="l" indent="0" marL="0">
              <a:buNone/>
            </a:pPr>
            <a:r>
              <a:rPr lang="en-US" sz="1200" dirty="0">
                <a:solidFill>
                  <a:schemeClr val="accent6"/>
                </a:solidFill>
              </a:rPr>
              <a:t>出典: masauehr/solar_curtailment_kyushu(README・REPORT・CORRECTIONS_LOG)   2026年10月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結論:晴れ・季節・休日で説明できる</a:t>
            </a:r>
            <a:endParaRPr lang="en-US" sz="2800" dirty="0"/>
          </a:p>
        </p:txBody>
      </p:sp>
      <p:sp>
        <p:nvSpPr>
          <p:cNvPr id="3" name="stat card 1"/>
          <p:cNvSpPr/>
          <p:nvPr/>
        </p:nvSpPr>
        <p:spPr>
          <a:xfrm>
            <a:off x="457200" y="1234440"/>
            <a:ext cx="1920240" cy="2240280"/>
          </a:xfrm>
          <a:prstGeom prst="roundRect">
            <a:avLst>
              <a:gd name="adj" fmla="val 5714"/>
            </a:avLst>
          </a:prstGeom>
          <a:solidFill>
            <a:schemeClr val="bg2"/>
          </a:solidFill>
          <a:ln/>
        </p:spPr>
      </p:sp>
      <p:sp>
        <p:nvSpPr>
          <p:cNvPr id="4" name="stat dot 1"/>
          <p:cNvSpPr/>
          <p:nvPr/>
        </p:nvSpPr>
        <p:spPr>
          <a:xfrm>
            <a:off x="640080" y="1417320"/>
            <a:ext cx="201168" cy="201168"/>
          </a:xfrm>
          <a:prstGeom prst="ellipse">
            <a:avLst/>
          </a:prstGeom>
          <a:solidFill>
            <a:schemeClr val="accent3"/>
          </a:solidFill>
          <a:ln/>
        </p:spPr>
      </p:sp>
      <p:sp>
        <p:nvSpPr>
          <p:cNvPr id="5" name="stat value 1"/>
          <p:cNvSpPr txBox="1"/>
          <p:nvPr/>
        </p:nvSpPr>
        <p:spPr>
          <a:xfrm>
            <a:off x="640080" y="1783080"/>
            <a:ext cx="1554480" cy="640080"/>
          </a:xfrm>
          <a:prstGeom prst="rect">
            <a:avLst/>
          </a:prstGeom>
          <a:noFill/>
          <a:ln/>
        </p:spPr>
        <p:txBody>
          <a:bodyPr wrap="square" lIns="0" tIns="0" rIns="0" bIns="0" rtlCol="0" anchor="ctr"/>
          <a:lstStyle/>
          <a:p>
            <a:pPr algn="l" indent="0" marL="0">
              <a:buNone/>
            </a:pPr>
            <a:r>
              <a:rPr lang="en-US" sz="3000" b="1" dirty="0">
                <a:solidFill>
                  <a:schemeClr val="tx1"/>
                </a:solidFill>
              </a:rPr>
              <a:t>715日</a:t>
            </a:r>
            <a:endParaRPr lang="en-US" sz="3000" dirty="0"/>
          </a:p>
        </p:txBody>
      </p:sp>
      <p:sp>
        <p:nvSpPr>
          <p:cNvPr id="6" name="stat label 1"/>
          <p:cNvSpPr txBox="1"/>
          <p:nvPr/>
        </p:nvSpPr>
        <p:spPr>
          <a:xfrm>
            <a:off x="640080" y="2514600"/>
            <a:ext cx="1600200" cy="822960"/>
          </a:xfrm>
          <a:prstGeom prst="rect">
            <a:avLst/>
          </a:prstGeom>
          <a:noFill/>
          <a:ln/>
        </p:spPr>
        <p:txBody>
          <a:bodyPr wrap="square" lIns="0" tIns="0" rIns="0" bIns="0" rtlCol="0" anchor="t"/>
          <a:lstStyle/>
          <a:p>
            <a:pPr algn="l" indent="0" marL="0">
              <a:buNone/>
            </a:pPr>
            <a:r>
              <a:rPr lang="en-US" sz="1400" dirty="0">
                <a:solidFill>
                  <a:schemeClr val="tx2"/>
                </a:solidFill>
              </a:rPr>
              <a:t>九州の制御日数</a:t>
            </a:r>
            <a:endParaRPr lang="en-US" sz="1400" dirty="0"/>
          </a:p>
          <a:p>
            <a:pPr algn="l" indent="0" marL="0">
              <a:buNone/>
            </a:pPr>
            <a:r>
              <a:rPr lang="en-US" sz="1400" dirty="0">
                <a:solidFill>
                  <a:schemeClr val="tx2"/>
                </a:solidFill>
              </a:rPr>
              <a:t>沖縄は44日</a:t>
            </a:r>
            <a:endParaRPr lang="en-US" sz="1400" dirty="0"/>
          </a:p>
        </p:txBody>
      </p:sp>
      <p:sp>
        <p:nvSpPr>
          <p:cNvPr id="7" name="stat card 2"/>
          <p:cNvSpPr/>
          <p:nvPr/>
        </p:nvSpPr>
        <p:spPr>
          <a:xfrm>
            <a:off x="2560320" y="1234440"/>
            <a:ext cx="1920240" cy="2240280"/>
          </a:xfrm>
          <a:prstGeom prst="roundRect">
            <a:avLst>
              <a:gd name="adj" fmla="val 5714"/>
            </a:avLst>
          </a:prstGeom>
          <a:solidFill>
            <a:schemeClr val="bg2"/>
          </a:solidFill>
          <a:ln/>
        </p:spPr>
      </p:sp>
      <p:sp>
        <p:nvSpPr>
          <p:cNvPr id="8" name="stat dot 2"/>
          <p:cNvSpPr/>
          <p:nvPr/>
        </p:nvSpPr>
        <p:spPr>
          <a:xfrm>
            <a:off x="2743200" y="1417320"/>
            <a:ext cx="201168" cy="201168"/>
          </a:xfrm>
          <a:prstGeom prst="ellipse">
            <a:avLst/>
          </a:prstGeom>
          <a:solidFill>
            <a:schemeClr val="accent1"/>
          </a:solidFill>
          <a:ln/>
        </p:spPr>
      </p:sp>
      <p:sp>
        <p:nvSpPr>
          <p:cNvPr id="9" name="stat value 2"/>
          <p:cNvSpPr txBox="1"/>
          <p:nvPr/>
        </p:nvSpPr>
        <p:spPr>
          <a:xfrm>
            <a:off x="2743200" y="1783080"/>
            <a:ext cx="1554480" cy="640080"/>
          </a:xfrm>
          <a:prstGeom prst="rect">
            <a:avLst/>
          </a:prstGeom>
          <a:noFill/>
          <a:ln/>
        </p:spPr>
        <p:txBody>
          <a:bodyPr wrap="square" lIns="0" tIns="0" rIns="0" bIns="0" rtlCol="0" anchor="ctr"/>
          <a:lstStyle/>
          <a:p>
            <a:pPr algn="l" indent="0" marL="0">
              <a:buNone/>
            </a:pPr>
            <a:r>
              <a:rPr lang="en-US" sz="3000" b="1" dirty="0">
                <a:solidFill>
                  <a:schemeClr val="tx1"/>
                </a:solidFill>
              </a:rPr>
              <a:t>8.46h</a:t>
            </a:r>
            <a:endParaRPr lang="en-US" sz="3000" dirty="0"/>
          </a:p>
        </p:txBody>
      </p:sp>
      <p:sp>
        <p:nvSpPr>
          <p:cNvPr id="10" name="stat label 2"/>
          <p:cNvSpPr txBox="1"/>
          <p:nvPr/>
        </p:nvSpPr>
        <p:spPr>
          <a:xfrm>
            <a:off x="2743200" y="2514600"/>
            <a:ext cx="1600200" cy="822960"/>
          </a:xfrm>
          <a:prstGeom prst="rect">
            <a:avLst/>
          </a:prstGeom>
          <a:noFill/>
          <a:ln/>
        </p:spPr>
        <p:txBody>
          <a:bodyPr wrap="square" lIns="0" tIns="0" rIns="0" bIns="0" rtlCol="0" anchor="t"/>
          <a:lstStyle/>
          <a:p>
            <a:pPr algn="l" indent="0" marL="0">
              <a:buNone/>
            </a:pPr>
            <a:r>
              <a:rPr lang="en-US" sz="1400" dirty="0">
                <a:solidFill>
                  <a:schemeClr val="tx2"/>
                </a:solidFill>
              </a:rPr>
              <a:t>制御日の日照時間</a:t>
            </a:r>
            <a:endParaRPr lang="en-US" sz="1400" dirty="0"/>
          </a:p>
          <a:p>
            <a:pPr algn="l" indent="0" marL="0">
              <a:buNone/>
            </a:pPr>
            <a:r>
              <a:rPr lang="en-US" sz="1400" dirty="0">
                <a:solidFill>
                  <a:schemeClr val="tx2"/>
                </a:solidFill>
              </a:rPr>
              <a:t>非制御日は4.58h</a:t>
            </a:r>
            <a:endParaRPr lang="en-US" sz="1400" dirty="0"/>
          </a:p>
        </p:txBody>
      </p:sp>
      <p:sp>
        <p:nvSpPr>
          <p:cNvPr id="11" name="stat card 3"/>
          <p:cNvSpPr/>
          <p:nvPr/>
        </p:nvSpPr>
        <p:spPr>
          <a:xfrm>
            <a:off x="4663440" y="1234440"/>
            <a:ext cx="1920240" cy="2240280"/>
          </a:xfrm>
          <a:prstGeom prst="roundRect">
            <a:avLst>
              <a:gd name="adj" fmla="val 5714"/>
            </a:avLst>
          </a:prstGeom>
          <a:solidFill>
            <a:schemeClr val="bg2"/>
          </a:solidFill>
          <a:ln/>
        </p:spPr>
      </p:sp>
      <p:sp>
        <p:nvSpPr>
          <p:cNvPr id="12" name="stat dot 3"/>
          <p:cNvSpPr/>
          <p:nvPr/>
        </p:nvSpPr>
        <p:spPr>
          <a:xfrm>
            <a:off x="4846320" y="1417320"/>
            <a:ext cx="201168" cy="201168"/>
          </a:xfrm>
          <a:prstGeom prst="ellipse">
            <a:avLst/>
          </a:prstGeom>
          <a:solidFill>
            <a:schemeClr val="accent2"/>
          </a:solidFill>
          <a:ln/>
        </p:spPr>
      </p:sp>
      <p:sp>
        <p:nvSpPr>
          <p:cNvPr id="13" name="stat value 3"/>
          <p:cNvSpPr txBox="1"/>
          <p:nvPr/>
        </p:nvSpPr>
        <p:spPr>
          <a:xfrm>
            <a:off x="4846320" y="1783080"/>
            <a:ext cx="1554480" cy="640080"/>
          </a:xfrm>
          <a:prstGeom prst="rect">
            <a:avLst/>
          </a:prstGeom>
          <a:noFill/>
          <a:ln/>
        </p:spPr>
        <p:txBody>
          <a:bodyPr wrap="square" lIns="0" tIns="0" rIns="0" bIns="0" rtlCol="0" anchor="ctr"/>
          <a:lstStyle/>
          <a:p>
            <a:pPr algn="l" indent="0" marL="0">
              <a:buNone/>
            </a:pPr>
            <a:r>
              <a:rPr lang="en-US" sz="3000" b="1" dirty="0">
                <a:solidFill>
                  <a:schemeClr val="tx1"/>
                </a:solidFill>
              </a:rPr>
              <a:t>0.925</a:t>
            </a:r>
            <a:endParaRPr lang="en-US" sz="3000" dirty="0"/>
          </a:p>
        </p:txBody>
      </p:sp>
      <p:sp>
        <p:nvSpPr>
          <p:cNvPr id="14" name="stat label 3"/>
          <p:cNvSpPr txBox="1"/>
          <p:nvPr/>
        </p:nvSpPr>
        <p:spPr>
          <a:xfrm>
            <a:off x="4846320" y="2514600"/>
            <a:ext cx="1600200" cy="822960"/>
          </a:xfrm>
          <a:prstGeom prst="rect">
            <a:avLst/>
          </a:prstGeom>
          <a:noFill/>
          <a:ln/>
        </p:spPr>
        <p:txBody>
          <a:bodyPr wrap="square" lIns="0" tIns="0" rIns="0" bIns="0" rtlCol="0" anchor="t"/>
          <a:lstStyle/>
          <a:p>
            <a:pPr algn="l" indent="0" marL="0">
              <a:buNone/>
            </a:pPr>
            <a:r>
              <a:rPr lang="en-US" sz="1400" dirty="0">
                <a:solidFill>
                  <a:schemeClr val="tx2"/>
                </a:solidFill>
              </a:rPr>
              <a:t>最良モデルのAUC</a:t>
            </a:r>
            <a:endParaRPr lang="en-US" sz="1400" dirty="0"/>
          </a:p>
          <a:p>
            <a:pPr algn="l" indent="0" marL="0">
              <a:buNone/>
            </a:pPr>
            <a:r>
              <a:rPr lang="en-US" sz="1400" dirty="0">
                <a:solidFill>
                  <a:schemeClr val="tx2"/>
                </a:solidFill>
              </a:rPr>
              <a:t>九州7県の面平均</a:t>
            </a:r>
            <a:endParaRPr lang="en-US" sz="1400" dirty="0"/>
          </a:p>
        </p:txBody>
      </p:sp>
      <p:sp>
        <p:nvSpPr>
          <p:cNvPr id="15" name="stat card 4"/>
          <p:cNvSpPr/>
          <p:nvPr/>
        </p:nvSpPr>
        <p:spPr>
          <a:xfrm>
            <a:off x="6766560" y="1234440"/>
            <a:ext cx="1920240" cy="2240280"/>
          </a:xfrm>
          <a:prstGeom prst="roundRect">
            <a:avLst>
              <a:gd name="adj" fmla="val 5714"/>
            </a:avLst>
          </a:prstGeom>
          <a:solidFill>
            <a:schemeClr val="bg2"/>
          </a:solidFill>
          <a:ln/>
        </p:spPr>
      </p:sp>
      <p:sp>
        <p:nvSpPr>
          <p:cNvPr id="16" name="stat dot 4"/>
          <p:cNvSpPr/>
          <p:nvPr/>
        </p:nvSpPr>
        <p:spPr>
          <a:xfrm>
            <a:off x="6949440" y="1417320"/>
            <a:ext cx="201168" cy="201168"/>
          </a:xfrm>
          <a:prstGeom prst="ellipse">
            <a:avLst/>
          </a:prstGeom>
          <a:solidFill>
            <a:schemeClr val="accent4"/>
          </a:solidFill>
          <a:ln/>
        </p:spPr>
      </p:sp>
      <p:sp>
        <p:nvSpPr>
          <p:cNvPr id="17" name="stat value 4"/>
          <p:cNvSpPr txBox="1"/>
          <p:nvPr/>
        </p:nvSpPr>
        <p:spPr>
          <a:xfrm>
            <a:off x="6949440" y="1783080"/>
            <a:ext cx="1554480" cy="640080"/>
          </a:xfrm>
          <a:prstGeom prst="rect">
            <a:avLst/>
          </a:prstGeom>
          <a:noFill/>
          <a:ln/>
        </p:spPr>
        <p:txBody>
          <a:bodyPr wrap="square" lIns="0" tIns="0" rIns="0" bIns="0" rtlCol="0" anchor="ctr"/>
          <a:lstStyle/>
          <a:p>
            <a:pPr algn="l" indent="0" marL="0">
              <a:buNone/>
            </a:pPr>
            <a:r>
              <a:rPr lang="en-US" sz="2000" b="1" dirty="0">
                <a:solidFill>
                  <a:schemeClr val="tx1"/>
                </a:solidFill>
              </a:rPr>
              <a:t>83〜100%</a:t>
            </a:r>
            <a:endParaRPr lang="en-US" sz="2000" dirty="0"/>
          </a:p>
        </p:txBody>
      </p:sp>
      <p:sp>
        <p:nvSpPr>
          <p:cNvPr id="18" name="stat label 4"/>
          <p:cNvSpPr txBox="1"/>
          <p:nvPr/>
        </p:nvSpPr>
        <p:spPr>
          <a:xfrm>
            <a:off x="6949440" y="2514600"/>
            <a:ext cx="1600200" cy="822960"/>
          </a:xfrm>
          <a:prstGeom prst="rect">
            <a:avLst/>
          </a:prstGeom>
          <a:noFill/>
          <a:ln/>
        </p:spPr>
        <p:txBody>
          <a:bodyPr wrap="square" lIns="0" tIns="0" rIns="0" bIns="0" rtlCol="0" anchor="t"/>
          <a:lstStyle/>
          <a:p>
            <a:pPr algn="l" indent="0" marL="0">
              <a:buNone/>
            </a:pPr>
            <a:r>
              <a:rPr lang="en-US" sz="1400" dirty="0">
                <a:solidFill>
                  <a:schemeClr val="tx2"/>
                </a:solidFill>
              </a:rPr>
              <a:t>夏〜初秋の土日比</a:t>
            </a:r>
            <a:endParaRPr lang="en-US" sz="1400" dirty="0"/>
          </a:p>
          <a:p>
            <a:pPr algn="l" indent="0" marL="0">
              <a:buNone/>
            </a:pPr>
            <a:r>
              <a:rPr lang="en-US" sz="1400" dirty="0">
                <a:solidFill>
                  <a:schemeClr val="tx2"/>
                </a:solidFill>
              </a:rPr>
              <a:t>春は29〜34%</a:t>
            </a:r>
            <a:endParaRPr lang="en-US" sz="1400" dirty="0"/>
          </a:p>
        </p:txBody>
      </p:sp>
      <p:sp>
        <p:nvSpPr>
          <p:cNvPr id="19" name="recommendation"/>
          <p:cNvSpPr/>
          <p:nvPr/>
        </p:nvSpPr>
        <p:spPr>
          <a:xfrm>
            <a:off x="457200" y="3703320"/>
            <a:ext cx="8229600" cy="868680"/>
          </a:xfrm>
          <a:prstGeom prst="roundRect">
            <a:avLst>
              <a:gd name="adj" fmla="val 12632"/>
            </a:avLst>
          </a:prstGeom>
          <a:solidFill>
            <a:schemeClr val="tx1"/>
          </a:solidFill>
          <a:ln/>
        </p:spPr>
      </p:sp>
      <p:sp>
        <p:nvSpPr>
          <p:cNvPr id="20" name="recommendation text"/>
          <p:cNvSpPr txBox="1"/>
          <p:nvPr/>
        </p:nvSpPr>
        <p:spPr>
          <a:xfrm>
            <a:off x="731520" y="3749040"/>
            <a:ext cx="7680960" cy="777240"/>
          </a:xfrm>
          <a:prstGeom prst="rect">
            <a:avLst/>
          </a:prstGeom>
          <a:noFill/>
          <a:ln/>
        </p:spPr>
        <p:txBody>
          <a:bodyPr wrap="square" lIns="0" tIns="0" rIns="0" bIns="0" rtlCol="0" anchor="ctr"/>
          <a:lstStyle/>
          <a:p>
            <a:pPr algn="l" indent="0" marL="0">
              <a:buNone/>
            </a:pPr>
            <a:r>
              <a:rPr lang="en-US" sz="1600" b="1" dirty="0">
                <a:solidFill>
                  <a:schemeClr val="accent1"/>
                </a:solidFill>
              </a:rPr>
              <a:t>推奨:九州を本命に。</a:t>
            </a:r>
            <a:pPr algn="l" indent="0" marL="0">
              <a:buNone/>
            </a:pPr>
            <a:r>
              <a:rPr lang="en-US" sz="1600" dirty="0">
                <a:solidFill>
                  <a:schemeClr val="bg1"/>
                </a:solidFill>
              </a:rPr>
              <a:t>沖縄は構造的に制御されやすいが、データが4年分(44日)と短く信号が弱い。</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データと分析の流れ</a:t>
            </a:r>
            <a:endParaRPr lang="en-US" sz="2800" dirty="0"/>
          </a:p>
        </p:txBody>
      </p:sp>
      <p:sp>
        <p:nvSpPr>
          <p:cNvPr id="3" name="step card 1"/>
          <p:cNvSpPr/>
          <p:nvPr/>
        </p:nvSpPr>
        <p:spPr>
          <a:xfrm>
            <a:off x="457200" y="1188720"/>
            <a:ext cx="1920240" cy="2697480"/>
          </a:xfrm>
          <a:prstGeom prst="roundRect">
            <a:avLst>
              <a:gd name="adj" fmla="val 5714"/>
            </a:avLst>
          </a:prstGeom>
          <a:solidFill>
            <a:schemeClr val="bg2"/>
          </a:solidFill>
          <a:ln/>
        </p:spPr>
      </p:sp>
      <p:sp>
        <p:nvSpPr>
          <p:cNvPr id="4" name="step icon 1 circle"/>
          <p:cNvSpPr/>
          <p:nvPr/>
        </p:nvSpPr>
        <p:spPr>
          <a:xfrm>
            <a:off x="640080" y="1371600"/>
            <a:ext cx="548640" cy="548640"/>
          </a:xfrm>
          <a:prstGeom prst="ellipse">
            <a:avLst/>
          </a:prstGeom>
          <a:solidFill>
            <a:schemeClr val="accent3"/>
          </a:solidFill>
          <a:ln/>
        </p:spPr>
      </p:sp>
      <p:pic>
        <p:nvPicPr>
          <p:cNvPr id="5" name="step icon 1" descr="step icon 1">    </p:cNvPr>
          <p:cNvPicPr>
            <a:picLocks noChangeAspect="1"/>
          </p:cNvPicPr>
          <p:nvPr/>
        </p:nvPicPr>
        <p:blipFill>
          <a:blip r:embed="rId1"/>
          <a:stretch>
            <a:fillRect/>
          </a:stretch>
        </p:blipFill>
        <p:spPr>
          <a:xfrm>
            <a:off x="777240" y="1508760"/>
            <a:ext cx="274320" cy="274320"/>
          </a:xfrm>
          <a:prstGeom prst="rect">
            <a:avLst/>
          </a:prstGeom>
        </p:spPr>
      </p:pic>
      <p:sp>
        <p:nvSpPr>
          <p:cNvPr id="6" name="step title 1"/>
          <p:cNvSpPr txBox="1"/>
          <p:nvPr/>
        </p:nvSpPr>
        <p:spPr>
          <a:xfrm>
            <a:off x="640080" y="2057400"/>
            <a:ext cx="1600200" cy="365760"/>
          </a:xfrm>
          <a:prstGeom prst="rect">
            <a:avLst/>
          </a:prstGeom>
          <a:noFill/>
          <a:ln/>
        </p:spPr>
        <p:txBody>
          <a:bodyPr wrap="square" lIns="0" tIns="0" rIns="0" bIns="0" rtlCol="0" anchor="t"/>
          <a:lstStyle/>
          <a:p>
            <a:pPr algn="l" indent="0" marL="0">
              <a:buNone/>
            </a:pPr>
            <a:r>
              <a:rPr lang="en-US" sz="1600" b="1" dirty="0">
                <a:solidFill>
                  <a:schemeClr val="tx1"/>
                </a:solidFill>
              </a:rPr>
              <a:t>出力制御実績</a:t>
            </a:r>
            <a:endParaRPr lang="en-US" sz="1600" dirty="0"/>
          </a:p>
        </p:txBody>
      </p:sp>
      <p:sp>
        <p:nvSpPr>
          <p:cNvPr id="7" name="step body 1"/>
          <p:cNvSpPr txBox="1"/>
          <p:nvPr/>
        </p:nvSpPr>
        <p:spPr>
          <a:xfrm>
            <a:off x="640080" y="2468880"/>
            <a:ext cx="1600200" cy="1417320"/>
          </a:xfrm>
          <a:prstGeom prst="rect">
            <a:avLst/>
          </a:prstGeom>
          <a:noFill/>
          <a:ln/>
        </p:spPr>
        <p:txBody>
          <a:bodyPr wrap="square" lIns="0" tIns="0" rIns="0" bIns="0" rtlCol="0" anchor="t"/>
          <a:lstStyle/>
          <a:p>
            <a:pPr algn="l" indent="0" marL="0">
              <a:buNone/>
            </a:pPr>
            <a:r>
              <a:rPr lang="en-US" sz="1400" dirty="0">
                <a:solidFill>
                  <a:schemeClr val="tx2"/>
                </a:solidFill>
              </a:rPr>
              <a:t>九州はExcel</a:t>
            </a:r>
            <a:endParaRPr lang="en-US" sz="1400" dirty="0"/>
          </a:p>
          <a:p>
            <a:pPr algn="l" indent="0" marL="0">
              <a:buNone/>
            </a:pPr>
            <a:r>
              <a:rPr lang="en-US" sz="1400" dirty="0">
                <a:solidFill>
                  <a:schemeClr val="tx2"/>
                </a:solidFill>
              </a:rPr>
              <a:t>2018〜25年度</a:t>
            </a:r>
            <a:endParaRPr lang="en-US" sz="1400" dirty="0"/>
          </a:p>
          <a:p>
            <a:pPr algn="l" indent="0" marL="0">
              <a:buNone/>
            </a:pPr>
            <a:r>
              <a:rPr lang="en-US" sz="1400" dirty="0">
                <a:solidFill>
                  <a:schemeClr val="tx2"/>
                </a:solidFill>
              </a:rPr>
              <a:t>沖縄はPDF</a:t>
            </a:r>
            <a:endParaRPr lang="en-US" sz="1400" dirty="0"/>
          </a:p>
          <a:p>
            <a:pPr algn="l" indent="0" marL="0">
              <a:buNone/>
            </a:pPr>
            <a:r>
              <a:rPr lang="en-US" sz="1400" dirty="0">
                <a:solidFill>
                  <a:schemeClr val="tx2"/>
                </a:solidFill>
              </a:rPr>
              <a:t>2022〜25年度</a:t>
            </a:r>
            <a:endParaRPr lang="en-US" sz="1400" dirty="0"/>
          </a:p>
        </p:txBody>
      </p:sp>
      <p:sp>
        <p:nvSpPr>
          <p:cNvPr id="8" name="step card 2"/>
          <p:cNvSpPr/>
          <p:nvPr/>
        </p:nvSpPr>
        <p:spPr>
          <a:xfrm>
            <a:off x="2560320" y="1188720"/>
            <a:ext cx="1920240" cy="2697480"/>
          </a:xfrm>
          <a:prstGeom prst="roundRect">
            <a:avLst>
              <a:gd name="adj" fmla="val 5714"/>
            </a:avLst>
          </a:prstGeom>
          <a:solidFill>
            <a:schemeClr val="bg2"/>
          </a:solidFill>
          <a:ln/>
        </p:spPr>
      </p:sp>
      <p:sp>
        <p:nvSpPr>
          <p:cNvPr id="9" name="step icon 2 circle"/>
          <p:cNvSpPr/>
          <p:nvPr/>
        </p:nvSpPr>
        <p:spPr>
          <a:xfrm>
            <a:off x="2743200" y="1371600"/>
            <a:ext cx="548640" cy="548640"/>
          </a:xfrm>
          <a:prstGeom prst="ellipse">
            <a:avLst/>
          </a:prstGeom>
          <a:solidFill>
            <a:schemeClr val="accent1"/>
          </a:solidFill>
          <a:ln/>
        </p:spPr>
      </p:sp>
      <p:pic>
        <p:nvPicPr>
          <p:cNvPr id="10" name="step icon 2" descr="step icon 2">    </p:cNvPr>
          <p:cNvPicPr>
            <a:picLocks noChangeAspect="1"/>
          </p:cNvPicPr>
          <p:nvPr/>
        </p:nvPicPr>
        <p:blipFill>
          <a:blip r:embed="rId2"/>
          <a:stretch>
            <a:fillRect/>
          </a:stretch>
        </p:blipFill>
        <p:spPr>
          <a:xfrm>
            <a:off x="2880360" y="1508760"/>
            <a:ext cx="274320" cy="274320"/>
          </a:xfrm>
          <a:prstGeom prst="rect">
            <a:avLst/>
          </a:prstGeom>
        </p:spPr>
      </p:pic>
      <p:sp>
        <p:nvSpPr>
          <p:cNvPr id="11" name="step title 2"/>
          <p:cNvSpPr txBox="1"/>
          <p:nvPr/>
        </p:nvSpPr>
        <p:spPr>
          <a:xfrm>
            <a:off x="2743200" y="2057400"/>
            <a:ext cx="1600200" cy="365760"/>
          </a:xfrm>
          <a:prstGeom prst="rect">
            <a:avLst/>
          </a:prstGeom>
          <a:noFill/>
          <a:ln/>
        </p:spPr>
        <p:txBody>
          <a:bodyPr wrap="square" lIns="0" tIns="0" rIns="0" bIns="0" rtlCol="0" anchor="t"/>
          <a:lstStyle/>
          <a:p>
            <a:pPr algn="l" indent="0" marL="0">
              <a:buNone/>
            </a:pPr>
            <a:r>
              <a:rPr lang="en-US" sz="1600" b="1" dirty="0">
                <a:solidFill>
                  <a:schemeClr val="tx1"/>
                </a:solidFill>
              </a:rPr>
              <a:t>気象データ</a:t>
            </a:r>
            <a:endParaRPr lang="en-US" sz="1600" dirty="0"/>
          </a:p>
        </p:txBody>
      </p:sp>
      <p:sp>
        <p:nvSpPr>
          <p:cNvPr id="12" name="step body 2"/>
          <p:cNvSpPr txBox="1"/>
          <p:nvPr/>
        </p:nvSpPr>
        <p:spPr>
          <a:xfrm>
            <a:off x="2743200" y="2468880"/>
            <a:ext cx="1600200" cy="1417320"/>
          </a:xfrm>
          <a:prstGeom prst="rect">
            <a:avLst/>
          </a:prstGeom>
          <a:noFill/>
          <a:ln/>
        </p:spPr>
        <p:txBody>
          <a:bodyPr wrap="square" lIns="0" tIns="0" rIns="0" bIns="0" rtlCol="0" anchor="t"/>
          <a:lstStyle/>
          <a:p>
            <a:pPr algn="l" indent="0" marL="0">
              <a:buNone/>
            </a:pPr>
            <a:r>
              <a:rPr lang="en-US" sz="1400" dirty="0">
                <a:solidFill>
                  <a:schemeClr val="tx2"/>
                </a:solidFill>
              </a:rPr>
              <a:t>気象庁の日照時間</a:t>
            </a:r>
            <a:endParaRPr lang="en-US" sz="1400" dirty="0"/>
          </a:p>
          <a:p>
            <a:pPr algn="l" indent="0" marL="0">
              <a:buNone/>
            </a:pPr>
            <a:r>
              <a:rPr lang="en-US" sz="1400" dirty="0">
                <a:solidFill>
                  <a:schemeClr val="tx2"/>
                </a:solidFill>
              </a:rPr>
              <a:t>全天日射量</a:t>
            </a:r>
            <a:endParaRPr lang="en-US" sz="1400" dirty="0"/>
          </a:p>
          <a:p>
            <a:pPr algn="l" indent="0" marL="0">
              <a:buNone/>
            </a:pPr>
            <a:r>
              <a:rPr lang="en-US" sz="1400" dirty="0">
                <a:solidFill>
                  <a:schemeClr val="tx2"/>
                </a:solidFill>
              </a:rPr>
              <a:t>農研機構AMGSDS</a:t>
            </a:r>
            <a:endParaRPr lang="en-US" sz="1400" dirty="0"/>
          </a:p>
        </p:txBody>
      </p:sp>
      <p:sp>
        <p:nvSpPr>
          <p:cNvPr id="13" name="step card 3"/>
          <p:cNvSpPr/>
          <p:nvPr/>
        </p:nvSpPr>
        <p:spPr>
          <a:xfrm>
            <a:off x="4663440" y="1188720"/>
            <a:ext cx="1920240" cy="2697480"/>
          </a:xfrm>
          <a:prstGeom prst="roundRect">
            <a:avLst>
              <a:gd name="adj" fmla="val 5714"/>
            </a:avLst>
          </a:prstGeom>
          <a:solidFill>
            <a:schemeClr val="bg2"/>
          </a:solidFill>
          <a:ln/>
        </p:spPr>
      </p:sp>
      <p:sp>
        <p:nvSpPr>
          <p:cNvPr id="14" name="step icon 3 circle"/>
          <p:cNvSpPr/>
          <p:nvPr/>
        </p:nvSpPr>
        <p:spPr>
          <a:xfrm>
            <a:off x="4846320" y="1371600"/>
            <a:ext cx="548640" cy="548640"/>
          </a:xfrm>
          <a:prstGeom prst="ellipse">
            <a:avLst/>
          </a:prstGeom>
          <a:solidFill>
            <a:schemeClr val="accent2"/>
          </a:solidFill>
          <a:ln/>
        </p:spPr>
      </p:sp>
      <p:pic>
        <p:nvPicPr>
          <p:cNvPr id="15" name="step icon 3" descr="step icon 3">    </p:cNvPr>
          <p:cNvPicPr>
            <a:picLocks noChangeAspect="1"/>
          </p:cNvPicPr>
          <p:nvPr/>
        </p:nvPicPr>
        <p:blipFill>
          <a:blip r:embed="rId3"/>
          <a:stretch>
            <a:fillRect/>
          </a:stretch>
        </p:blipFill>
        <p:spPr>
          <a:xfrm>
            <a:off x="4983480" y="1508760"/>
            <a:ext cx="274320" cy="274320"/>
          </a:xfrm>
          <a:prstGeom prst="rect">
            <a:avLst/>
          </a:prstGeom>
        </p:spPr>
      </p:pic>
      <p:sp>
        <p:nvSpPr>
          <p:cNvPr id="16" name="step title 3"/>
          <p:cNvSpPr txBox="1"/>
          <p:nvPr/>
        </p:nvSpPr>
        <p:spPr>
          <a:xfrm>
            <a:off x="4846320" y="2057400"/>
            <a:ext cx="1600200" cy="365760"/>
          </a:xfrm>
          <a:prstGeom prst="rect">
            <a:avLst/>
          </a:prstGeom>
          <a:noFill/>
          <a:ln/>
        </p:spPr>
        <p:txBody>
          <a:bodyPr wrap="square" lIns="0" tIns="0" rIns="0" bIns="0" rtlCol="0" anchor="t"/>
          <a:lstStyle/>
          <a:p>
            <a:pPr algn="l" indent="0" marL="0">
              <a:buNone/>
            </a:pPr>
            <a:r>
              <a:rPr lang="en-US" sz="1600" b="1" dirty="0">
                <a:solidFill>
                  <a:schemeClr val="tx1"/>
                </a:solidFill>
              </a:rPr>
              <a:t>統計検証</a:t>
            </a:r>
            <a:endParaRPr lang="en-US" sz="1600" dirty="0"/>
          </a:p>
        </p:txBody>
      </p:sp>
      <p:sp>
        <p:nvSpPr>
          <p:cNvPr id="17" name="step body 3"/>
          <p:cNvSpPr txBox="1"/>
          <p:nvPr/>
        </p:nvSpPr>
        <p:spPr>
          <a:xfrm>
            <a:off x="4846320" y="2468880"/>
            <a:ext cx="1600200" cy="1417320"/>
          </a:xfrm>
          <a:prstGeom prst="rect">
            <a:avLst/>
          </a:prstGeom>
          <a:noFill/>
          <a:ln/>
        </p:spPr>
        <p:txBody>
          <a:bodyPr wrap="square" lIns="0" tIns="0" rIns="0" bIns="0" rtlCol="0" anchor="t"/>
          <a:lstStyle/>
          <a:p>
            <a:pPr algn="l" indent="0" marL="0">
              <a:buNone/>
            </a:pPr>
            <a:r>
              <a:rPr lang="en-US" sz="1400" dirty="0">
                <a:solidFill>
                  <a:schemeClr val="tx2"/>
                </a:solidFill>
              </a:rPr>
              <a:t>制御日と非制御日</a:t>
            </a:r>
            <a:endParaRPr lang="en-US" sz="1400" dirty="0"/>
          </a:p>
          <a:p>
            <a:pPr algn="l" indent="0" marL="0">
              <a:buNone/>
            </a:pPr>
            <a:r>
              <a:rPr lang="en-US" sz="1400" dirty="0">
                <a:solidFill>
                  <a:schemeClr val="tx2"/>
                </a:solidFill>
              </a:rPr>
              <a:t>の比較</a:t>
            </a:r>
            <a:endParaRPr lang="en-US" sz="1400" dirty="0"/>
          </a:p>
          <a:p>
            <a:pPr algn="l" indent="0" marL="0">
              <a:buNone/>
            </a:pPr>
            <a:r>
              <a:rPr lang="en-US" sz="1400" dirty="0">
                <a:solidFill>
                  <a:schemeClr val="tx2"/>
                </a:solidFill>
              </a:rPr>
              <a:t>ロジスティック回帰</a:t>
            </a:r>
            <a:endParaRPr lang="en-US" sz="1400" dirty="0"/>
          </a:p>
        </p:txBody>
      </p:sp>
      <p:sp>
        <p:nvSpPr>
          <p:cNvPr id="18" name="step card 4"/>
          <p:cNvSpPr/>
          <p:nvPr/>
        </p:nvSpPr>
        <p:spPr>
          <a:xfrm>
            <a:off x="6766560" y="1188720"/>
            <a:ext cx="1920240" cy="2697480"/>
          </a:xfrm>
          <a:prstGeom prst="roundRect">
            <a:avLst>
              <a:gd name="adj" fmla="val 5714"/>
            </a:avLst>
          </a:prstGeom>
          <a:solidFill>
            <a:schemeClr val="bg2"/>
          </a:solidFill>
          <a:ln/>
        </p:spPr>
      </p:sp>
      <p:sp>
        <p:nvSpPr>
          <p:cNvPr id="19" name="step icon 4 circle"/>
          <p:cNvSpPr/>
          <p:nvPr/>
        </p:nvSpPr>
        <p:spPr>
          <a:xfrm>
            <a:off x="6949440" y="1371600"/>
            <a:ext cx="548640" cy="548640"/>
          </a:xfrm>
          <a:prstGeom prst="ellipse">
            <a:avLst/>
          </a:prstGeom>
          <a:solidFill>
            <a:schemeClr val="accent4"/>
          </a:solidFill>
          <a:ln/>
        </p:spPr>
      </p:sp>
      <p:pic>
        <p:nvPicPr>
          <p:cNvPr id="20" name="step icon 4" descr="step icon 4">    </p:cNvPr>
          <p:cNvPicPr>
            <a:picLocks noChangeAspect="1"/>
          </p:cNvPicPr>
          <p:nvPr/>
        </p:nvPicPr>
        <p:blipFill>
          <a:blip r:embed="rId4"/>
          <a:stretch>
            <a:fillRect/>
          </a:stretch>
        </p:blipFill>
        <p:spPr>
          <a:xfrm>
            <a:off x="7086600" y="1508760"/>
            <a:ext cx="274320" cy="274320"/>
          </a:xfrm>
          <a:prstGeom prst="rect">
            <a:avLst/>
          </a:prstGeom>
        </p:spPr>
      </p:pic>
      <p:sp>
        <p:nvSpPr>
          <p:cNvPr id="21" name="step title 4"/>
          <p:cNvSpPr txBox="1"/>
          <p:nvPr/>
        </p:nvSpPr>
        <p:spPr>
          <a:xfrm>
            <a:off x="6949440" y="2057400"/>
            <a:ext cx="1600200" cy="365760"/>
          </a:xfrm>
          <a:prstGeom prst="rect">
            <a:avLst/>
          </a:prstGeom>
          <a:noFill/>
          <a:ln/>
        </p:spPr>
        <p:txBody>
          <a:bodyPr wrap="square" lIns="0" tIns="0" rIns="0" bIns="0" rtlCol="0" anchor="t"/>
          <a:lstStyle/>
          <a:p>
            <a:pPr algn="l" indent="0" marL="0">
              <a:buNone/>
            </a:pPr>
            <a:r>
              <a:rPr lang="en-US" sz="1600" b="1" dirty="0">
                <a:solidFill>
                  <a:schemeClr val="tx1"/>
                </a:solidFill>
              </a:rPr>
              <a:t>予測と説明</a:t>
            </a:r>
            <a:endParaRPr lang="en-US" sz="1600" dirty="0"/>
          </a:p>
        </p:txBody>
      </p:sp>
      <p:sp>
        <p:nvSpPr>
          <p:cNvPr id="22" name="step body 4"/>
          <p:cNvSpPr txBox="1"/>
          <p:nvPr/>
        </p:nvSpPr>
        <p:spPr>
          <a:xfrm>
            <a:off x="6949440" y="2468880"/>
            <a:ext cx="1600200" cy="1417320"/>
          </a:xfrm>
          <a:prstGeom prst="rect">
            <a:avLst/>
          </a:prstGeom>
          <a:noFill/>
          <a:ln/>
        </p:spPr>
        <p:txBody>
          <a:bodyPr wrap="square" lIns="0" tIns="0" rIns="0" bIns="0" rtlCol="0" anchor="t"/>
          <a:lstStyle/>
          <a:p>
            <a:pPr algn="l" indent="0" marL="0">
              <a:buNone/>
            </a:pPr>
            <a:r>
              <a:rPr lang="en-US" sz="1400" dirty="0">
                <a:solidFill>
                  <a:schemeClr val="tx2"/>
                </a:solidFill>
              </a:rPr>
              <a:t>翌日の確率を</a:t>
            </a:r>
            <a:endParaRPr lang="en-US" sz="1400" dirty="0"/>
          </a:p>
          <a:p>
            <a:pPr algn="l" indent="0" marL="0">
              <a:buNone/>
            </a:pPr>
            <a:r>
              <a:rPr lang="en-US" sz="1400" dirty="0">
                <a:solidFill>
                  <a:schemeClr val="tx2"/>
                </a:solidFill>
              </a:rPr>
              <a:t>3段階で判定</a:t>
            </a:r>
            <a:endParaRPr lang="en-US" sz="1400" dirty="0"/>
          </a:p>
          <a:p>
            <a:pPr algn="l" indent="0" marL="0">
              <a:buNone/>
            </a:pPr>
            <a:r>
              <a:rPr lang="en-US" sz="1400" dirty="0">
                <a:solidFill>
                  <a:schemeClr val="tx2"/>
                </a:solidFill>
              </a:rPr>
              <a:t>Claudeが補足</a:t>
            </a:r>
            <a:endParaRPr lang="en-US" sz="1400" dirty="0"/>
          </a:p>
        </p:txBody>
      </p:sp>
      <p:sp>
        <p:nvSpPr>
          <p:cNvPr id="23" name="method note"/>
          <p:cNvSpPr txBox="1"/>
          <p:nvPr/>
        </p:nvSpPr>
        <p:spPr>
          <a:xfrm>
            <a:off x="457200" y="4069080"/>
            <a:ext cx="8229600" cy="594360"/>
          </a:xfrm>
          <a:prstGeom prst="rect">
            <a:avLst/>
          </a:prstGeom>
          <a:noFill/>
          <a:ln/>
        </p:spPr>
        <p:txBody>
          <a:bodyPr wrap="square" lIns="0" tIns="0" rIns="0" bIns="0" rtlCol="0" anchor="t"/>
          <a:lstStyle/>
          <a:p>
            <a:pPr algn="l" indent="0" marL="0">
              <a:buNone/>
            </a:pPr>
            <a:r>
              <a:rPr lang="en-US" sz="1400" dirty="0">
                <a:solidFill>
                  <a:schemeClr val="tx2"/>
                </a:solidFill>
              </a:rPr>
              <a:t>制御日の判定は「前日指示」を「当日速報」で上書きした最新の決定を採用。AMGSDSは専用認証が必要なため、気象官署7県平均でも代替できる。</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出力制御は晴れた休日に偏る</a:t>
            </a:r>
            <a:endParaRPr lang="en-US" sz="2800" dirty="0"/>
          </a:p>
        </p:txBody>
      </p:sp>
      <p:graphicFrame>
        <p:nvGraphicFramePr>
          <p:cNvPr id="3" name="Chart 0" descr=""/>
          <p:cNvGraphicFramePr/>
          <p:nvPr/>
        </p:nvGraphicFramePr>
        <p:xfrm>
          <a:off x="457200" y="1188720"/>
          <a:ext cx="4846320" cy="3429000"/>
        </p:xfrm>
        <a:graphic xmlns:a="http://schemas.openxmlformats.org/drawingml/2006/main">
          <a:graphicData uri="http://schemas.openxmlformats.org/drawingml/2006/chart">
            <c:chart xmlns:c="http://schemas.openxmlformats.org/drawingml/2006/chart" r:id="rId1"/>
          </a:graphicData>
        </a:graphic>
      </p:graphicFrame>
      <p:sp>
        <p:nvSpPr>
          <p:cNvPr id="4" name="weekend card 1"/>
          <p:cNvSpPr/>
          <p:nvPr/>
        </p:nvSpPr>
        <p:spPr>
          <a:xfrm>
            <a:off x="5577840" y="1188720"/>
            <a:ext cx="3108960" cy="1600200"/>
          </a:xfrm>
          <a:prstGeom prst="roundRect">
            <a:avLst>
              <a:gd name="adj" fmla="val 6857"/>
            </a:avLst>
          </a:prstGeom>
          <a:solidFill>
            <a:schemeClr val="bg2"/>
          </a:solidFill>
          <a:ln/>
        </p:spPr>
      </p:sp>
      <p:sp>
        <p:nvSpPr>
          <p:cNvPr id="5" name="weekend label 1"/>
          <p:cNvSpPr txBox="1"/>
          <p:nvPr/>
        </p:nvSpPr>
        <p:spPr>
          <a:xfrm>
            <a:off x="5806440" y="1371600"/>
            <a:ext cx="2651760" cy="320040"/>
          </a:xfrm>
          <a:prstGeom prst="rect">
            <a:avLst/>
          </a:prstGeom>
          <a:noFill/>
          <a:ln/>
        </p:spPr>
        <p:txBody>
          <a:bodyPr wrap="square" lIns="0" tIns="0" rIns="0" bIns="0" rtlCol="0" anchor="t"/>
          <a:lstStyle/>
          <a:p>
            <a:pPr algn="l" indent="0" marL="0">
              <a:buNone/>
            </a:pPr>
            <a:r>
              <a:rPr lang="en-US" sz="1400" dirty="0">
                <a:solidFill>
                  <a:schemeClr val="tx2"/>
                </a:solidFill>
              </a:rPr>
              <a:t>九州の土日の割合</a:t>
            </a:r>
            <a:endParaRPr lang="en-US" sz="1400" dirty="0"/>
          </a:p>
        </p:txBody>
      </p:sp>
      <p:sp>
        <p:nvSpPr>
          <p:cNvPr id="6" name="weekend value 1"/>
          <p:cNvSpPr txBox="1"/>
          <p:nvPr/>
        </p:nvSpPr>
        <p:spPr>
          <a:xfrm>
            <a:off x="5806440" y="1691640"/>
            <a:ext cx="2651760" cy="594360"/>
          </a:xfrm>
          <a:prstGeom prst="rect">
            <a:avLst/>
          </a:prstGeom>
          <a:noFill/>
          <a:ln/>
        </p:spPr>
        <p:txBody>
          <a:bodyPr wrap="square" lIns="0" tIns="0" rIns="0" bIns="0" rtlCol="0" anchor="ctr"/>
          <a:lstStyle/>
          <a:p>
            <a:pPr algn="l" indent="0" marL="0">
              <a:buNone/>
            </a:pPr>
            <a:r>
              <a:rPr lang="en-US" sz="3600" b="1" dirty="0">
                <a:solidFill>
                  <a:schemeClr val="accent3"/>
                </a:solidFill>
              </a:rPr>
              <a:t>39.2%</a:t>
            </a:r>
            <a:endParaRPr lang="en-US" sz="3600" dirty="0"/>
          </a:p>
        </p:txBody>
      </p:sp>
      <p:sp>
        <p:nvSpPr>
          <p:cNvPr id="7" name="weekend base 1"/>
          <p:cNvSpPr txBox="1"/>
          <p:nvPr/>
        </p:nvSpPr>
        <p:spPr>
          <a:xfrm>
            <a:off x="5806440" y="2331720"/>
            <a:ext cx="2651760" cy="274320"/>
          </a:xfrm>
          <a:prstGeom prst="rect">
            <a:avLst/>
          </a:prstGeom>
          <a:noFill/>
          <a:ln/>
        </p:spPr>
        <p:txBody>
          <a:bodyPr wrap="square" lIns="0" tIns="0" rIns="0" bIns="0" rtlCol="0" anchor="t"/>
          <a:lstStyle/>
          <a:p>
            <a:pPr algn="l" indent="0" marL="0">
              <a:buNone/>
            </a:pPr>
            <a:r>
              <a:rPr lang="en-US" sz="1200" dirty="0">
                <a:solidFill>
                  <a:schemeClr val="accent5"/>
                </a:solidFill>
              </a:rPr>
              <a:t>カレンダー基準は28.6%</a:t>
            </a:r>
            <a:endParaRPr lang="en-US" sz="1200" dirty="0"/>
          </a:p>
        </p:txBody>
      </p:sp>
      <p:sp>
        <p:nvSpPr>
          <p:cNvPr id="8" name="weekend card 2"/>
          <p:cNvSpPr/>
          <p:nvPr/>
        </p:nvSpPr>
        <p:spPr>
          <a:xfrm>
            <a:off x="5577840" y="2926080"/>
            <a:ext cx="3108960" cy="1600200"/>
          </a:xfrm>
          <a:prstGeom prst="roundRect">
            <a:avLst>
              <a:gd name="adj" fmla="val 6857"/>
            </a:avLst>
          </a:prstGeom>
          <a:solidFill>
            <a:schemeClr val="bg2"/>
          </a:solidFill>
          <a:ln/>
        </p:spPr>
      </p:sp>
      <p:sp>
        <p:nvSpPr>
          <p:cNvPr id="9" name="weekend label 2"/>
          <p:cNvSpPr txBox="1"/>
          <p:nvPr/>
        </p:nvSpPr>
        <p:spPr>
          <a:xfrm>
            <a:off x="5806440" y="3108960"/>
            <a:ext cx="2651760" cy="320040"/>
          </a:xfrm>
          <a:prstGeom prst="rect">
            <a:avLst/>
          </a:prstGeom>
          <a:noFill/>
          <a:ln/>
        </p:spPr>
        <p:txBody>
          <a:bodyPr wrap="square" lIns="0" tIns="0" rIns="0" bIns="0" rtlCol="0" anchor="t"/>
          <a:lstStyle/>
          <a:p>
            <a:pPr algn="l" indent="0" marL="0">
              <a:buNone/>
            </a:pPr>
            <a:r>
              <a:rPr lang="en-US" sz="1400" dirty="0">
                <a:solidFill>
                  <a:schemeClr val="tx2"/>
                </a:solidFill>
              </a:rPr>
              <a:t>沖縄の土日の割合</a:t>
            </a:r>
            <a:endParaRPr lang="en-US" sz="1400" dirty="0"/>
          </a:p>
        </p:txBody>
      </p:sp>
      <p:sp>
        <p:nvSpPr>
          <p:cNvPr id="10" name="weekend value 2"/>
          <p:cNvSpPr txBox="1"/>
          <p:nvPr/>
        </p:nvSpPr>
        <p:spPr>
          <a:xfrm>
            <a:off x="5806440" y="3429000"/>
            <a:ext cx="2651760" cy="594360"/>
          </a:xfrm>
          <a:prstGeom prst="rect">
            <a:avLst/>
          </a:prstGeom>
          <a:noFill/>
          <a:ln/>
        </p:spPr>
        <p:txBody>
          <a:bodyPr wrap="square" lIns="0" tIns="0" rIns="0" bIns="0" rtlCol="0" anchor="ctr"/>
          <a:lstStyle/>
          <a:p>
            <a:pPr algn="l" indent="0" marL="0">
              <a:buNone/>
            </a:pPr>
            <a:r>
              <a:rPr lang="en-US" sz="3600" b="1" dirty="0">
                <a:solidFill>
                  <a:schemeClr val="accent3"/>
                </a:solidFill>
              </a:rPr>
              <a:t>59.1%</a:t>
            </a:r>
            <a:endParaRPr lang="en-US" sz="3600" dirty="0"/>
          </a:p>
        </p:txBody>
      </p:sp>
      <p:sp>
        <p:nvSpPr>
          <p:cNvPr id="11" name="weekend base 2"/>
          <p:cNvSpPr txBox="1"/>
          <p:nvPr/>
        </p:nvSpPr>
        <p:spPr>
          <a:xfrm>
            <a:off x="5806440" y="4069080"/>
            <a:ext cx="2651760" cy="274320"/>
          </a:xfrm>
          <a:prstGeom prst="rect">
            <a:avLst/>
          </a:prstGeom>
          <a:noFill/>
          <a:ln/>
        </p:spPr>
        <p:txBody>
          <a:bodyPr wrap="square" lIns="0" tIns="0" rIns="0" bIns="0" rtlCol="0" anchor="t"/>
          <a:lstStyle/>
          <a:p>
            <a:pPr algn="l" indent="0" marL="0">
              <a:buNone/>
            </a:pPr>
            <a:r>
              <a:rPr lang="en-US" sz="1200" dirty="0">
                <a:solidFill>
                  <a:schemeClr val="accent5"/>
                </a:solidFill>
              </a:rPr>
              <a:t>カレンダー基準は28.6%</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「土日に多い」は季節で大きく変わる</a:t>
            </a:r>
            <a:endParaRPr lang="en-US" sz="2800" dirty="0"/>
          </a:p>
        </p:txBody>
      </p:sp>
      <p:sp>
        <p:nvSpPr>
          <p:cNvPr id="3" name="season card 1"/>
          <p:cNvSpPr/>
          <p:nvPr/>
        </p:nvSpPr>
        <p:spPr>
          <a:xfrm>
            <a:off x="457200" y="1188720"/>
            <a:ext cx="2651760" cy="2514600"/>
          </a:xfrm>
          <a:prstGeom prst="roundRect">
            <a:avLst>
              <a:gd name="adj" fmla="val 4364"/>
            </a:avLst>
          </a:prstGeom>
          <a:solidFill>
            <a:schemeClr val="bg2"/>
          </a:solidFill>
          <a:ln/>
        </p:spPr>
      </p:sp>
      <p:sp>
        <p:nvSpPr>
          <p:cNvPr id="4" name="season dot 1"/>
          <p:cNvSpPr/>
          <p:nvPr/>
        </p:nvSpPr>
        <p:spPr>
          <a:xfrm>
            <a:off x="640080" y="1371600"/>
            <a:ext cx="201168" cy="201168"/>
          </a:xfrm>
          <a:prstGeom prst="ellipse">
            <a:avLst/>
          </a:prstGeom>
          <a:solidFill>
            <a:schemeClr val="accent4"/>
          </a:solidFill>
          <a:ln/>
        </p:spPr>
      </p:sp>
      <p:sp>
        <p:nvSpPr>
          <p:cNvPr id="5" name="season label 1"/>
          <p:cNvSpPr txBox="1"/>
          <p:nvPr/>
        </p:nvSpPr>
        <p:spPr>
          <a:xfrm>
            <a:off x="960120" y="1325880"/>
            <a:ext cx="2011680" cy="292608"/>
          </a:xfrm>
          <a:prstGeom prst="rect">
            <a:avLst/>
          </a:prstGeom>
          <a:noFill/>
          <a:ln/>
        </p:spPr>
        <p:txBody>
          <a:bodyPr wrap="square" lIns="0" tIns="0" rIns="0" bIns="0" rtlCol="0" anchor="ctr"/>
          <a:lstStyle/>
          <a:p>
            <a:pPr algn="l" indent="0" marL="0">
              <a:buNone/>
            </a:pPr>
            <a:r>
              <a:rPr lang="en-US" sz="1400" b="1" dirty="0">
                <a:solidFill>
                  <a:schemeClr val="tx1"/>
                </a:solidFill>
              </a:rPr>
              <a:t>春(3〜5月)</a:t>
            </a:r>
            <a:endParaRPr lang="en-US" sz="1400" dirty="0"/>
          </a:p>
        </p:txBody>
      </p:sp>
      <p:sp>
        <p:nvSpPr>
          <p:cNvPr id="6" name="season value 1"/>
          <p:cNvSpPr txBox="1"/>
          <p:nvPr/>
        </p:nvSpPr>
        <p:spPr>
          <a:xfrm>
            <a:off x="640080" y="1737360"/>
            <a:ext cx="2286000" cy="548640"/>
          </a:xfrm>
          <a:prstGeom prst="rect">
            <a:avLst/>
          </a:prstGeom>
          <a:noFill/>
          <a:ln/>
        </p:spPr>
        <p:txBody>
          <a:bodyPr wrap="square" lIns="0" tIns="0" rIns="0" bIns="0" rtlCol="0" anchor="ctr"/>
          <a:lstStyle/>
          <a:p>
            <a:pPr algn="l" indent="0" marL="0">
              <a:buNone/>
            </a:pPr>
            <a:r>
              <a:rPr lang="en-US" sz="2800" b="1" dirty="0">
                <a:solidFill>
                  <a:schemeClr val="tx1"/>
                </a:solidFill>
              </a:rPr>
              <a:t>29〜34%</a:t>
            </a:r>
            <a:endParaRPr lang="en-US" sz="2800" dirty="0"/>
          </a:p>
        </p:txBody>
      </p:sp>
      <p:sp>
        <p:nvSpPr>
          <p:cNvPr id="7" name="season unit 1"/>
          <p:cNvSpPr txBox="1"/>
          <p:nvPr/>
        </p:nvSpPr>
        <p:spPr>
          <a:xfrm>
            <a:off x="640080" y="2286000"/>
            <a:ext cx="2286000" cy="228600"/>
          </a:xfrm>
          <a:prstGeom prst="rect">
            <a:avLst/>
          </a:prstGeom>
          <a:noFill/>
          <a:ln/>
        </p:spPr>
        <p:txBody>
          <a:bodyPr wrap="square" lIns="0" tIns="0" rIns="0" bIns="0" rtlCol="0" anchor="t"/>
          <a:lstStyle/>
          <a:p>
            <a:pPr algn="l" indent="0" marL="0">
              <a:buNone/>
            </a:pPr>
            <a:r>
              <a:rPr lang="en-US" sz="1200" dirty="0">
                <a:solidFill>
                  <a:schemeClr val="accent5"/>
                </a:solidFill>
              </a:rPr>
              <a:t>土日の割合</a:t>
            </a:r>
            <a:endParaRPr lang="en-US" sz="1200" dirty="0"/>
          </a:p>
        </p:txBody>
      </p:sp>
      <p:sp>
        <p:nvSpPr>
          <p:cNvPr id="8" name="season body 1"/>
          <p:cNvSpPr txBox="1"/>
          <p:nvPr/>
        </p:nvSpPr>
        <p:spPr>
          <a:xfrm>
            <a:off x="640080" y="2606040"/>
            <a:ext cx="2331720" cy="1005840"/>
          </a:xfrm>
          <a:prstGeom prst="rect">
            <a:avLst/>
          </a:prstGeom>
          <a:noFill/>
          <a:ln/>
        </p:spPr>
        <p:txBody>
          <a:bodyPr wrap="square" lIns="0" tIns="0" rIns="0" bIns="0" rtlCol="0" anchor="t"/>
          <a:lstStyle/>
          <a:p>
            <a:pPr algn="l" indent="0" marL="0">
              <a:buNone/>
            </a:pPr>
            <a:r>
              <a:rPr lang="en-US" sz="1200" dirty="0">
                <a:solidFill>
                  <a:schemeClr val="tx2"/>
                </a:solidFill>
              </a:rPr>
              <a:t>制御は月113〜143日と最多。需要が小さく平日でも供給過多になる</a:t>
            </a:r>
            <a:endParaRPr lang="en-US" sz="1200" dirty="0"/>
          </a:p>
        </p:txBody>
      </p:sp>
      <p:sp>
        <p:nvSpPr>
          <p:cNvPr id="9" name="season card 2"/>
          <p:cNvSpPr/>
          <p:nvPr/>
        </p:nvSpPr>
        <p:spPr>
          <a:xfrm>
            <a:off x="3246120" y="1188720"/>
            <a:ext cx="2651760" cy="2514600"/>
          </a:xfrm>
          <a:prstGeom prst="roundRect">
            <a:avLst>
              <a:gd name="adj" fmla="val 4364"/>
            </a:avLst>
          </a:prstGeom>
          <a:solidFill>
            <a:schemeClr val="bg2"/>
          </a:solidFill>
          <a:ln/>
        </p:spPr>
      </p:sp>
      <p:sp>
        <p:nvSpPr>
          <p:cNvPr id="10" name="season dot 2"/>
          <p:cNvSpPr/>
          <p:nvPr/>
        </p:nvSpPr>
        <p:spPr>
          <a:xfrm>
            <a:off x="3429000" y="1371600"/>
            <a:ext cx="201168" cy="201168"/>
          </a:xfrm>
          <a:prstGeom prst="ellipse">
            <a:avLst/>
          </a:prstGeom>
          <a:solidFill>
            <a:schemeClr val="accent3"/>
          </a:solidFill>
          <a:ln/>
        </p:spPr>
      </p:sp>
      <p:sp>
        <p:nvSpPr>
          <p:cNvPr id="11" name="season label 2"/>
          <p:cNvSpPr txBox="1"/>
          <p:nvPr/>
        </p:nvSpPr>
        <p:spPr>
          <a:xfrm>
            <a:off x="3749040" y="1325880"/>
            <a:ext cx="2011680" cy="292608"/>
          </a:xfrm>
          <a:prstGeom prst="rect">
            <a:avLst/>
          </a:prstGeom>
          <a:noFill/>
          <a:ln/>
        </p:spPr>
        <p:txBody>
          <a:bodyPr wrap="square" lIns="0" tIns="0" rIns="0" bIns="0" rtlCol="0" anchor="ctr"/>
          <a:lstStyle/>
          <a:p>
            <a:pPr algn="l" indent="0" marL="0">
              <a:buNone/>
            </a:pPr>
            <a:r>
              <a:rPr lang="en-US" sz="1400" b="1" dirty="0">
                <a:solidFill>
                  <a:schemeClr val="tx1"/>
                </a:solidFill>
              </a:rPr>
              <a:t>夏〜初秋(7〜9月)</a:t>
            </a:r>
            <a:endParaRPr lang="en-US" sz="1400" dirty="0"/>
          </a:p>
        </p:txBody>
      </p:sp>
      <p:sp>
        <p:nvSpPr>
          <p:cNvPr id="12" name="season value 2"/>
          <p:cNvSpPr txBox="1"/>
          <p:nvPr/>
        </p:nvSpPr>
        <p:spPr>
          <a:xfrm>
            <a:off x="3429000" y="1737360"/>
            <a:ext cx="2286000" cy="548640"/>
          </a:xfrm>
          <a:prstGeom prst="rect">
            <a:avLst/>
          </a:prstGeom>
          <a:noFill/>
          <a:ln/>
        </p:spPr>
        <p:txBody>
          <a:bodyPr wrap="square" lIns="0" tIns="0" rIns="0" bIns="0" rtlCol="0" anchor="ctr"/>
          <a:lstStyle/>
          <a:p>
            <a:pPr algn="l" indent="0" marL="0">
              <a:buNone/>
            </a:pPr>
            <a:r>
              <a:rPr lang="en-US" sz="2800" b="1" dirty="0">
                <a:solidFill>
                  <a:schemeClr val="tx1"/>
                </a:solidFill>
              </a:rPr>
              <a:t>83〜100%</a:t>
            </a:r>
            <a:endParaRPr lang="en-US" sz="2800" dirty="0"/>
          </a:p>
        </p:txBody>
      </p:sp>
      <p:sp>
        <p:nvSpPr>
          <p:cNvPr id="13" name="season unit 2"/>
          <p:cNvSpPr txBox="1"/>
          <p:nvPr/>
        </p:nvSpPr>
        <p:spPr>
          <a:xfrm>
            <a:off x="3429000" y="2286000"/>
            <a:ext cx="2286000" cy="228600"/>
          </a:xfrm>
          <a:prstGeom prst="rect">
            <a:avLst/>
          </a:prstGeom>
          <a:noFill/>
          <a:ln/>
        </p:spPr>
        <p:txBody>
          <a:bodyPr wrap="square" lIns="0" tIns="0" rIns="0" bIns="0" rtlCol="0" anchor="t"/>
          <a:lstStyle/>
          <a:p>
            <a:pPr algn="l" indent="0" marL="0">
              <a:buNone/>
            </a:pPr>
            <a:r>
              <a:rPr lang="en-US" sz="1200" dirty="0">
                <a:solidFill>
                  <a:schemeClr val="accent5"/>
                </a:solidFill>
              </a:rPr>
              <a:t>土日の割合</a:t>
            </a:r>
            <a:endParaRPr lang="en-US" sz="1200" dirty="0"/>
          </a:p>
        </p:txBody>
      </p:sp>
      <p:sp>
        <p:nvSpPr>
          <p:cNvPr id="14" name="season body 2"/>
          <p:cNvSpPr txBox="1"/>
          <p:nvPr/>
        </p:nvSpPr>
        <p:spPr>
          <a:xfrm>
            <a:off x="3429000" y="2606040"/>
            <a:ext cx="2331720" cy="1005840"/>
          </a:xfrm>
          <a:prstGeom prst="rect">
            <a:avLst/>
          </a:prstGeom>
          <a:noFill/>
          <a:ln/>
        </p:spPr>
        <p:txBody>
          <a:bodyPr wrap="square" lIns="0" tIns="0" rIns="0" bIns="0" rtlCol="0" anchor="t"/>
          <a:lstStyle/>
          <a:p>
            <a:pPr algn="l" indent="0" marL="0">
              <a:buNone/>
            </a:pPr>
            <a:r>
              <a:rPr lang="en-US" sz="1200" dirty="0">
                <a:solidFill>
                  <a:schemeClr val="tx2"/>
                </a:solidFill>
              </a:rPr>
              <a:t>制御は月2〜18日と希少。冷房需要で平日は保たれ、土日だけ超過(7・8月は参考値)</a:t>
            </a:r>
            <a:endParaRPr lang="en-US" sz="1200" dirty="0"/>
          </a:p>
        </p:txBody>
      </p:sp>
      <p:sp>
        <p:nvSpPr>
          <p:cNvPr id="15" name="season card 3"/>
          <p:cNvSpPr/>
          <p:nvPr/>
        </p:nvSpPr>
        <p:spPr>
          <a:xfrm>
            <a:off x="6035040" y="1188720"/>
            <a:ext cx="2651760" cy="2514600"/>
          </a:xfrm>
          <a:prstGeom prst="roundRect">
            <a:avLst>
              <a:gd name="adj" fmla="val 4364"/>
            </a:avLst>
          </a:prstGeom>
          <a:solidFill>
            <a:schemeClr val="bg2"/>
          </a:solidFill>
          <a:ln/>
        </p:spPr>
      </p:sp>
      <p:sp>
        <p:nvSpPr>
          <p:cNvPr id="16" name="season dot 3"/>
          <p:cNvSpPr/>
          <p:nvPr/>
        </p:nvSpPr>
        <p:spPr>
          <a:xfrm>
            <a:off x="6217920" y="1371600"/>
            <a:ext cx="201168" cy="201168"/>
          </a:xfrm>
          <a:prstGeom prst="ellipse">
            <a:avLst/>
          </a:prstGeom>
          <a:solidFill>
            <a:schemeClr val="accent2"/>
          </a:solidFill>
          <a:ln/>
        </p:spPr>
      </p:sp>
      <p:sp>
        <p:nvSpPr>
          <p:cNvPr id="17" name="season label 3"/>
          <p:cNvSpPr txBox="1"/>
          <p:nvPr/>
        </p:nvSpPr>
        <p:spPr>
          <a:xfrm>
            <a:off x="6537960" y="1325880"/>
            <a:ext cx="2011680" cy="292608"/>
          </a:xfrm>
          <a:prstGeom prst="rect">
            <a:avLst/>
          </a:prstGeom>
          <a:noFill/>
          <a:ln/>
        </p:spPr>
        <p:txBody>
          <a:bodyPr wrap="square" lIns="0" tIns="0" rIns="0" bIns="0" rtlCol="0" anchor="ctr"/>
          <a:lstStyle/>
          <a:p>
            <a:pPr algn="l" indent="0" marL="0">
              <a:buNone/>
            </a:pPr>
            <a:r>
              <a:rPr lang="en-US" sz="1400" b="1" dirty="0">
                <a:solidFill>
                  <a:schemeClr val="tx1"/>
                </a:solidFill>
              </a:rPr>
              <a:t>秋冬(10〜2月)</a:t>
            </a:r>
            <a:endParaRPr lang="en-US" sz="1400" dirty="0"/>
          </a:p>
        </p:txBody>
      </p:sp>
      <p:sp>
        <p:nvSpPr>
          <p:cNvPr id="18" name="season value 3"/>
          <p:cNvSpPr txBox="1"/>
          <p:nvPr/>
        </p:nvSpPr>
        <p:spPr>
          <a:xfrm>
            <a:off x="6217920" y="1737360"/>
            <a:ext cx="2286000" cy="548640"/>
          </a:xfrm>
          <a:prstGeom prst="rect">
            <a:avLst/>
          </a:prstGeom>
          <a:noFill/>
          <a:ln/>
        </p:spPr>
        <p:txBody>
          <a:bodyPr wrap="square" lIns="0" tIns="0" rIns="0" bIns="0" rtlCol="0" anchor="ctr"/>
          <a:lstStyle/>
          <a:p>
            <a:pPr algn="l" indent="0" marL="0">
              <a:buNone/>
            </a:pPr>
            <a:r>
              <a:rPr lang="en-US" sz="2800" b="1" dirty="0">
                <a:solidFill>
                  <a:schemeClr val="tx1"/>
                </a:solidFill>
              </a:rPr>
              <a:t>41〜56%</a:t>
            </a:r>
            <a:endParaRPr lang="en-US" sz="2800" dirty="0"/>
          </a:p>
        </p:txBody>
      </p:sp>
      <p:sp>
        <p:nvSpPr>
          <p:cNvPr id="19" name="season unit 3"/>
          <p:cNvSpPr txBox="1"/>
          <p:nvPr/>
        </p:nvSpPr>
        <p:spPr>
          <a:xfrm>
            <a:off x="6217920" y="2286000"/>
            <a:ext cx="2286000" cy="228600"/>
          </a:xfrm>
          <a:prstGeom prst="rect">
            <a:avLst/>
          </a:prstGeom>
          <a:noFill/>
          <a:ln/>
        </p:spPr>
        <p:txBody>
          <a:bodyPr wrap="square" lIns="0" tIns="0" rIns="0" bIns="0" rtlCol="0" anchor="t"/>
          <a:lstStyle/>
          <a:p>
            <a:pPr algn="l" indent="0" marL="0">
              <a:buNone/>
            </a:pPr>
            <a:r>
              <a:rPr lang="en-US" sz="1200" dirty="0">
                <a:solidFill>
                  <a:schemeClr val="accent5"/>
                </a:solidFill>
              </a:rPr>
              <a:t>土日の割合</a:t>
            </a:r>
            <a:endParaRPr lang="en-US" sz="1200" dirty="0"/>
          </a:p>
        </p:txBody>
      </p:sp>
      <p:sp>
        <p:nvSpPr>
          <p:cNvPr id="20" name="season body 3"/>
          <p:cNvSpPr txBox="1"/>
          <p:nvPr/>
        </p:nvSpPr>
        <p:spPr>
          <a:xfrm>
            <a:off x="6217920" y="2606040"/>
            <a:ext cx="2331720" cy="1005840"/>
          </a:xfrm>
          <a:prstGeom prst="rect">
            <a:avLst/>
          </a:prstGeom>
          <a:noFill/>
          <a:ln/>
        </p:spPr>
        <p:txBody>
          <a:bodyPr wrap="square" lIns="0" tIns="0" rIns="0" bIns="0" rtlCol="0" anchor="t"/>
          <a:lstStyle/>
          <a:p>
            <a:pPr algn="l" indent="0" marL="0">
              <a:buNone/>
            </a:pPr>
            <a:r>
              <a:rPr lang="en-US" sz="1200" dirty="0">
                <a:solidFill>
                  <a:schemeClr val="tx2"/>
                </a:solidFill>
              </a:rPr>
              <a:t>制御は月20〜72日。春と夏の中間的な傾向</a:t>
            </a:r>
            <a:endParaRPr lang="en-US" sz="1200" dirty="0"/>
          </a:p>
        </p:txBody>
      </p:sp>
      <p:sp>
        <p:nvSpPr>
          <p:cNvPr id="21" name="okinawa note"/>
          <p:cNvSpPr/>
          <p:nvPr/>
        </p:nvSpPr>
        <p:spPr>
          <a:xfrm>
            <a:off x="457200" y="3886200"/>
            <a:ext cx="8229600" cy="731520"/>
          </a:xfrm>
          <a:prstGeom prst="roundRect">
            <a:avLst>
              <a:gd name="adj" fmla="val 15000"/>
            </a:avLst>
          </a:prstGeom>
          <a:solidFill>
            <a:schemeClr val="tx1"/>
          </a:solidFill>
          <a:ln/>
        </p:spPr>
      </p:sp>
      <p:sp>
        <p:nvSpPr>
          <p:cNvPr id="22" name="okinawa note text"/>
          <p:cNvSpPr txBox="1"/>
          <p:nvPr/>
        </p:nvSpPr>
        <p:spPr>
          <a:xfrm>
            <a:off x="731520" y="3931920"/>
            <a:ext cx="7680960" cy="640080"/>
          </a:xfrm>
          <a:prstGeom prst="rect">
            <a:avLst/>
          </a:prstGeom>
          <a:noFill/>
          <a:ln/>
        </p:spPr>
        <p:txBody>
          <a:bodyPr wrap="square" lIns="0" tIns="0" rIns="0" bIns="0" rtlCol="0" anchor="ctr"/>
          <a:lstStyle/>
          <a:p>
            <a:pPr algn="l" indent="0" marL="0">
              <a:buNone/>
            </a:pPr>
            <a:r>
              <a:rPr lang="en-US" sz="1600" b="1" dirty="0">
                <a:solidFill>
                  <a:schemeClr val="accent1"/>
                </a:solidFill>
              </a:rPr>
              <a:t>沖縄:</a:t>
            </a:r>
            <a:pPr algn="l" indent="0" marL="0">
              <a:buNone/>
            </a:pPr>
            <a:r>
              <a:rPr lang="en-US" sz="1600" dirty="0">
                <a:solidFill>
                  <a:schemeClr val="bg1"/>
                </a:solidFill>
              </a:rPr>
              <a:t> 5〜10月は4年間で制御0日。季節そのものが制御の有無を分ける。</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晴れの測り方:日照時間が優位</a:t>
            </a:r>
            <a:endParaRPr lang="en-US" sz="2800" dirty="0"/>
          </a:p>
        </p:txBody>
      </p:sp>
      <p:graphicFrame>
        <p:nvGraphicFramePr>
          <p:cNvPr id="3" name="Chart 0" descr=""/>
          <p:cNvGraphicFramePr/>
          <p:nvPr/>
        </p:nvGraphicFramePr>
        <p:xfrm>
          <a:off x="457200" y="1188720"/>
          <a:ext cx="5212080" cy="3429000"/>
        </p:xfrm>
        <a:graphic xmlns:a="http://schemas.openxmlformats.org/drawingml/2006/main">
          <a:graphicData uri="http://schemas.openxmlformats.org/drawingml/2006/chart">
            <c:chart xmlns:c="http://schemas.openxmlformats.org/drawingml/2006/chart" r:id="rId1"/>
          </a:graphicData>
        </a:graphic>
      </p:graphicFrame>
      <p:sp>
        <p:nvSpPr>
          <p:cNvPr id="4" name="binary card"/>
          <p:cNvSpPr/>
          <p:nvPr/>
        </p:nvSpPr>
        <p:spPr>
          <a:xfrm>
            <a:off x="5943600" y="1188720"/>
            <a:ext cx="2743200" cy="1645920"/>
          </a:xfrm>
          <a:prstGeom prst="roundRect">
            <a:avLst>
              <a:gd name="adj" fmla="val 6667"/>
            </a:avLst>
          </a:prstGeom>
          <a:solidFill>
            <a:schemeClr val="bg2"/>
          </a:solidFill>
          <a:ln/>
        </p:spPr>
      </p:sp>
      <p:sp>
        <p:nvSpPr>
          <p:cNvPr id="5" name="binary title"/>
          <p:cNvSpPr txBox="1"/>
          <p:nvPr/>
        </p:nvSpPr>
        <p:spPr>
          <a:xfrm>
            <a:off x="6126480" y="1325880"/>
            <a:ext cx="2423160" cy="320040"/>
          </a:xfrm>
          <a:prstGeom prst="rect">
            <a:avLst/>
          </a:prstGeom>
          <a:noFill/>
          <a:ln/>
        </p:spPr>
        <p:txBody>
          <a:bodyPr wrap="square" lIns="0" tIns="0" rIns="0" bIns="0" rtlCol="0" anchor="t"/>
          <a:lstStyle/>
          <a:p>
            <a:pPr algn="l" indent="0" marL="0">
              <a:buNone/>
            </a:pPr>
            <a:r>
              <a:rPr lang="en-US" sz="1600" b="1" dirty="0">
                <a:solidFill>
                  <a:schemeClr val="tx1"/>
                </a:solidFill>
              </a:rPr>
              <a:t>二値判別は日照時間</a:t>
            </a:r>
            <a:endParaRPr lang="en-US" sz="1600" dirty="0"/>
          </a:p>
        </p:txBody>
      </p:sp>
      <p:sp>
        <p:nvSpPr>
          <p:cNvPr id="6" name="binary body"/>
          <p:cNvSpPr txBox="1"/>
          <p:nvPr/>
        </p:nvSpPr>
        <p:spPr>
          <a:xfrm>
            <a:off x="6126480" y="1691640"/>
            <a:ext cx="2423160" cy="1097280"/>
          </a:xfrm>
          <a:prstGeom prst="rect">
            <a:avLst/>
          </a:prstGeom>
          <a:noFill/>
          <a:ln/>
        </p:spPr>
        <p:txBody>
          <a:bodyPr wrap="square" lIns="0" tIns="0" rIns="0" bIns="0" rtlCol="0" anchor="t"/>
          <a:lstStyle/>
          <a:p>
            <a:pPr algn="l" indent="0" marL="0">
              <a:buNone/>
            </a:pPr>
            <a:r>
              <a:rPr lang="en-US" sz="1200" dirty="0">
                <a:solidFill>
                  <a:schemeClr val="tx2"/>
                </a:solidFill>
              </a:rPr>
              <a:t>制御は「ピーク時に供給が需要を超える」閾値現象。晴天の持続時間が効くと考えられる(推測)</a:t>
            </a:r>
            <a:endParaRPr lang="en-US" sz="1200" dirty="0"/>
          </a:p>
        </p:txBody>
      </p:sp>
      <p:sp>
        <p:nvSpPr>
          <p:cNvPr id="7" name="continuous card"/>
          <p:cNvSpPr/>
          <p:nvPr/>
        </p:nvSpPr>
        <p:spPr>
          <a:xfrm>
            <a:off x="5943600" y="3017520"/>
            <a:ext cx="2743200" cy="1600200"/>
          </a:xfrm>
          <a:prstGeom prst="roundRect">
            <a:avLst>
              <a:gd name="adj" fmla="val 6857"/>
            </a:avLst>
          </a:prstGeom>
          <a:solidFill>
            <a:schemeClr val="bg2"/>
          </a:solidFill>
          <a:ln/>
        </p:spPr>
      </p:sp>
      <p:sp>
        <p:nvSpPr>
          <p:cNvPr id="8" name="continuous title"/>
          <p:cNvSpPr txBox="1"/>
          <p:nvPr/>
        </p:nvSpPr>
        <p:spPr>
          <a:xfrm>
            <a:off x="6126480" y="3154680"/>
            <a:ext cx="2423160" cy="320040"/>
          </a:xfrm>
          <a:prstGeom prst="rect">
            <a:avLst/>
          </a:prstGeom>
          <a:noFill/>
          <a:ln/>
        </p:spPr>
        <p:txBody>
          <a:bodyPr wrap="square" lIns="0" tIns="0" rIns="0" bIns="0" rtlCol="0" anchor="t"/>
          <a:lstStyle/>
          <a:p>
            <a:pPr algn="l" indent="0" marL="0">
              <a:buNone/>
            </a:pPr>
            <a:r>
              <a:rPr lang="en-US" sz="1600" b="1" dirty="0">
                <a:solidFill>
                  <a:schemeClr val="tx1"/>
                </a:solidFill>
              </a:rPr>
              <a:t>発電量は全天日射量</a:t>
            </a:r>
            <a:endParaRPr lang="en-US" sz="1600" dirty="0"/>
          </a:p>
        </p:txBody>
      </p:sp>
      <p:sp>
        <p:nvSpPr>
          <p:cNvPr id="9" name="continuous body"/>
          <p:cNvSpPr txBox="1"/>
          <p:nvPr/>
        </p:nvSpPr>
        <p:spPr>
          <a:xfrm>
            <a:off x="6126480" y="3520440"/>
            <a:ext cx="2423160" cy="1005840"/>
          </a:xfrm>
          <a:prstGeom prst="rect">
            <a:avLst/>
          </a:prstGeom>
          <a:noFill/>
          <a:ln/>
        </p:spPr>
        <p:txBody>
          <a:bodyPr wrap="square" lIns="0" tIns="0" rIns="0" bIns="0" rtlCol="0" anchor="t"/>
          <a:lstStyle/>
          <a:p>
            <a:pPr algn="l" indent="0" marL="0">
              <a:buNone/>
            </a:pPr>
            <a:r>
              <a:rPr lang="en-US" sz="1200" dirty="0">
                <a:solidFill>
                  <a:schemeClr val="tx2"/>
                </a:solidFill>
              </a:rPr>
              <a:t>系統への太陽光出力との相関は日射量の方が高い(r=0.835 vs 0.799、スライド10)</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分析指標の読み方</a:t>
            </a:r>
            <a:endParaRPr lang="en-US" sz="2800" dirty="0"/>
          </a:p>
        </p:txBody>
      </p:sp>
      <p:sp>
        <p:nvSpPr>
          <p:cNvPr id="3" name="glossary card 1"/>
          <p:cNvSpPr/>
          <p:nvPr/>
        </p:nvSpPr>
        <p:spPr>
          <a:xfrm>
            <a:off x="457200" y="1188720"/>
            <a:ext cx="4023360" cy="1600200"/>
          </a:xfrm>
          <a:prstGeom prst="roundRect">
            <a:avLst>
              <a:gd name="adj" fmla="val 6857"/>
            </a:avLst>
          </a:prstGeom>
          <a:solidFill>
            <a:schemeClr val="bg2"/>
          </a:solidFill>
          <a:ln/>
        </p:spPr>
      </p:sp>
      <p:sp>
        <p:nvSpPr>
          <p:cNvPr id="4" name="glossary icon 1 circle"/>
          <p:cNvSpPr/>
          <p:nvPr/>
        </p:nvSpPr>
        <p:spPr>
          <a:xfrm>
            <a:off x="640080" y="1371600"/>
            <a:ext cx="548640" cy="548640"/>
          </a:xfrm>
          <a:prstGeom prst="ellipse">
            <a:avLst/>
          </a:prstGeom>
          <a:solidFill>
            <a:schemeClr val="accent2"/>
          </a:solidFill>
          <a:ln/>
        </p:spPr>
      </p:sp>
      <p:pic>
        <p:nvPicPr>
          <p:cNvPr id="5" name="glossary icon 1" descr="glossary icon 1">    </p:cNvPr>
          <p:cNvPicPr>
            <a:picLocks noChangeAspect="1"/>
          </p:cNvPicPr>
          <p:nvPr/>
        </p:nvPicPr>
        <p:blipFill>
          <a:blip r:embed="rId1"/>
          <a:stretch>
            <a:fillRect/>
          </a:stretch>
        </p:blipFill>
        <p:spPr>
          <a:xfrm>
            <a:off x="777240" y="1508760"/>
            <a:ext cx="274320" cy="274320"/>
          </a:xfrm>
          <a:prstGeom prst="rect">
            <a:avLst/>
          </a:prstGeom>
        </p:spPr>
      </p:pic>
      <p:sp>
        <p:nvSpPr>
          <p:cNvPr id="6" name="glossary title 1"/>
          <p:cNvSpPr txBox="1"/>
          <p:nvPr/>
        </p:nvSpPr>
        <p:spPr>
          <a:xfrm>
            <a:off x="1371600" y="1371600"/>
            <a:ext cx="2971800" cy="320040"/>
          </a:xfrm>
          <a:prstGeom prst="rect">
            <a:avLst/>
          </a:prstGeom>
          <a:noFill/>
          <a:ln/>
        </p:spPr>
        <p:txBody>
          <a:bodyPr wrap="square" lIns="0" tIns="0" rIns="0" bIns="0" rtlCol="0" anchor="t"/>
          <a:lstStyle/>
          <a:p>
            <a:pPr algn="l" indent="0" marL="0">
              <a:buNone/>
            </a:pPr>
            <a:r>
              <a:rPr lang="en-US" sz="1600" b="1" dirty="0">
                <a:solidFill>
                  <a:schemeClr val="tx1"/>
                </a:solidFill>
              </a:rPr>
              <a:t>ロジスティック回帰</a:t>
            </a:r>
            <a:endParaRPr lang="en-US" sz="1600" dirty="0"/>
          </a:p>
        </p:txBody>
      </p:sp>
      <p:sp>
        <p:nvSpPr>
          <p:cNvPr id="7" name="glossary body 1"/>
          <p:cNvSpPr txBox="1"/>
          <p:nvPr/>
        </p:nvSpPr>
        <p:spPr>
          <a:xfrm>
            <a:off x="1371600" y="1737360"/>
            <a:ext cx="2971800" cy="960120"/>
          </a:xfrm>
          <a:prstGeom prst="rect">
            <a:avLst/>
          </a:prstGeom>
          <a:noFill/>
          <a:ln/>
        </p:spPr>
        <p:txBody>
          <a:bodyPr wrap="square" lIns="0" tIns="0" rIns="0" bIns="0" rtlCol="0" anchor="t"/>
          <a:lstStyle/>
          <a:p>
            <a:pPr algn="l" indent="0" marL="0">
              <a:buNone/>
            </a:pPr>
            <a:r>
              <a:rPr lang="en-US" sz="1200" dirty="0">
                <a:solidFill>
                  <a:schemeClr val="tx2"/>
                </a:solidFill>
              </a:rPr>
              <a:t>日照・曜日・月などから制御の確率(0〜1)を予測。0.5以上で「あり」と判定する</a:t>
            </a:r>
            <a:endParaRPr lang="en-US" sz="1200" dirty="0"/>
          </a:p>
        </p:txBody>
      </p:sp>
      <p:sp>
        <p:nvSpPr>
          <p:cNvPr id="8" name="glossary card 2"/>
          <p:cNvSpPr/>
          <p:nvPr/>
        </p:nvSpPr>
        <p:spPr>
          <a:xfrm>
            <a:off x="4663440" y="1188720"/>
            <a:ext cx="4023360" cy="1600200"/>
          </a:xfrm>
          <a:prstGeom prst="roundRect">
            <a:avLst>
              <a:gd name="adj" fmla="val 6857"/>
            </a:avLst>
          </a:prstGeom>
          <a:solidFill>
            <a:schemeClr val="bg2"/>
          </a:solidFill>
          <a:ln/>
        </p:spPr>
      </p:sp>
      <p:sp>
        <p:nvSpPr>
          <p:cNvPr id="9" name="glossary icon 2 circle"/>
          <p:cNvSpPr/>
          <p:nvPr/>
        </p:nvSpPr>
        <p:spPr>
          <a:xfrm>
            <a:off x="4846320" y="1371600"/>
            <a:ext cx="548640" cy="548640"/>
          </a:xfrm>
          <a:prstGeom prst="ellipse">
            <a:avLst/>
          </a:prstGeom>
          <a:solidFill>
            <a:schemeClr val="accent3"/>
          </a:solidFill>
          <a:ln/>
        </p:spPr>
      </p:sp>
      <p:pic>
        <p:nvPicPr>
          <p:cNvPr id="10" name="glossary icon 2" descr="glossary icon 2">    </p:cNvPr>
          <p:cNvPicPr>
            <a:picLocks noChangeAspect="1"/>
          </p:cNvPicPr>
          <p:nvPr/>
        </p:nvPicPr>
        <p:blipFill>
          <a:blip r:embed="rId2"/>
          <a:stretch>
            <a:fillRect/>
          </a:stretch>
        </p:blipFill>
        <p:spPr>
          <a:xfrm>
            <a:off x="4983480" y="1508760"/>
            <a:ext cx="274320" cy="274320"/>
          </a:xfrm>
          <a:prstGeom prst="rect">
            <a:avLst/>
          </a:prstGeom>
        </p:spPr>
      </p:pic>
      <p:sp>
        <p:nvSpPr>
          <p:cNvPr id="11" name="glossary title 2"/>
          <p:cNvSpPr txBox="1"/>
          <p:nvPr/>
        </p:nvSpPr>
        <p:spPr>
          <a:xfrm>
            <a:off x="5577840" y="1371600"/>
            <a:ext cx="2971800" cy="320040"/>
          </a:xfrm>
          <a:prstGeom prst="rect">
            <a:avLst/>
          </a:prstGeom>
          <a:noFill/>
          <a:ln/>
        </p:spPr>
        <p:txBody>
          <a:bodyPr wrap="square" lIns="0" tIns="0" rIns="0" bIns="0" rtlCol="0" anchor="t"/>
          <a:lstStyle/>
          <a:p>
            <a:pPr algn="l" indent="0" marL="0">
              <a:buNone/>
            </a:pPr>
            <a:r>
              <a:rPr lang="en-US" sz="1600" b="1" dirty="0">
                <a:solidFill>
                  <a:schemeClr val="tx1"/>
                </a:solidFill>
              </a:rPr>
              <a:t>ROC-AUC</a:t>
            </a:r>
            <a:endParaRPr lang="en-US" sz="1600" dirty="0"/>
          </a:p>
        </p:txBody>
      </p:sp>
      <p:sp>
        <p:nvSpPr>
          <p:cNvPr id="12" name="glossary body 2"/>
          <p:cNvSpPr txBox="1"/>
          <p:nvPr/>
        </p:nvSpPr>
        <p:spPr>
          <a:xfrm>
            <a:off x="5577840" y="1737360"/>
            <a:ext cx="2971800" cy="960120"/>
          </a:xfrm>
          <a:prstGeom prst="rect">
            <a:avLst/>
          </a:prstGeom>
          <a:noFill/>
          <a:ln/>
        </p:spPr>
        <p:txBody>
          <a:bodyPr wrap="square" lIns="0" tIns="0" rIns="0" bIns="0" rtlCol="0" anchor="t"/>
          <a:lstStyle/>
          <a:p>
            <a:pPr algn="l" indent="0" marL="0">
              <a:buNone/>
            </a:pPr>
            <a:r>
              <a:rPr lang="en-US" sz="1200" dirty="0">
                <a:solidFill>
                  <a:schemeClr val="tx2"/>
                </a:solidFill>
              </a:rPr>
              <a:t>0.5は当てずっぽう、1.0は完全。0.904なら2日を比べて約90%の確率で正しく順位付けできる</a:t>
            </a:r>
            <a:endParaRPr lang="en-US" sz="1200" dirty="0"/>
          </a:p>
        </p:txBody>
      </p:sp>
      <p:sp>
        <p:nvSpPr>
          <p:cNvPr id="13" name="glossary card 3"/>
          <p:cNvSpPr/>
          <p:nvPr/>
        </p:nvSpPr>
        <p:spPr>
          <a:xfrm>
            <a:off x="457200" y="2971800"/>
            <a:ext cx="4023360" cy="1600200"/>
          </a:xfrm>
          <a:prstGeom prst="roundRect">
            <a:avLst>
              <a:gd name="adj" fmla="val 6857"/>
            </a:avLst>
          </a:prstGeom>
          <a:solidFill>
            <a:schemeClr val="bg2"/>
          </a:solidFill>
          <a:ln/>
        </p:spPr>
      </p:sp>
      <p:sp>
        <p:nvSpPr>
          <p:cNvPr id="14" name="glossary icon 3 circle"/>
          <p:cNvSpPr/>
          <p:nvPr/>
        </p:nvSpPr>
        <p:spPr>
          <a:xfrm>
            <a:off x="640080" y="3154680"/>
            <a:ext cx="548640" cy="548640"/>
          </a:xfrm>
          <a:prstGeom prst="ellipse">
            <a:avLst/>
          </a:prstGeom>
          <a:solidFill>
            <a:schemeClr val="accent4"/>
          </a:solidFill>
          <a:ln/>
        </p:spPr>
      </p:sp>
      <p:pic>
        <p:nvPicPr>
          <p:cNvPr id="15" name="glossary icon 3" descr="glossary icon 3">    </p:cNvPr>
          <p:cNvPicPr>
            <a:picLocks noChangeAspect="1"/>
          </p:cNvPicPr>
          <p:nvPr/>
        </p:nvPicPr>
        <p:blipFill>
          <a:blip r:embed="rId3"/>
          <a:stretch>
            <a:fillRect/>
          </a:stretch>
        </p:blipFill>
        <p:spPr>
          <a:xfrm>
            <a:off x="777240" y="3291840"/>
            <a:ext cx="274320" cy="274320"/>
          </a:xfrm>
          <a:prstGeom prst="rect">
            <a:avLst/>
          </a:prstGeom>
        </p:spPr>
      </p:pic>
      <p:sp>
        <p:nvSpPr>
          <p:cNvPr id="16" name="glossary title 3"/>
          <p:cNvSpPr txBox="1"/>
          <p:nvPr/>
        </p:nvSpPr>
        <p:spPr>
          <a:xfrm>
            <a:off x="1371600" y="3154680"/>
            <a:ext cx="2971800" cy="320040"/>
          </a:xfrm>
          <a:prstGeom prst="rect">
            <a:avLst/>
          </a:prstGeom>
          <a:noFill/>
          <a:ln/>
        </p:spPr>
        <p:txBody>
          <a:bodyPr wrap="square" lIns="0" tIns="0" rIns="0" bIns="0" rtlCol="0" anchor="t"/>
          <a:lstStyle/>
          <a:p>
            <a:pPr algn="l" indent="0" marL="0">
              <a:buNone/>
            </a:pPr>
            <a:r>
              <a:rPr lang="en-US" sz="1600" b="1" dirty="0">
                <a:solidFill>
                  <a:schemeClr val="tx1"/>
                </a:solidFill>
              </a:rPr>
              <a:t>適合率と再現率</a:t>
            </a:r>
            <a:endParaRPr lang="en-US" sz="1600" dirty="0"/>
          </a:p>
        </p:txBody>
      </p:sp>
      <p:sp>
        <p:nvSpPr>
          <p:cNvPr id="17" name="glossary body 3"/>
          <p:cNvSpPr txBox="1"/>
          <p:nvPr/>
        </p:nvSpPr>
        <p:spPr>
          <a:xfrm>
            <a:off x="1371600" y="3520440"/>
            <a:ext cx="2971800" cy="960120"/>
          </a:xfrm>
          <a:prstGeom prst="rect">
            <a:avLst/>
          </a:prstGeom>
          <a:noFill/>
          <a:ln/>
        </p:spPr>
        <p:txBody>
          <a:bodyPr wrap="square" lIns="0" tIns="0" rIns="0" bIns="0" rtlCol="0" anchor="t"/>
          <a:lstStyle/>
          <a:p>
            <a:pPr algn="l" indent="0" marL="0">
              <a:buNone/>
            </a:pPr>
            <a:r>
              <a:rPr lang="en-US" sz="1200" dirty="0">
                <a:solidFill>
                  <a:schemeClr val="tx2"/>
                </a:solidFill>
              </a:rPr>
              <a:t>的中率と見逃しの少なさ。しきい値を下げると再現率が上がり適合率が下がる</a:t>
            </a:r>
            <a:endParaRPr lang="en-US" sz="1200" dirty="0"/>
          </a:p>
        </p:txBody>
      </p:sp>
      <p:sp>
        <p:nvSpPr>
          <p:cNvPr id="18" name="glossary card 4"/>
          <p:cNvSpPr/>
          <p:nvPr/>
        </p:nvSpPr>
        <p:spPr>
          <a:xfrm>
            <a:off x="4663440" y="2971800"/>
            <a:ext cx="4023360" cy="1600200"/>
          </a:xfrm>
          <a:prstGeom prst="roundRect">
            <a:avLst>
              <a:gd name="adj" fmla="val 6857"/>
            </a:avLst>
          </a:prstGeom>
          <a:solidFill>
            <a:schemeClr val="bg2"/>
          </a:solidFill>
          <a:ln/>
        </p:spPr>
      </p:sp>
      <p:sp>
        <p:nvSpPr>
          <p:cNvPr id="19" name="glossary icon 4 circle"/>
          <p:cNvSpPr/>
          <p:nvPr/>
        </p:nvSpPr>
        <p:spPr>
          <a:xfrm>
            <a:off x="4846320" y="3154680"/>
            <a:ext cx="548640" cy="548640"/>
          </a:xfrm>
          <a:prstGeom prst="ellipse">
            <a:avLst/>
          </a:prstGeom>
          <a:solidFill>
            <a:schemeClr val="accent1"/>
          </a:solidFill>
          <a:ln/>
        </p:spPr>
      </p:sp>
      <p:pic>
        <p:nvPicPr>
          <p:cNvPr id="20" name="glossary icon 4" descr="glossary icon 4">    </p:cNvPr>
          <p:cNvPicPr>
            <a:picLocks noChangeAspect="1"/>
          </p:cNvPicPr>
          <p:nvPr/>
        </p:nvPicPr>
        <p:blipFill>
          <a:blip r:embed="rId4"/>
          <a:stretch>
            <a:fillRect/>
          </a:stretch>
        </p:blipFill>
        <p:spPr>
          <a:xfrm>
            <a:off x="4983480" y="3291840"/>
            <a:ext cx="274320" cy="274320"/>
          </a:xfrm>
          <a:prstGeom prst="rect">
            <a:avLst/>
          </a:prstGeom>
        </p:spPr>
      </p:pic>
      <p:sp>
        <p:nvSpPr>
          <p:cNvPr id="21" name="glossary title 4"/>
          <p:cNvSpPr txBox="1"/>
          <p:nvPr/>
        </p:nvSpPr>
        <p:spPr>
          <a:xfrm>
            <a:off x="5577840" y="3154680"/>
            <a:ext cx="2971800" cy="320040"/>
          </a:xfrm>
          <a:prstGeom prst="rect">
            <a:avLst/>
          </a:prstGeom>
          <a:noFill/>
          <a:ln/>
        </p:spPr>
        <p:txBody>
          <a:bodyPr wrap="square" lIns="0" tIns="0" rIns="0" bIns="0" rtlCol="0" anchor="t"/>
          <a:lstStyle/>
          <a:p>
            <a:pPr algn="l" indent="0" marL="0">
              <a:buNone/>
            </a:pPr>
            <a:r>
              <a:rPr lang="en-US" sz="1600" b="1" dirty="0">
                <a:solidFill>
                  <a:schemeClr val="tx1"/>
                </a:solidFill>
              </a:rPr>
              <a:t>Cohen's d</a:t>
            </a:r>
            <a:endParaRPr lang="en-US" sz="1600" dirty="0"/>
          </a:p>
        </p:txBody>
      </p:sp>
      <p:sp>
        <p:nvSpPr>
          <p:cNvPr id="22" name="glossary body 4"/>
          <p:cNvSpPr txBox="1"/>
          <p:nvPr/>
        </p:nvSpPr>
        <p:spPr>
          <a:xfrm>
            <a:off x="5577840" y="3520440"/>
            <a:ext cx="2971800" cy="960120"/>
          </a:xfrm>
          <a:prstGeom prst="rect">
            <a:avLst/>
          </a:prstGeom>
          <a:noFill/>
          <a:ln/>
        </p:spPr>
        <p:txBody>
          <a:bodyPr wrap="square" lIns="0" tIns="0" rIns="0" bIns="0" rtlCol="0" anchor="t"/>
          <a:lstStyle/>
          <a:p>
            <a:pPr algn="l" indent="0" marL="0">
              <a:buNone/>
            </a:pPr>
            <a:r>
              <a:rPr lang="en-US" sz="1200" dirty="0">
                <a:solidFill>
                  <a:schemeClr val="tx2"/>
                </a:solidFill>
              </a:rPr>
              <a:t>2群の平均差を標準偏差で割った値。0.2で小さい、0.5で中程度、0.8以上で大きい</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季節を加えるとAUCが跳ね上がる</a:t>
            </a:r>
            <a:endParaRPr lang="en-US" sz="2800" dirty="0"/>
          </a:p>
        </p:txBody>
      </p:sp>
      <p:graphicFrame>
        <p:nvGraphicFramePr>
          <p:cNvPr id="3" name="Chart 0" descr=""/>
          <p:cNvGraphicFramePr/>
          <p:nvPr/>
        </p:nvGraphicFramePr>
        <p:xfrm>
          <a:off x="457200" y="118872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4" name="auc takeaways"/>
          <p:cNvSpPr/>
          <p:nvPr/>
        </p:nvSpPr>
        <p:spPr>
          <a:xfrm>
            <a:off x="6126480" y="1188720"/>
            <a:ext cx="2560320" cy="3429000"/>
          </a:xfrm>
          <a:prstGeom prst="roundRect">
            <a:avLst>
              <a:gd name="adj" fmla="val 4286"/>
            </a:avLst>
          </a:prstGeom>
          <a:solidFill>
            <a:schemeClr val="bg2"/>
          </a:solidFill>
          <a:ln/>
        </p:spPr>
      </p:sp>
      <p:sp>
        <p:nvSpPr>
          <p:cNvPr id="5" name="takeaway 1 value"/>
          <p:cNvSpPr txBox="1"/>
          <p:nvPr/>
        </p:nvSpPr>
        <p:spPr>
          <a:xfrm>
            <a:off x="6309360" y="1325880"/>
            <a:ext cx="2194560" cy="457200"/>
          </a:xfrm>
          <a:prstGeom prst="rect">
            <a:avLst/>
          </a:prstGeom>
          <a:noFill/>
          <a:ln/>
        </p:spPr>
        <p:txBody>
          <a:bodyPr wrap="square" lIns="0" tIns="0" rIns="0" bIns="0" rtlCol="0" anchor="ctr"/>
          <a:lstStyle/>
          <a:p>
            <a:pPr algn="l" indent="0" marL="0">
              <a:buNone/>
            </a:pPr>
            <a:r>
              <a:rPr lang="en-US" sz="2200" b="1" dirty="0">
                <a:solidFill>
                  <a:schemeClr val="tx1"/>
                </a:solidFill>
              </a:rPr>
              <a:t>0.777→0.904</a:t>
            </a:r>
            <a:endParaRPr lang="en-US" sz="2200" dirty="0"/>
          </a:p>
        </p:txBody>
      </p:sp>
      <p:sp>
        <p:nvSpPr>
          <p:cNvPr id="6" name="takeaway 1 label"/>
          <p:cNvSpPr txBox="1"/>
          <p:nvPr/>
        </p:nvSpPr>
        <p:spPr>
          <a:xfrm>
            <a:off x="6309360" y="1783080"/>
            <a:ext cx="2194560" cy="502920"/>
          </a:xfrm>
          <a:prstGeom prst="rect">
            <a:avLst/>
          </a:prstGeom>
          <a:noFill/>
          <a:ln/>
        </p:spPr>
        <p:txBody>
          <a:bodyPr wrap="square" lIns="0" tIns="0" rIns="0" bIns="0" rtlCol="0" anchor="t"/>
          <a:lstStyle/>
          <a:p>
            <a:pPr algn="l" indent="0" marL="0">
              <a:buNone/>
            </a:pPr>
            <a:r>
              <a:rPr lang="en-US" sz="1200" dirty="0">
                <a:solidFill>
                  <a:schemeClr val="tx2"/>
                </a:solidFill>
              </a:rPr>
              <a:t>月(季節)を加えて大幅改善</a:t>
            </a:r>
            <a:endParaRPr lang="en-US" sz="1200" dirty="0"/>
          </a:p>
        </p:txBody>
      </p:sp>
      <p:sp>
        <p:nvSpPr>
          <p:cNvPr id="7" name="takeaway 2 value"/>
          <p:cNvSpPr txBox="1"/>
          <p:nvPr/>
        </p:nvSpPr>
        <p:spPr>
          <a:xfrm>
            <a:off x="6309360" y="2423160"/>
            <a:ext cx="2194560" cy="457200"/>
          </a:xfrm>
          <a:prstGeom prst="rect">
            <a:avLst/>
          </a:prstGeom>
          <a:noFill/>
          <a:ln/>
        </p:spPr>
        <p:txBody>
          <a:bodyPr wrap="square" lIns="0" tIns="0" rIns="0" bIns="0" rtlCol="0" anchor="ctr"/>
          <a:lstStyle/>
          <a:p>
            <a:pPr algn="l" indent="0" marL="0">
              <a:buNone/>
            </a:pPr>
            <a:r>
              <a:rPr lang="en-US" sz="2200" b="1" dirty="0">
                <a:solidFill>
                  <a:schemeClr val="tx1"/>
                </a:solidFill>
              </a:rPr>
              <a:t>+0.010</a:t>
            </a:r>
            <a:endParaRPr lang="en-US" sz="2200" dirty="0"/>
          </a:p>
        </p:txBody>
      </p:sp>
      <p:sp>
        <p:nvSpPr>
          <p:cNvPr id="8" name="takeaway 2 label"/>
          <p:cNvSpPr txBox="1"/>
          <p:nvPr/>
        </p:nvSpPr>
        <p:spPr>
          <a:xfrm>
            <a:off x="6309360" y="2880360"/>
            <a:ext cx="2194560" cy="502920"/>
          </a:xfrm>
          <a:prstGeom prst="rect">
            <a:avLst/>
          </a:prstGeom>
          <a:noFill/>
          <a:ln/>
        </p:spPr>
        <p:txBody>
          <a:bodyPr wrap="square" lIns="0" tIns="0" rIns="0" bIns="0" rtlCol="0" anchor="t"/>
          <a:lstStyle/>
          <a:p>
            <a:pPr algn="l" indent="0" marL="0">
              <a:buNone/>
            </a:pPr>
            <a:r>
              <a:rPr lang="en-US" sz="1200" dirty="0">
                <a:solidFill>
                  <a:schemeClr val="tx2"/>
                </a:solidFill>
              </a:rPr>
              <a:t>曜日の追加効果は小さい(0.894→0.904)</a:t>
            </a:r>
            <a:endParaRPr lang="en-US" sz="1200" dirty="0"/>
          </a:p>
        </p:txBody>
      </p:sp>
      <p:sp>
        <p:nvSpPr>
          <p:cNvPr id="9" name="takeaway 3 value"/>
          <p:cNvSpPr txBox="1"/>
          <p:nvPr/>
        </p:nvSpPr>
        <p:spPr>
          <a:xfrm>
            <a:off x="6309360" y="3520440"/>
            <a:ext cx="2194560" cy="457200"/>
          </a:xfrm>
          <a:prstGeom prst="rect">
            <a:avLst/>
          </a:prstGeom>
          <a:noFill/>
          <a:ln/>
        </p:spPr>
        <p:txBody>
          <a:bodyPr wrap="square" lIns="0" tIns="0" rIns="0" bIns="0" rtlCol="0" anchor="ctr"/>
          <a:lstStyle/>
          <a:p>
            <a:pPr algn="l" indent="0" marL="0">
              <a:buNone/>
            </a:pPr>
            <a:r>
              <a:rPr lang="en-US" sz="2200" b="1" dirty="0">
                <a:solidFill>
                  <a:schemeClr val="tx1"/>
                </a:solidFill>
              </a:rPr>
              <a:t>0.241→0.515</a:t>
            </a:r>
            <a:endParaRPr lang="en-US" sz="2200" dirty="0"/>
          </a:p>
        </p:txBody>
      </p:sp>
      <p:sp>
        <p:nvSpPr>
          <p:cNvPr id="10" name="takeaway 3 label"/>
          <p:cNvSpPr txBox="1"/>
          <p:nvPr/>
        </p:nvSpPr>
        <p:spPr>
          <a:xfrm>
            <a:off x="6309360" y="3977640"/>
            <a:ext cx="2194560" cy="548640"/>
          </a:xfrm>
          <a:prstGeom prst="rect">
            <a:avLst/>
          </a:prstGeom>
          <a:noFill/>
          <a:ln/>
        </p:spPr>
        <p:txBody>
          <a:bodyPr wrap="square" lIns="0" tIns="0" rIns="0" bIns="0" rtlCol="0" anchor="t"/>
          <a:lstStyle/>
          <a:p>
            <a:pPr algn="l" indent="0" marL="0">
              <a:buNone/>
            </a:pPr>
            <a:r>
              <a:rPr lang="en-US" sz="1200" dirty="0">
                <a:solidFill>
                  <a:schemeClr val="tx2"/>
                </a:solidFill>
              </a:rPr>
              <a:t>トレンド項で再現率が改善(AUCは不変)</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面で見ると精度が上がる</a:t>
            </a:r>
            <a:endParaRPr lang="en-US" sz="2800" dirty="0"/>
          </a:p>
        </p:txBody>
      </p:sp>
      <p:sp>
        <p:nvSpPr>
          <p:cNvPr id="3" name="trend card"/>
          <p:cNvSpPr/>
          <p:nvPr/>
        </p:nvSpPr>
        <p:spPr>
          <a:xfrm>
            <a:off x="457200" y="1188720"/>
            <a:ext cx="3840480" cy="3429000"/>
          </a:xfrm>
          <a:prstGeom prst="roundRect">
            <a:avLst>
              <a:gd name="adj" fmla="val 3200"/>
            </a:avLst>
          </a:prstGeom>
          <a:solidFill>
            <a:schemeClr val="bg2"/>
          </a:solidFill>
          <a:ln/>
        </p:spPr>
      </p:sp>
      <p:sp>
        <p:nvSpPr>
          <p:cNvPr id="4" name="trend title"/>
          <p:cNvSpPr txBox="1"/>
          <p:nvPr/>
        </p:nvSpPr>
        <p:spPr>
          <a:xfrm>
            <a:off x="640080" y="1325880"/>
            <a:ext cx="3474720" cy="365760"/>
          </a:xfrm>
          <a:prstGeom prst="rect">
            <a:avLst/>
          </a:prstGeom>
          <a:noFill/>
          <a:ln/>
        </p:spPr>
        <p:txBody>
          <a:bodyPr wrap="square" lIns="0" tIns="0" rIns="0" bIns="0" rtlCol="0" anchor="t"/>
          <a:lstStyle/>
          <a:p>
            <a:pPr algn="l" indent="0" marL="0">
              <a:buNone/>
            </a:pPr>
            <a:r>
              <a:rPr lang="en-US" sz="1600" b="1" dirty="0">
                <a:solidFill>
                  <a:schemeClr val="tx1"/>
                </a:solidFill>
              </a:rPr>
              <a:t>トレンド項は経過年数で十分</a:t>
            </a:r>
            <a:endParaRPr lang="en-US" sz="1600" dirty="0"/>
          </a:p>
        </p:txBody>
      </p:sp>
      <p:sp>
        <p:nvSpPr>
          <p:cNvPr id="5" name="trend value 1"/>
          <p:cNvSpPr txBox="1"/>
          <p:nvPr/>
        </p:nvSpPr>
        <p:spPr>
          <a:xfrm>
            <a:off x="640080" y="1828800"/>
            <a:ext cx="3474720" cy="457200"/>
          </a:xfrm>
          <a:prstGeom prst="rect">
            <a:avLst/>
          </a:prstGeom>
          <a:noFill/>
          <a:ln/>
        </p:spPr>
        <p:txBody>
          <a:bodyPr wrap="square" lIns="0" tIns="0" rIns="0" bIns="0" rtlCol="0" anchor="ctr"/>
          <a:lstStyle/>
          <a:p>
            <a:pPr algn="l" indent="0" marL="0">
              <a:buNone/>
            </a:pPr>
            <a:r>
              <a:rPr lang="en-US" sz="2400" b="1" dirty="0">
                <a:solidFill>
                  <a:schemeClr val="tx1"/>
                </a:solidFill>
              </a:rPr>
              <a:t>738→1,270万kW</a:t>
            </a:r>
            <a:endParaRPr lang="en-US" sz="2400" dirty="0"/>
          </a:p>
        </p:txBody>
      </p:sp>
      <p:sp>
        <p:nvSpPr>
          <p:cNvPr id="6" name="trend label 1"/>
          <p:cNvSpPr txBox="1"/>
          <p:nvPr/>
        </p:nvSpPr>
        <p:spPr>
          <a:xfrm>
            <a:off x="640080" y="2286000"/>
            <a:ext cx="3474720" cy="502920"/>
          </a:xfrm>
          <a:prstGeom prst="rect">
            <a:avLst/>
          </a:prstGeom>
          <a:noFill/>
          <a:ln/>
        </p:spPr>
        <p:txBody>
          <a:bodyPr wrap="square" lIns="0" tIns="0" rIns="0" bIns="0" rtlCol="0" anchor="t"/>
          <a:lstStyle/>
          <a:p>
            <a:pPr algn="l" indent="0" marL="0">
              <a:buNone/>
            </a:pPr>
            <a:r>
              <a:rPr lang="en-US" sz="1200" dirty="0">
                <a:solidFill>
                  <a:schemeClr val="tx2"/>
                </a:solidFill>
              </a:rPr>
              <a:t>九州7県の太陽光導入容量(2017年6月→2026年3月)</a:t>
            </a:r>
            <a:endParaRPr lang="en-US" sz="1200" dirty="0"/>
          </a:p>
        </p:txBody>
      </p:sp>
      <p:sp>
        <p:nvSpPr>
          <p:cNvPr id="7" name="trend value 2"/>
          <p:cNvSpPr txBox="1"/>
          <p:nvPr/>
        </p:nvSpPr>
        <p:spPr>
          <a:xfrm>
            <a:off x="640080" y="2926080"/>
            <a:ext cx="3474720" cy="457200"/>
          </a:xfrm>
          <a:prstGeom prst="rect">
            <a:avLst/>
          </a:prstGeom>
          <a:noFill/>
          <a:ln/>
        </p:spPr>
        <p:txBody>
          <a:bodyPr wrap="square" lIns="0" tIns="0" rIns="0" bIns="0" rtlCol="0" anchor="ctr"/>
          <a:lstStyle/>
          <a:p>
            <a:pPr algn="l" indent="0" marL="0">
              <a:buNone/>
            </a:pPr>
            <a:r>
              <a:rPr lang="en-US" sz="2400" b="1" dirty="0">
                <a:solidFill>
                  <a:schemeClr val="tx1"/>
                </a:solidFill>
              </a:rPr>
              <a:t>AUC 0.904→0.905</a:t>
            </a:r>
            <a:endParaRPr lang="en-US" sz="2400" dirty="0"/>
          </a:p>
        </p:txBody>
      </p:sp>
      <p:sp>
        <p:nvSpPr>
          <p:cNvPr id="8" name="trend label 2"/>
          <p:cNvSpPr txBox="1"/>
          <p:nvPr/>
        </p:nvSpPr>
        <p:spPr>
          <a:xfrm>
            <a:off x="640080" y="3383280"/>
            <a:ext cx="3474720" cy="1097280"/>
          </a:xfrm>
          <a:prstGeom prst="rect">
            <a:avLst/>
          </a:prstGeom>
          <a:noFill/>
          <a:ln/>
        </p:spPr>
        <p:txBody>
          <a:bodyPr wrap="square" lIns="0" tIns="0" rIns="0" bIns="0" rtlCol="0" anchor="t"/>
          <a:lstStyle/>
          <a:p>
            <a:pPr algn="l" indent="0" marL="0">
              <a:buNone/>
            </a:pPr>
            <a:r>
              <a:rPr lang="en-US" sz="1200" dirty="0">
                <a:solidFill>
                  <a:schemeClr val="tx2"/>
                </a:solidFill>
              </a:rPr>
              <a:t>実容量に置き換えても判別力はほぼ同じ。適合率0.774→0.841、再現率0.777→0.653</a:t>
            </a:r>
            <a:endParaRPr lang="en-US" sz="1200" dirty="0"/>
          </a:p>
        </p:txBody>
      </p:sp>
      <p:graphicFrame>
        <p:nvGraphicFramePr>
          <p:cNvPr id="9" name="Chart 0" descr=""/>
          <p:cNvGraphicFramePr/>
          <p:nvPr/>
        </p:nvGraphicFramePr>
        <p:xfrm>
          <a:off x="4572000" y="1188720"/>
          <a:ext cx="4114800" cy="3429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発電量では全天日射量が強い</a:t>
            </a:r>
            <a:endParaRPr lang="en-US" sz="2800" dirty="0"/>
          </a:p>
        </p:txBody>
      </p:sp>
      <p:graphicFrame>
        <p:nvGraphicFramePr>
          <p:cNvPr id="3" name="Chart 0" descr=""/>
          <p:cNvGraphicFramePr/>
          <p:nvPr/>
        </p:nvGraphicFramePr>
        <p:xfrm>
          <a:off x="457200" y="1188720"/>
          <a:ext cx="5029200" cy="3429000"/>
        </p:xfrm>
        <a:graphic xmlns:a="http://schemas.openxmlformats.org/drawingml/2006/main">
          <a:graphicData uri="http://schemas.openxmlformats.org/drawingml/2006/chart">
            <c:chart xmlns:c="http://schemas.openxmlformats.org/drawingml/2006/chart" r:id="rId1"/>
          </a:graphicData>
        </a:graphic>
      </p:graphicFrame>
      <p:sp>
        <p:nvSpPr>
          <p:cNvPr id="4" name="cap card"/>
          <p:cNvSpPr/>
          <p:nvPr/>
        </p:nvSpPr>
        <p:spPr>
          <a:xfrm>
            <a:off x="5760720" y="1188720"/>
            <a:ext cx="2926080" cy="1600200"/>
          </a:xfrm>
          <a:prstGeom prst="roundRect">
            <a:avLst>
              <a:gd name="adj" fmla="val 6857"/>
            </a:avLst>
          </a:prstGeom>
          <a:solidFill>
            <a:schemeClr val="bg2"/>
          </a:solidFill>
          <a:ln/>
        </p:spPr>
      </p:sp>
      <p:sp>
        <p:nvSpPr>
          <p:cNvPr id="5" name="cap value"/>
          <p:cNvSpPr txBox="1"/>
          <p:nvPr/>
        </p:nvSpPr>
        <p:spPr>
          <a:xfrm>
            <a:off x="5943600" y="1298448"/>
            <a:ext cx="2606040" cy="457200"/>
          </a:xfrm>
          <a:prstGeom prst="rect">
            <a:avLst/>
          </a:prstGeom>
          <a:noFill/>
          <a:ln/>
        </p:spPr>
        <p:txBody>
          <a:bodyPr wrap="square" lIns="0" tIns="0" rIns="0" bIns="0" rtlCol="0" anchor="ctr"/>
          <a:lstStyle/>
          <a:p>
            <a:pPr algn="l" indent="0" marL="0">
              <a:buNone/>
            </a:pPr>
            <a:r>
              <a:rPr lang="en-US" sz="2400" b="1" dirty="0">
                <a:solidFill>
                  <a:schemeClr val="accent3"/>
                </a:solidFill>
              </a:rPr>
              <a:t>−1,754MWh</a:t>
            </a:r>
            <a:endParaRPr lang="en-US" sz="2400" dirty="0"/>
          </a:p>
        </p:txBody>
      </p:sp>
      <p:sp>
        <p:nvSpPr>
          <p:cNvPr id="6" name="cap label"/>
          <p:cNvSpPr txBox="1"/>
          <p:nvPr/>
        </p:nvSpPr>
        <p:spPr>
          <a:xfrm>
            <a:off x="5943600" y="1783080"/>
            <a:ext cx="2606040" cy="914400"/>
          </a:xfrm>
          <a:prstGeom prst="rect">
            <a:avLst/>
          </a:prstGeom>
          <a:noFill/>
          <a:ln/>
        </p:spPr>
        <p:txBody>
          <a:bodyPr wrap="square" lIns="0" tIns="0" rIns="0" bIns="0" rtlCol="0" anchor="t"/>
          <a:lstStyle/>
          <a:p>
            <a:pPr algn="l" indent="0" marL="0">
              <a:buNone/>
            </a:pPr>
            <a:r>
              <a:rPr lang="en-US" sz="1200" dirty="0">
                <a:solidFill>
                  <a:schemeClr val="tx2"/>
                </a:solidFill>
              </a:rPr>
              <a:t>制御日が非制御日の回帰直線(R²=0.77)を下回る平均</a:t>
            </a:r>
            <a:endParaRPr lang="en-US" sz="1200" dirty="0"/>
          </a:p>
        </p:txBody>
      </p:sp>
      <p:sp>
        <p:nvSpPr>
          <p:cNvPr id="7" name="compare card"/>
          <p:cNvSpPr/>
          <p:nvPr/>
        </p:nvSpPr>
        <p:spPr>
          <a:xfrm>
            <a:off x="5760720" y="2971800"/>
            <a:ext cx="2926080" cy="1645920"/>
          </a:xfrm>
          <a:prstGeom prst="roundRect">
            <a:avLst>
              <a:gd name="adj" fmla="val 6667"/>
            </a:avLst>
          </a:prstGeom>
          <a:solidFill>
            <a:schemeClr val="bg2"/>
          </a:solidFill>
          <a:ln/>
        </p:spPr>
      </p:sp>
      <p:sp>
        <p:nvSpPr>
          <p:cNvPr id="8" name="compare value"/>
          <p:cNvSpPr txBox="1"/>
          <p:nvPr/>
        </p:nvSpPr>
        <p:spPr>
          <a:xfrm>
            <a:off x="5943600" y="3081528"/>
            <a:ext cx="2606040" cy="457200"/>
          </a:xfrm>
          <a:prstGeom prst="rect">
            <a:avLst/>
          </a:prstGeom>
          <a:noFill/>
          <a:ln/>
        </p:spPr>
        <p:txBody>
          <a:bodyPr wrap="square" lIns="0" tIns="0" rIns="0" bIns="0" rtlCol="0" anchor="ctr"/>
          <a:lstStyle/>
          <a:p>
            <a:pPr algn="l" indent="0" marL="0">
              <a:buNone/>
            </a:pPr>
            <a:r>
              <a:rPr lang="en-US" sz="2000" b="1" dirty="0">
                <a:solidFill>
                  <a:schemeClr val="tx1"/>
                </a:solidFill>
              </a:rPr>
              <a:t>46,614 vs 49,307</a:t>
            </a:r>
            <a:endParaRPr lang="en-US" sz="2000" dirty="0"/>
          </a:p>
        </p:txBody>
      </p:sp>
      <p:sp>
        <p:nvSpPr>
          <p:cNvPr id="9" name="compare label"/>
          <p:cNvSpPr txBox="1"/>
          <p:nvPr/>
        </p:nvSpPr>
        <p:spPr>
          <a:xfrm>
            <a:off x="5943600" y="3566160"/>
            <a:ext cx="2606040" cy="1005840"/>
          </a:xfrm>
          <a:prstGeom prst="rect">
            <a:avLst/>
          </a:prstGeom>
          <a:noFill/>
          <a:ln/>
        </p:spPr>
        <p:txBody>
          <a:bodyPr wrap="square" lIns="0" tIns="0" rIns="0" bIns="0" rtlCol="0" anchor="t"/>
          <a:lstStyle/>
          <a:p>
            <a:pPr algn="l" indent="0" marL="0">
              <a:buNone/>
            </a:pPr>
            <a:r>
              <a:rPr lang="en-US" sz="1200" dirty="0">
                <a:solidFill>
                  <a:schemeClr val="tx2"/>
                </a:solidFill>
              </a:rPr>
              <a:t>2023年以降の快晴・晴れ日の平均(MWh)。全期間比較は導入増で逆転するので期間を揃える</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日射が小さい日の制御は風力と需要</a:t>
            </a:r>
            <a:endParaRPr lang="en-US" sz="2800" dirty="0"/>
          </a:p>
        </p:txBody>
      </p:sp>
      <p:sp>
        <p:nvSpPr>
          <p:cNvPr id="3" name="rate card"/>
          <p:cNvSpPr/>
          <p:nvPr/>
        </p:nvSpPr>
        <p:spPr>
          <a:xfrm>
            <a:off x="457200" y="1188720"/>
            <a:ext cx="4023360" cy="2240280"/>
          </a:xfrm>
          <a:prstGeom prst="roundRect">
            <a:avLst>
              <a:gd name="adj" fmla="val 4898"/>
            </a:avLst>
          </a:prstGeom>
          <a:solidFill>
            <a:schemeClr val="bg2"/>
          </a:solidFill>
          <a:ln/>
        </p:spPr>
      </p:sp>
      <p:sp>
        <p:nvSpPr>
          <p:cNvPr id="4" name="rate title"/>
          <p:cNvSpPr txBox="1"/>
          <p:nvPr/>
        </p:nvSpPr>
        <p:spPr>
          <a:xfrm>
            <a:off x="640080" y="1325880"/>
            <a:ext cx="3657600" cy="320040"/>
          </a:xfrm>
          <a:prstGeom prst="rect">
            <a:avLst/>
          </a:prstGeom>
          <a:noFill/>
          <a:ln/>
        </p:spPr>
        <p:txBody>
          <a:bodyPr wrap="square" lIns="0" tIns="0" rIns="0" bIns="0" rtlCol="0" anchor="t"/>
          <a:lstStyle/>
          <a:p>
            <a:pPr algn="l" indent="0" marL="0">
              <a:buNone/>
            </a:pPr>
            <a:r>
              <a:rPr lang="en-US" sz="1400" b="1" dirty="0">
                <a:solidFill>
                  <a:schemeClr val="tx1"/>
                </a:solidFill>
              </a:rPr>
              <a:t>日射量の10分位別 制御率</a:t>
            </a:r>
            <a:endParaRPr lang="en-US" sz="1400" dirty="0"/>
          </a:p>
        </p:txBody>
      </p:sp>
      <p:sp>
        <p:nvSpPr>
          <p:cNvPr id="5" name="rate low"/>
          <p:cNvSpPr txBox="1"/>
          <p:nvPr/>
        </p:nvSpPr>
        <p:spPr>
          <a:xfrm>
            <a:off x="640080" y="1783080"/>
            <a:ext cx="1325880" cy="548640"/>
          </a:xfrm>
          <a:prstGeom prst="rect">
            <a:avLst/>
          </a:prstGeom>
          <a:noFill/>
          <a:ln/>
        </p:spPr>
        <p:txBody>
          <a:bodyPr wrap="square" lIns="0" tIns="0" rIns="0" bIns="0" rtlCol="0" anchor="ctr"/>
          <a:lstStyle/>
          <a:p>
            <a:pPr algn="l" indent="0" marL="0">
              <a:buNone/>
            </a:pPr>
            <a:r>
              <a:rPr lang="en-US" sz="2600" b="1" dirty="0">
                <a:solidFill>
                  <a:schemeClr val="accent5"/>
                </a:solidFill>
              </a:rPr>
              <a:t>2〜4%</a:t>
            </a:r>
            <a:endParaRPr lang="en-US" sz="2600" dirty="0"/>
          </a:p>
        </p:txBody>
      </p:sp>
      <p:sp>
        <p:nvSpPr>
          <p:cNvPr id="6" name="rate arrow"/>
          <p:cNvSpPr txBox="1"/>
          <p:nvPr/>
        </p:nvSpPr>
        <p:spPr>
          <a:xfrm>
            <a:off x="1965960" y="1783080"/>
            <a:ext cx="320040" cy="548640"/>
          </a:xfrm>
          <a:prstGeom prst="rect">
            <a:avLst/>
          </a:prstGeom>
          <a:noFill/>
          <a:ln/>
        </p:spPr>
        <p:txBody>
          <a:bodyPr wrap="square" lIns="0" tIns="0" rIns="0" bIns="0" rtlCol="0" anchor="ctr"/>
          <a:lstStyle/>
          <a:p>
            <a:pPr algn="ctr" indent="0" marL="0">
              <a:buNone/>
            </a:pPr>
            <a:r>
              <a:rPr lang="en-US" sz="2200" dirty="0">
                <a:solidFill>
                  <a:schemeClr val="tx2"/>
                </a:solidFill>
              </a:rPr>
              <a:t>→</a:t>
            </a:r>
            <a:endParaRPr lang="en-US" sz="2200" dirty="0"/>
          </a:p>
        </p:txBody>
      </p:sp>
      <p:sp>
        <p:nvSpPr>
          <p:cNvPr id="7" name="rate high"/>
          <p:cNvSpPr txBox="1"/>
          <p:nvPr/>
        </p:nvSpPr>
        <p:spPr>
          <a:xfrm>
            <a:off x="2331720" y="1783080"/>
            <a:ext cx="2011680" cy="548640"/>
          </a:xfrm>
          <a:prstGeom prst="rect">
            <a:avLst/>
          </a:prstGeom>
          <a:noFill/>
          <a:ln/>
        </p:spPr>
        <p:txBody>
          <a:bodyPr wrap="square" lIns="0" tIns="0" rIns="0" bIns="0" rtlCol="0" anchor="ctr"/>
          <a:lstStyle/>
          <a:p>
            <a:pPr algn="l" indent="0" marL="0">
              <a:buNone/>
            </a:pPr>
            <a:r>
              <a:rPr lang="en-US" sz="2600" b="1" dirty="0">
                <a:solidFill>
                  <a:schemeClr val="accent3"/>
                </a:solidFill>
              </a:rPr>
              <a:t>44〜52%</a:t>
            </a:r>
            <a:endParaRPr lang="en-US" sz="2600" dirty="0"/>
          </a:p>
        </p:txBody>
      </p:sp>
      <p:sp>
        <p:nvSpPr>
          <p:cNvPr id="8" name="rate label"/>
          <p:cNvSpPr txBox="1"/>
          <p:nvPr/>
        </p:nvSpPr>
        <p:spPr>
          <a:xfrm>
            <a:off x="640080" y="2514600"/>
            <a:ext cx="3657600" cy="822960"/>
          </a:xfrm>
          <a:prstGeom prst="rect">
            <a:avLst/>
          </a:prstGeom>
          <a:noFill/>
          <a:ln/>
        </p:spPr>
        <p:txBody>
          <a:bodyPr wrap="square" lIns="0" tIns="0" rIns="0" bIns="0" rtlCol="0" anchor="t"/>
          <a:lstStyle/>
          <a:p>
            <a:pPr algn="l" indent="0" marL="0">
              <a:buNone/>
            </a:pPr>
            <a:r>
              <a:rPr lang="en-US" sz="1200" dirty="0">
                <a:solidFill>
                  <a:schemeClr val="tx2"/>
                </a:solidFill>
              </a:rPr>
              <a:t>下位20%(274日中8日)から上位まで、制御率はほぼ単調に増える</a:t>
            </a:r>
            <a:endParaRPr lang="en-US" sz="1200" dirty="0"/>
          </a:p>
        </p:txBody>
      </p:sp>
      <p:sp>
        <p:nvSpPr>
          <p:cNvPr id="9" name="factor card 1"/>
          <p:cNvSpPr/>
          <p:nvPr/>
        </p:nvSpPr>
        <p:spPr>
          <a:xfrm>
            <a:off x="4754880" y="1188720"/>
            <a:ext cx="3931920" cy="1005840"/>
          </a:xfrm>
          <a:prstGeom prst="roundRect">
            <a:avLst>
              <a:gd name="adj" fmla="val 10909"/>
            </a:avLst>
          </a:prstGeom>
          <a:solidFill>
            <a:schemeClr val="bg2"/>
          </a:solidFill>
          <a:ln/>
        </p:spPr>
      </p:sp>
      <p:sp>
        <p:nvSpPr>
          <p:cNvPr id="10" name="factor icon 1 circle"/>
          <p:cNvSpPr/>
          <p:nvPr/>
        </p:nvSpPr>
        <p:spPr>
          <a:xfrm>
            <a:off x="4937760" y="1417320"/>
            <a:ext cx="548640" cy="548640"/>
          </a:xfrm>
          <a:prstGeom prst="ellipse">
            <a:avLst/>
          </a:prstGeom>
          <a:solidFill>
            <a:schemeClr val="accent2"/>
          </a:solidFill>
          <a:ln/>
        </p:spPr>
      </p:sp>
      <p:pic>
        <p:nvPicPr>
          <p:cNvPr id="11" name="factor icon 1" descr="factor icon 1">    </p:cNvPr>
          <p:cNvPicPr>
            <a:picLocks noChangeAspect="1"/>
          </p:cNvPicPr>
          <p:nvPr/>
        </p:nvPicPr>
        <p:blipFill>
          <a:blip r:embed="rId1"/>
          <a:stretch>
            <a:fillRect/>
          </a:stretch>
        </p:blipFill>
        <p:spPr>
          <a:xfrm>
            <a:off x="5074920" y="1554480"/>
            <a:ext cx="274320" cy="274320"/>
          </a:xfrm>
          <a:prstGeom prst="rect">
            <a:avLst/>
          </a:prstGeom>
        </p:spPr>
      </p:pic>
      <p:sp>
        <p:nvSpPr>
          <p:cNvPr id="12" name="factor label 1"/>
          <p:cNvSpPr txBox="1"/>
          <p:nvPr/>
        </p:nvSpPr>
        <p:spPr>
          <a:xfrm>
            <a:off x="5669280" y="1325880"/>
            <a:ext cx="2834640" cy="320040"/>
          </a:xfrm>
          <a:prstGeom prst="rect">
            <a:avLst/>
          </a:prstGeom>
          <a:noFill/>
          <a:ln/>
        </p:spPr>
        <p:txBody>
          <a:bodyPr wrap="square" lIns="0" tIns="0" rIns="0" bIns="0" rtlCol="0" anchor="t"/>
          <a:lstStyle/>
          <a:p>
            <a:pPr algn="l" indent="0" marL="0">
              <a:buNone/>
            </a:pPr>
            <a:r>
              <a:rPr lang="en-US" sz="1400" dirty="0">
                <a:solidFill>
                  <a:schemeClr val="tx2"/>
                </a:solidFill>
              </a:rPr>
              <a:t>風力発電量</a:t>
            </a:r>
            <a:endParaRPr lang="en-US" sz="1400" dirty="0"/>
          </a:p>
        </p:txBody>
      </p:sp>
      <p:sp>
        <p:nvSpPr>
          <p:cNvPr id="13" name="factor value 1"/>
          <p:cNvSpPr txBox="1"/>
          <p:nvPr/>
        </p:nvSpPr>
        <p:spPr>
          <a:xfrm>
            <a:off x="5669280" y="1645920"/>
            <a:ext cx="2834640" cy="411480"/>
          </a:xfrm>
          <a:prstGeom prst="rect">
            <a:avLst/>
          </a:prstGeom>
          <a:noFill/>
          <a:ln/>
        </p:spPr>
        <p:txBody>
          <a:bodyPr wrap="square" lIns="0" tIns="0" rIns="0" bIns="0" rtlCol="0" anchor="ctr"/>
          <a:lstStyle/>
          <a:p>
            <a:pPr algn="l" indent="0" marL="0">
              <a:buNone/>
            </a:pPr>
            <a:r>
              <a:rPr lang="en-US" sz="2400" b="1" dirty="0">
                <a:solidFill>
                  <a:schemeClr val="tx1"/>
                </a:solidFill>
              </a:rPr>
              <a:t>d = 0.63</a:t>
            </a:r>
            <a:endParaRPr lang="en-US" sz="2400" dirty="0"/>
          </a:p>
        </p:txBody>
      </p:sp>
      <p:sp>
        <p:nvSpPr>
          <p:cNvPr id="14" name="factor card 2"/>
          <p:cNvSpPr/>
          <p:nvPr/>
        </p:nvSpPr>
        <p:spPr>
          <a:xfrm>
            <a:off x="4754880" y="2331720"/>
            <a:ext cx="3931920" cy="1005840"/>
          </a:xfrm>
          <a:prstGeom prst="roundRect">
            <a:avLst>
              <a:gd name="adj" fmla="val 10909"/>
            </a:avLst>
          </a:prstGeom>
          <a:solidFill>
            <a:schemeClr val="bg2"/>
          </a:solidFill>
          <a:ln/>
        </p:spPr>
      </p:sp>
      <p:sp>
        <p:nvSpPr>
          <p:cNvPr id="15" name="factor icon 2 circle"/>
          <p:cNvSpPr/>
          <p:nvPr/>
        </p:nvSpPr>
        <p:spPr>
          <a:xfrm>
            <a:off x="4937760" y="2560320"/>
            <a:ext cx="548640" cy="548640"/>
          </a:xfrm>
          <a:prstGeom prst="ellipse">
            <a:avLst/>
          </a:prstGeom>
          <a:solidFill>
            <a:schemeClr val="accent1"/>
          </a:solidFill>
          <a:ln/>
        </p:spPr>
      </p:sp>
      <p:pic>
        <p:nvPicPr>
          <p:cNvPr id="16" name="factor icon 2" descr="factor icon 2">    </p:cNvPr>
          <p:cNvPicPr>
            <a:picLocks noChangeAspect="1"/>
          </p:cNvPicPr>
          <p:nvPr/>
        </p:nvPicPr>
        <p:blipFill>
          <a:blip r:embed="rId2"/>
          <a:stretch>
            <a:fillRect/>
          </a:stretch>
        </p:blipFill>
        <p:spPr>
          <a:xfrm>
            <a:off x="5074920" y="2697480"/>
            <a:ext cx="274320" cy="274320"/>
          </a:xfrm>
          <a:prstGeom prst="rect">
            <a:avLst/>
          </a:prstGeom>
        </p:spPr>
      </p:pic>
      <p:sp>
        <p:nvSpPr>
          <p:cNvPr id="17" name="factor label 2"/>
          <p:cNvSpPr txBox="1"/>
          <p:nvPr/>
        </p:nvSpPr>
        <p:spPr>
          <a:xfrm>
            <a:off x="5669280" y="2468880"/>
            <a:ext cx="2834640" cy="320040"/>
          </a:xfrm>
          <a:prstGeom prst="rect">
            <a:avLst/>
          </a:prstGeom>
          <a:noFill/>
          <a:ln/>
        </p:spPr>
        <p:txBody>
          <a:bodyPr wrap="square" lIns="0" tIns="0" rIns="0" bIns="0" rtlCol="0" anchor="t"/>
          <a:lstStyle/>
          <a:p>
            <a:pPr algn="l" indent="0" marL="0">
              <a:buNone/>
            </a:pPr>
            <a:r>
              <a:rPr lang="en-US" sz="1400" dirty="0">
                <a:solidFill>
                  <a:schemeClr val="tx2"/>
                </a:solidFill>
              </a:rPr>
              <a:t>電力需要</a:t>
            </a:r>
            <a:endParaRPr lang="en-US" sz="1400" dirty="0"/>
          </a:p>
        </p:txBody>
      </p:sp>
      <p:sp>
        <p:nvSpPr>
          <p:cNvPr id="18" name="factor value 2"/>
          <p:cNvSpPr txBox="1"/>
          <p:nvPr/>
        </p:nvSpPr>
        <p:spPr>
          <a:xfrm>
            <a:off x="5669280" y="2788920"/>
            <a:ext cx="2834640" cy="411480"/>
          </a:xfrm>
          <a:prstGeom prst="rect">
            <a:avLst/>
          </a:prstGeom>
          <a:noFill/>
          <a:ln/>
        </p:spPr>
        <p:txBody>
          <a:bodyPr wrap="square" lIns="0" tIns="0" rIns="0" bIns="0" rtlCol="0" anchor="ctr"/>
          <a:lstStyle/>
          <a:p>
            <a:pPr algn="l" indent="0" marL="0">
              <a:buNone/>
            </a:pPr>
            <a:r>
              <a:rPr lang="en-US" sz="2400" b="1" dirty="0">
                <a:solidFill>
                  <a:schemeClr val="tx1"/>
                </a:solidFill>
              </a:rPr>
              <a:t>d = −0.40</a:t>
            </a:r>
            <a:endParaRPr lang="en-US" sz="2400" dirty="0"/>
          </a:p>
        </p:txBody>
      </p:sp>
      <p:sp>
        <p:nvSpPr>
          <p:cNvPr id="19" name="factor note"/>
          <p:cNvSpPr txBox="1"/>
          <p:nvPr/>
        </p:nvSpPr>
        <p:spPr>
          <a:xfrm>
            <a:off x="4754880" y="3429000"/>
            <a:ext cx="3931920" cy="274320"/>
          </a:xfrm>
          <a:prstGeom prst="rect">
            <a:avLst/>
          </a:prstGeom>
          <a:noFill/>
          <a:ln/>
        </p:spPr>
        <p:txBody>
          <a:bodyPr wrap="square" lIns="0" tIns="0" rIns="0" bIns="0" rtlCol="0" anchor="t"/>
          <a:lstStyle/>
          <a:p>
            <a:pPr algn="l" indent="0" marL="0">
              <a:buNone/>
            </a:pPr>
            <a:r>
              <a:rPr lang="en-US" sz="1200" dirty="0">
                <a:solidFill>
                  <a:schemeClr val="accent5"/>
                </a:solidFill>
              </a:rPr>
              <a:t>低日射量帯(下位20%)での効果量。いずれも中程度</a:t>
            </a:r>
            <a:endParaRPr lang="en-US" sz="1200" dirty="0"/>
          </a:p>
        </p:txBody>
      </p:sp>
      <p:sp>
        <p:nvSpPr>
          <p:cNvPr id="20" name="unexplained card"/>
          <p:cNvSpPr/>
          <p:nvPr/>
        </p:nvSpPr>
        <p:spPr>
          <a:xfrm>
            <a:off x="457200" y="3657600"/>
            <a:ext cx="8229600" cy="960120"/>
          </a:xfrm>
          <a:prstGeom prst="roundRect">
            <a:avLst>
              <a:gd name="adj" fmla="val 11429"/>
            </a:avLst>
          </a:prstGeom>
          <a:solidFill>
            <a:schemeClr val="tx1"/>
          </a:solidFill>
          <a:ln/>
        </p:spPr>
      </p:sp>
      <p:sp>
        <p:nvSpPr>
          <p:cNvPr id="21" name="unexplained text"/>
          <p:cNvSpPr txBox="1"/>
          <p:nvPr/>
        </p:nvSpPr>
        <p:spPr>
          <a:xfrm>
            <a:off x="731520" y="3703320"/>
            <a:ext cx="7680960" cy="868680"/>
          </a:xfrm>
          <a:prstGeom prst="rect">
            <a:avLst/>
          </a:prstGeom>
          <a:noFill/>
          <a:ln/>
        </p:spPr>
        <p:txBody>
          <a:bodyPr wrap="square" lIns="0" tIns="0" rIns="0" bIns="0" rtlCol="0" anchor="ctr"/>
          <a:lstStyle/>
          <a:p>
            <a:pPr algn="l" indent="0" marL="0">
              <a:buNone/>
            </a:pPr>
            <a:r>
              <a:rPr lang="en-US" sz="1400" b="1" dirty="0">
                <a:solidFill>
                  <a:schemeClr val="accent1"/>
                </a:solidFill>
              </a:rPr>
              <a:t>8日中6〜7日は風力か需要で説明できる。</a:t>
            </a:r>
            <a:endParaRPr lang="en-US" sz="1400" dirty="0"/>
          </a:p>
          <a:p>
            <a:pPr algn="l" indent="0" marL="0">
              <a:buNone/>
            </a:pPr>
            <a:r>
              <a:rPr lang="en-US" sz="1400" dirty="0">
                <a:solidFill>
                  <a:schemeClr val="bg1"/>
                </a:solidFill>
              </a:rPr>
              <a:t>2025-02-14(需要は高く風力は平均以下)は未解明で、決定的な単独要因はない。</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予報の使い分け:快晴日に注意</a:t>
            </a:r>
            <a:endParaRPr lang="en-US" sz="2800" dirty="0"/>
          </a:p>
        </p:txBody>
      </p:sp>
      <p:graphicFrame>
        <p:nvGraphicFramePr>
          <p:cNvPr id="3" name="Chart 0" descr=""/>
          <p:cNvGraphicFramePr/>
          <p:nvPr/>
        </p:nvGraphicFramePr>
        <p:xfrm>
          <a:off x="457200" y="1188720"/>
          <a:ext cx="4023360" cy="2697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188720"/>
          <a:ext cx="4023360" cy="2697480"/>
        </p:xfrm>
        <a:graphic xmlns:a="http://schemas.openxmlformats.org/drawingml/2006/main">
          <a:graphicData uri="http://schemas.openxmlformats.org/drawingml/2006/chart">
            <c:chart xmlns:c="http://schemas.openxmlformats.org/drawingml/2006/chart" r:id="rId2"/>
          </a:graphicData>
        </a:graphic>
      </p:graphicFrame>
      <p:sp>
        <p:nvSpPr>
          <p:cNvPr id="5" name="forecast conclusion"/>
          <p:cNvSpPr/>
          <p:nvPr/>
        </p:nvSpPr>
        <p:spPr>
          <a:xfrm>
            <a:off x="457200" y="4023360"/>
            <a:ext cx="8229600" cy="640080"/>
          </a:xfrm>
          <a:prstGeom prst="roundRect">
            <a:avLst>
              <a:gd name="adj" fmla="val 17143"/>
            </a:avLst>
          </a:prstGeom>
          <a:solidFill>
            <a:schemeClr val="tx1"/>
          </a:solidFill>
          <a:ln/>
        </p:spPr>
      </p:sp>
      <p:sp>
        <p:nvSpPr>
          <p:cNvPr id="6" name="forecast conclusion text"/>
          <p:cNvSpPr txBox="1"/>
          <p:nvPr/>
        </p:nvSpPr>
        <p:spPr>
          <a:xfrm>
            <a:off x="731520" y="4023360"/>
            <a:ext cx="7680960" cy="640080"/>
          </a:xfrm>
          <a:prstGeom prst="rect">
            <a:avLst/>
          </a:prstGeom>
          <a:noFill/>
          <a:ln/>
        </p:spPr>
        <p:txBody>
          <a:bodyPr wrap="square" lIns="0" tIns="0" rIns="0" bIns="0" rtlCol="0" anchor="ctr"/>
          <a:lstStyle/>
          <a:p>
            <a:pPr algn="l" indent="0" marL="0">
              <a:buNone/>
            </a:pPr>
            <a:r>
              <a:rPr lang="en-US" sz="1600" b="1" dirty="0">
                <a:solidFill>
                  <a:schemeClr val="accent1"/>
                </a:solidFill>
              </a:rPr>
              <a:t>結論:</a:t>
            </a:r>
            <a:pPr algn="l" indent="0" marL="0">
              <a:buNone/>
            </a:pPr>
            <a:r>
              <a:rPr lang="en-US" sz="1600" dirty="0">
                <a:solidFill>
                  <a:schemeClr val="bg1"/>
                </a:solidFill>
              </a:rPr>
              <a:t>どちらの手法も系統誤差を持ち、優劣はつけられない。</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Claudeが確率と背景を平文で説明</a:t>
            </a:r>
            <a:endParaRPr lang="en-US" sz="2800" dirty="0"/>
          </a:p>
        </p:txBody>
      </p:sp>
      <p:sp>
        <p:nvSpPr>
          <p:cNvPr id="3" name="flow card 1"/>
          <p:cNvSpPr/>
          <p:nvPr/>
        </p:nvSpPr>
        <p:spPr>
          <a:xfrm>
            <a:off x="457200" y="1188720"/>
            <a:ext cx="1920240" cy="1508760"/>
          </a:xfrm>
          <a:prstGeom prst="roundRect">
            <a:avLst>
              <a:gd name="adj" fmla="val 7273"/>
            </a:avLst>
          </a:prstGeom>
          <a:solidFill>
            <a:schemeClr val="bg2"/>
          </a:solidFill>
          <a:ln/>
        </p:spPr>
      </p:sp>
      <p:sp>
        <p:nvSpPr>
          <p:cNvPr id="4" name="flow icon 1 circle"/>
          <p:cNvSpPr/>
          <p:nvPr/>
        </p:nvSpPr>
        <p:spPr>
          <a:xfrm>
            <a:off x="594360" y="1325880"/>
            <a:ext cx="411480" cy="411480"/>
          </a:xfrm>
          <a:prstGeom prst="ellipse">
            <a:avLst/>
          </a:prstGeom>
          <a:solidFill>
            <a:schemeClr val="accent1"/>
          </a:solidFill>
          <a:ln/>
        </p:spPr>
      </p:sp>
      <p:pic>
        <p:nvPicPr>
          <p:cNvPr id="5" name="flow icon 1" descr="flow icon 1">    </p:cNvPr>
          <p:cNvPicPr>
            <a:picLocks noChangeAspect="1"/>
          </p:cNvPicPr>
          <p:nvPr/>
        </p:nvPicPr>
        <p:blipFill>
          <a:blip r:embed="rId1"/>
          <a:stretch>
            <a:fillRect/>
          </a:stretch>
        </p:blipFill>
        <p:spPr>
          <a:xfrm>
            <a:off x="697230" y="1428750"/>
            <a:ext cx="205740" cy="205740"/>
          </a:xfrm>
          <a:prstGeom prst="rect">
            <a:avLst/>
          </a:prstGeom>
        </p:spPr>
      </p:pic>
      <p:sp>
        <p:nvSpPr>
          <p:cNvPr id="6" name="flow title 1"/>
          <p:cNvSpPr txBox="1"/>
          <p:nvPr/>
        </p:nvSpPr>
        <p:spPr>
          <a:xfrm>
            <a:off x="1097280" y="1325880"/>
            <a:ext cx="1234440" cy="411480"/>
          </a:xfrm>
          <a:prstGeom prst="rect">
            <a:avLst/>
          </a:prstGeom>
          <a:noFill/>
          <a:ln/>
        </p:spPr>
        <p:txBody>
          <a:bodyPr wrap="square" lIns="0" tIns="0" rIns="0" bIns="0" rtlCol="0" anchor="ctr"/>
          <a:lstStyle/>
          <a:p>
            <a:pPr algn="l" indent="0" marL="0">
              <a:buNone/>
            </a:pPr>
            <a:r>
              <a:rPr lang="en-US" sz="1400" b="1" dirty="0">
                <a:solidFill>
                  <a:schemeClr val="tx1"/>
                </a:solidFill>
              </a:rPr>
              <a:t>日照予報</a:t>
            </a:r>
            <a:endParaRPr lang="en-US" sz="1400" dirty="0"/>
          </a:p>
        </p:txBody>
      </p:sp>
      <p:sp>
        <p:nvSpPr>
          <p:cNvPr id="7" name="flow body 1"/>
          <p:cNvSpPr txBox="1"/>
          <p:nvPr/>
        </p:nvSpPr>
        <p:spPr>
          <a:xfrm>
            <a:off x="640080" y="1874520"/>
            <a:ext cx="1645920" cy="777240"/>
          </a:xfrm>
          <a:prstGeom prst="rect">
            <a:avLst/>
          </a:prstGeom>
          <a:noFill/>
          <a:ln/>
        </p:spPr>
        <p:txBody>
          <a:bodyPr wrap="square" lIns="0" tIns="0" rIns="0" bIns="0" rtlCol="0" anchor="t"/>
          <a:lstStyle/>
          <a:p>
            <a:pPr algn="l" indent="0" marL="0">
              <a:buNone/>
            </a:pPr>
            <a:r>
              <a:rPr lang="en-US" sz="1200" dirty="0">
                <a:solidFill>
                  <a:schemeClr val="tx2"/>
                </a:solidFill>
              </a:rPr>
              <a:t>AMGSDSの九州面平均</a:t>
            </a:r>
            <a:endParaRPr lang="en-US" sz="1200" dirty="0"/>
          </a:p>
          <a:p>
            <a:pPr algn="l" indent="0" marL="0">
              <a:buNone/>
            </a:pPr>
            <a:r>
              <a:rPr lang="en-US" sz="1200" dirty="0">
                <a:solidFill>
                  <a:schemeClr val="tx2"/>
                </a:solidFill>
              </a:rPr>
              <a:t>5.91h</a:t>
            </a:r>
            <a:endParaRPr lang="en-US" sz="1200" dirty="0"/>
          </a:p>
        </p:txBody>
      </p:sp>
      <p:sp>
        <p:nvSpPr>
          <p:cNvPr id="8" name="flow card 2"/>
          <p:cNvSpPr/>
          <p:nvPr/>
        </p:nvSpPr>
        <p:spPr>
          <a:xfrm>
            <a:off x="2560320" y="1188720"/>
            <a:ext cx="1920240" cy="1508760"/>
          </a:xfrm>
          <a:prstGeom prst="roundRect">
            <a:avLst>
              <a:gd name="adj" fmla="val 7273"/>
            </a:avLst>
          </a:prstGeom>
          <a:solidFill>
            <a:schemeClr val="bg2"/>
          </a:solidFill>
          <a:ln/>
        </p:spPr>
      </p:sp>
      <p:sp>
        <p:nvSpPr>
          <p:cNvPr id="9" name="flow icon 2 circle"/>
          <p:cNvSpPr/>
          <p:nvPr/>
        </p:nvSpPr>
        <p:spPr>
          <a:xfrm>
            <a:off x="2697480" y="1325880"/>
            <a:ext cx="411480" cy="411480"/>
          </a:xfrm>
          <a:prstGeom prst="ellipse">
            <a:avLst/>
          </a:prstGeom>
          <a:solidFill>
            <a:schemeClr val="accent2"/>
          </a:solidFill>
          <a:ln/>
        </p:spPr>
      </p:sp>
      <p:pic>
        <p:nvPicPr>
          <p:cNvPr id="10" name="flow icon 2" descr="flow icon 2">    </p:cNvPr>
          <p:cNvPicPr>
            <a:picLocks noChangeAspect="1"/>
          </p:cNvPicPr>
          <p:nvPr/>
        </p:nvPicPr>
        <p:blipFill>
          <a:blip r:embed="rId2"/>
          <a:stretch>
            <a:fillRect/>
          </a:stretch>
        </p:blipFill>
        <p:spPr>
          <a:xfrm>
            <a:off x="2800350" y="1428750"/>
            <a:ext cx="205740" cy="205740"/>
          </a:xfrm>
          <a:prstGeom prst="rect">
            <a:avLst/>
          </a:prstGeom>
        </p:spPr>
      </p:pic>
      <p:sp>
        <p:nvSpPr>
          <p:cNvPr id="11" name="flow title 2"/>
          <p:cNvSpPr txBox="1"/>
          <p:nvPr/>
        </p:nvSpPr>
        <p:spPr>
          <a:xfrm>
            <a:off x="3200400" y="1325880"/>
            <a:ext cx="1234440" cy="411480"/>
          </a:xfrm>
          <a:prstGeom prst="rect">
            <a:avLst/>
          </a:prstGeom>
          <a:noFill/>
          <a:ln/>
        </p:spPr>
        <p:txBody>
          <a:bodyPr wrap="square" lIns="0" tIns="0" rIns="0" bIns="0" rtlCol="0" anchor="ctr"/>
          <a:lstStyle/>
          <a:p>
            <a:pPr algn="l" indent="0" marL="0">
              <a:buNone/>
            </a:pPr>
            <a:r>
              <a:rPr lang="en-US" sz="1400" b="1" dirty="0">
                <a:solidFill>
                  <a:schemeClr val="tx1"/>
                </a:solidFill>
              </a:rPr>
              <a:t>曜日・月</a:t>
            </a:r>
            <a:endParaRPr lang="en-US" sz="1400" dirty="0"/>
          </a:p>
        </p:txBody>
      </p:sp>
      <p:sp>
        <p:nvSpPr>
          <p:cNvPr id="12" name="flow body 2"/>
          <p:cNvSpPr txBox="1"/>
          <p:nvPr/>
        </p:nvSpPr>
        <p:spPr>
          <a:xfrm>
            <a:off x="2743200" y="1874520"/>
            <a:ext cx="1645920" cy="777240"/>
          </a:xfrm>
          <a:prstGeom prst="rect">
            <a:avLst/>
          </a:prstGeom>
          <a:noFill/>
          <a:ln/>
        </p:spPr>
        <p:txBody>
          <a:bodyPr wrap="square" lIns="0" tIns="0" rIns="0" bIns="0" rtlCol="0" anchor="t"/>
          <a:lstStyle/>
          <a:p>
            <a:pPr algn="l" indent="0" marL="0">
              <a:buNone/>
            </a:pPr>
            <a:r>
              <a:rPr lang="en-US" sz="1200" dirty="0">
                <a:solidFill>
                  <a:schemeClr val="tx2"/>
                </a:solidFill>
              </a:rPr>
              <a:t>土日祝はjpholiday</a:t>
            </a:r>
            <a:endParaRPr lang="en-US" sz="1200" dirty="0"/>
          </a:p>
          <a:p>
            <a:pPr algn="l" indent="0" marL="0">
              <a:buNone/>
            </a:pPr>
            <a:r>
              <a:rPr lang="en-US" sz="1200" dirty="0">
                <a:solidFill>
                  <a:schemeClr val="tx2"/>
                </a:solidFill>
              </a:rPr>
              <a:t>で判定</a:t>
            </a:r>
            <a:endParaRPr lang="en-US" sz="1200" dirty="0"/>
          </a:p>
        </p:txBody>
      </p:sp>
      <p:sp>
        <p:nvSpPr>
          <p:cNvPr id="13" name="flow card 3"/>
          <p:cNvSpPr/>
          <p:nvPr/>
        </p:nvSpPr>
        <p:spPr>
          <a:xfrm>
            <a:off x="4663440" y="1188720"/>
            <a:ext cx="1920240" cy="1508760"/>
          </a:xfrm>
          <a:prstGeom prst="roundRect">
            <a:avLst>
              <a:gd name="adj" fmla="val 7273"/>
            </a:avLst>
          </a:prstGeom>
          <a:solidFill>
            <a:schemeClr val="bg2"/>
          </a:solidFill>
          <a:ln/>
        </p:spPr>
      </p:sp>
      <p:sp>
        <p:nvSpPr>
          <p:cNvPr id="14" name="flow icon 3 circle"/>
          <p:cNvSpPr/>
          <p:nvPr/>
        </p:nvSpPr>
        <p:spPr>
          <a:xfrm>
            <a:off x="4800600" y="1325880"/>
            <a:ext cx="411480" cy="411480"/>
          </a:xfrm>
          <a:prstGeom prst="ellipse">
            <a:avLst/>
          </a:prstGeom>
          <a:solidFill>
            <a:schemeClr val="accent4"/>
          </a:solidFill>
          <a:ln/>
        </p:spPr>
      </p:sp>
      <p:pic>
        <p:nvPicPr>
          <p:cNvPr id="15" name="flow icon 3" descr="flow icon 3">    </p:cNvPr>
          <p:cNvPicPr>
            <a:picLocks noChangeAspect="1"/>
          </p:cNvPicPr>
          <p:nvPr/>
        </p:nvPicPr>
        <p:blipFill>
          <a:blip r:embed="rId3"/>
          <a:stretch>
            <a:fillRect/>
          </a:stretch>
        </p:blipFill>
        <p:spPr>
          <a:xfrm>
            <a:off x="4903470" y="1428750"/>
            <a:ext cx="205740" cy="205740"/>
          </a:xfrm>
          <a:prstGeom prst="rect">
            <a:avLst/>
          </a:prstGeom>
        </p:spPr>
      </p:pic>
      <p:sp>
        <p:nvSpPr>
          <p:cNvPr id="16" name="flow title 3"/>
          <p:cNvSpPr txBox="1"/>
          <p:nvPr/>
        </p:nvSpPr>
        <p:spPr>
          <a:xfrm>
            <a:off x="5303520" y="1325880"/>
            <a:ext cx="1234440" cy="411480"/>
          </a:xfrm>
          <a:prstGeom prst="rect">
            <a:avLst/>
          </a:prstGeom>
          <a:noFill/>
          <a:ln/>
        </p:spPr>
        <p:txBody>
          <a:bodyPr wrap="square" lIns="0" tIns="0" rIns="0" bIns="0" rtlCol="0" anchor="ctr"/>
          <a:lstStyle/>
          <a:p>
            <a:pPr algn="l" indent="0" marL="0">
              <a:buNone/>
            </a:pPr>
            <a:r>
              <a:rPr lang="en-US" sz="1400" b="1" dirty="0">
                <a:solidFill>
                  <a:schemeClr val="tx1"/>
                </a:solidFill>
              </a:rPr>
              <a:t>確率と判定</a:t>
            </a:r>
            <a:endParaRPr lang="en-US" sz="1400" dirty="0"/>
          </a:p>
        </p:txBody>
      </p:sp>
      <p:sp>
        <p:nvSpPr>
          <p:cNvPr id="17" name="flow body 3"/>
          <p:cNvSpPr txBox="1"/>
          <p:nvPr/>
        </p:nvSpPr>
        <p:spPr>
          <a:xfrm>
            <a:off x="4846320" y="1874520"/>
            <a:ext cx="1645920" cy="777240"/>
          </a:xfrm>
          <a:prstGeom prst="rect">
            <a:avLst/>
          </a:prstGeom>
          <a:noFill/>
          <a:ln/>
        </p:spPr>
        <p:txBody>
          <a:bodyPr wrap="square" lIns="0" tIns="0" rIns="0" bIns="0" rtlCol="0" anchor="t"/>
          <a:lstStyle/>
          <a:p>
            <a:pPr algn="l" indent="0" marL="0">
              <a:buNone/>
            </a:pPr>
            <a:r>
              <a:rPr lang="en-US" sz="1200" dirty="0">
                <a:solidFill>
                  <a:schemeClr val="tx2"/>
                </a:solidFill>
              </a:rPr>
              <a:t>AUC 0.924のモデルで</a:t>
            </a:r>
            <a:endParaRPr lang="en-US" sz="1200" dirty="0"/>
          </a:p>
          <a:p>
            <a:pPr algn="l" indent="0" marL="0">
              <a:buNone/>
            </a:pPr>
            <a:r>
              <a:rPr lang="en-US" sz="1200" dirty="0">
                <a:solidFill>
                  <a:schemeClr val="tx2"/>
                </a:solidFill>
              </a:rPr>
              <a:t>低・中・高に変換</a:t>
            </a:r>
            <a:endParaRPr lang="en-US" sz="1200" dirty="0"/>
          </a:p>
        </p:txBody>
      </p:sp>
      <p:sp>
        <p:nvSpPr>
          <p:cNvPr id="18" name="flow card 4"/>
          <p:cNvSpPr/>
          <p:nvPr/>
        </p:nvSpPr>
        <p:spPr>
          <a:xfrm>
            <a:off x="6766560" y="1188720"/>
            <a:ext cx="1920240" cy="1508760"/>
          </a:xfrm>
          <a:prstGeom prst="roundRect">
            <a:avLst>
              <a:gd name="adj" fmla="val 7273"/>
            </a:avLst>
          </a:prstGeom>
          <a:solidFill>
            <a:schemeClr val="bg2"/>
          </a:solidFill>
          <a:ln/>
        </p:spPr>
      </p:sp>
      <p:sp>
        <p:nvSpPr>
          <p:cNvPr id="19" name="flow icon 4 circle"/>
          <p:cNvSpPr/>
          <p:nvPr/>
        </p:nvSpPr>
        <p:spPr>
          <a:xfrm>
            <a:off x="6903720" y="1325880"/>
            <a:ext cx="411480" cy="411480"/>
          </a:xfrm>
          <a:prstGeom prst="ellipse">
            <a:avLst/>
          </a:prstGeom>
          <a:solidFill>
            <a:schemeClr val="accent3"/>
          </a:solidFill>
          <a:ln/>
        </p:spPr>
      </p:sp>
      <p:pic>
        <p:nvPicPr>
          <p:cNvPr id="20" name="flow icon 4" descr="flow icon 4">    </p:cNvPr>
          <p:cNvPicPr>
            <a:picLocks noChangeAspect="1"/>
          </p:cNvPicPr>
          <p:nvPr/>
        </p:nvPicPr>
        <p:blipFill>
          <a:blip r:embed="rId4"/>
          <a:stretch>
            <a:fillRect/>
          </a:stretch>
        </p:blipFill>
        <p:spPr>
          <a:xfrm>
            <a:off x="7006590" y="1428750"/>
            <a:ext cx="205740" cy="205740"/>
          </a:xfrm>
          <a:prstGeom prst="rect">
            <a:avLst/>
          </a:prstGeom>
        </p:spPr>
      </p:pic>
      <p:sp>
        <p:nvSpPr>
          <p:cNvPr id="21" name="flow title 4"/>
          <p:cNvSpPr txBox="1"/>
          <p:nvPr/>
        </p:nvSpPr>
        <p:spPr>
          <a:xfrm>
            <a:off x="7406640" y="1325880"/>
            <a:ext cx="1234440" cy="411480"/>
          </a:xfrm>
          <a:prstGeom prst="rect">
            <a:avLst/>
          </a:prstGeom>
          <a:noFill/>
          <a:ln/>
        </p:spPr>
        <p:txBody>
          <a:bodyPr wrap="square" lIns="0" tIns="0" rIns="0" bIns="0" rtlCol="0" anchor="ctr"/>
          <a:lstStyle/>
          <a:p>
            <a:pPr algn="l" indent="0" marL="0">
              <a:buNone/>
            </a:pPr>
            <a:r>
              <a:rPr lang="en-US" sz="1400" b="1" dirty="0">
                <a:solidFill>
                  <a:schemeClr val="tx1"/>
                </a:solidFill>
              </a:rPr>
              <a:t>平文で補足</a:t>
            </a:r>
            <a:endParaRPr lang="en-US" sz="1400" dirty="0"/>
          </a:p>
        </p:txBody>
      </p:sp>
      <p:sp>
        <p:nvSpPr>
          <p:cNvPr id="22" name="flow body 4"/>
          <p:cNvSpPr txBox="1"/>
          <p:nvPr/>
        </p:nvSpPr>
        <p:spPr>
          <a:xfrm>
            <a:off x="6949440" y="1874520"/>
            <a:ext cx="1645920" cy="777240"/>
          </a:xfrm>
          <a:prstGeom prst="rect">
            <a:avLst/>
          </a:prstGeom>
          <a:noFill/>
          <a:ln/>
        </p:spPr>
        <p:txBody>
          <a:bodyPr wrap="square" lIns="0" tIns="0" rIns="0" bIns="0" rtlCol="0" anchor="t"/>
          <a:lstStyle/>
          <a:p>
            <a:pPr algn="l" indent="0" marL="0">
              <a:buNone/>
            </a:pPr>
            <a:r>
              <a:rPr lang="en-US" sz="1200" dirty="0">
                <a:solidFill>
                  <a:schemeClr val="tx2"/>
                </a:solidFill>
              </a:rPr>
              <a:t>背景と注意点のみ</a:t>
            </a:r>
            <a:endParaRPr lang="en-US" sz="1200" dirty="0"/>
          </a:p>
          <a:p>
            <a:pPr algn="l" indent="0" marL="0">
              <a:buNone/>
            </a:pPr>
            <a:r>
              <a:rPr lang="en-US" sz="1200" dirty="0">
                <a:solidFill>
                  <a:schemeClr val="tx2"/>
                </a:solidFill>
              </a:rPr>
              <a:t>Claudeが生成</a:t>
            </a:r>
            <a:endParaRPr lang="en-US" sz="1200" dirty="0"/>
          </a:p>
        </p:txBody>
      </p:sp>
      <p:sp>
        <p:nvSpPr>
          <p:cNvPr id="23" name="example output"/>
          <p:cNvSpPr/>
          <p:nvPr/>
        </p:nvSpPr>
        <p:spPr>
          <a:xfrm>
            <a:off x="457200" y="2880360"/>
            <a:ext cx="4937760" cy="1737360"/>
          </a:xfrm>
          <a:prstGeom prst="roundRect">
            <a:avLst>
              <a:gd name="adj" fmla="val 6316"/>
            </a:avLst>
          </a:prstGeom>
          <a:solidFill>
            <a:schemeClr val="tx1"/>
          </a:solidFill>
          <a:ln/>
        </p:spPr>
      </p:sp>
      <p:sp>
        <p:nvSpPr>
          <p:cNvPr id="24" name="example headline"/>
          <p:cNvSpPr txBox="1"/>
          <p:nvPr/>
        </p:nvSpPr>
        <p:spPr>
          <a:xfrm>
            <a:off x="685800" y="2971800"/>
            <a:ext cx="4480560" cy="457200"/>
          </a:xfrm>
          <a:prstGeom prst="rect">
            <a:avLst/>
          </a:prstGeom>
          <a:noFill/>
          <a:ln/>
        </p:spPr>
        <p:txBody>
          <a:bodyPr wrap="square" lIns="0" tIns="0" rIns="0" bIns="0" rtlCol="0" anchor="ctr"/>
          <a:lstStyle/>
          <a:p>
            <a:pPr algn="l" indent="0" marL="0">
              <a:buNone/>
            </a:pPr>
            <a:r>
              <a:rPr lang="en-US" sz="1600" b="1" dirty="0">
                <a:solidFill>
                  <a:schemeClr val="accent1"/>
                </a:solidFill>
              </a:rPr>
              <a:t>出力制御判定(2026-10-03):可能性「高い」</a:t>
            </a:r>
            <a:endParaRPr lang="en-US" sz="1600" dirty="0"/>
          </a:p>
        </p:txBody>
      </p:sp>
      <p:sp>
        <p:nvSpPr>
          <p:cNvPr id="25" name="example probability"/>
          <p:cNvSpPr txBox="1"/>
          <p:nvPr/>
        </p:nvSpPr>
        <p:spPr>
          <a:xfrm>
            <a:off x="685800" y="3474720"/>
            <a:ext cx="4480560" cy="274320"/>
          </a:xfrm>
          <a:prstGeom prst="rect">
            <a:avLst/>
          </a:prstGeom>
          <a:noFill/>
          <a:ln/>
        </p:spPr>
        <p:txBody>
          <a:bodyPr wrap="square" lIns="0" tIns="0" rIns="0" bIns="0" rtlCol="0" anchor="t"/>
          <a:lstStyle/>
          <a:p>
            <a:pPr algn="l" indent="0" marL="0">
              <a:buNone/>
            </a:pPr>
            <a:r>
              <a:rPr lang="en-US" sz="1400" dirty="0">
                <a:solidFill>
                  <a:schemeClr val="bg1"/>
                </a:solidFill>
              </a:rPr>
              <a:t>予測確率75%(低&lt;30%・中&lt;60%・高≥60%)</a:t>
            </a:r>
            <a:endParaRPr lang="en-US" sz="1400" dirty="0"/>
          </a:p>
        </p:txBody>
      </p:sp>
      <p:sp>
        <p:nvSpPr>
          <p:cNvPr id="26" name="example caution"/>
          <p:cNvSpPr txBox="1"/>
          <p:nvPr/>
        </p:nvSpPr>
        <p:spPr>
          <a:xfrm>
            <a:off x="685800" y="3840480"/>
            <a:ext cx="4480560" cy="685800"/>
          </a:xfrm>
          <a:prstGeom prst="rect">
            <a:avLst/>
          </a:prstGeom>
          <a:noFill/>
          <a:ln/>
        </p:spPr>
        <p:txBody>
          <a:bodyPr wrap="square" lIns="0" tIns="0" rIns="0" bIns="0" rtlCol="0" anchor="t"/>
          <a:lstStyle/>
          <a:p>
            <a:pPr algn="l" indent="0" marL="0">
              <a:buNone/>
            </a:pPr>
            <a:r>
              <a:rPr lang="en-US" sz="1200" dirty="0">
                <a:solidFill>
                  <a:schemeClr val="accent6"/>
                </a:solidFill>
              </a:rPr>
              <a:t>注意:快晴日はAMGSDSが日照を過少評価し、確率が低めに出る可能性</a:t>
            </a:r>
            <a:endParaRPr lang="en-US" sz="1200" dirty="0"/>
          </a:p>
        </p:txBody>
      </p:sp>
      <p:sp>
        <p:nvSpPr>
          <p:cNvPr id="27" name="guard card"/>
          <p:cNvSpPr/>
          <p:nvPr/>
        </p:nvSpPr>
        <p:spPr>
          <a:xfrm>
            <a:off x="5577840" y="2880360"/>
            <a:ext cx="3108960" cy="1737360"/>
          </a:xfrm>
          <a:prstGeom prst="roundRect">
            <a:avLst>
              <a:gd name="adj" fmla="val 6316"/>
            </a:avLst>
          </a:prstGeom>
          <a:solidFill>
            <a:schemeClr val="bg2"/>
          </a:solidFill>
          <a:ln/>
        </p:spPr>
      </p:sp>
      <p:sp>
        <p:nvSpPr>
          <p:cNvPr id="28" name="guard title"/>
          <p:cNvSpPr txBox="1"/>
          <p:nvPr/>
        </p:nvSpPr>
        <p:spPr>
          <a:xfrm>
            <a:off x="5760720" y="2971800"/>
            <a:ext cx="2743200" cy="320040"/>
          </a:xfrm>
          <a:prstGeom prst="rect">
            <a:avLst/>
          </a:prstGeom>
          <a:noFill/>
          <a:ln/>
        </p:spPr>
        <p:txBody>
          <a:bodyPr wrap="square" lIns="0" tIns="0" rIns="0" bIns="0" rtlCol="0" anchor="t"/>
          <a:lstStyle/>
          <a:p>
            <a:pPr algn="l" indent="0" marL="0">
              <a:buNone/>
            </a:pPr>
            <a:r>
              <a:rPr lang="en-US" sz="1400" b="1" dirty="0">
                <a:solidFill>
                  <a:schemeClr val="tx1"/>
                </a:solidFill>
              </a:rPr>
              <a:t>ハルシネーション対策</a:t>
            </a:r>
            <a:endParaRPr lang="en-US" sz="1400" dirty="0"/>
          </a:p>
        </p:txBody>
      </p:sp>
      <p:sp>
        <p:nvSpPr>
          <p:cNvPr id="29" name="guard body"/>
          <p:cNvSpPr txBox="1"/>
          <p:nvPr/>
        </p:nvSpPr>
        <p:spPr>
          <a:xfrm>
            <a:off x="5760720" y="3337560"/>
            <a:ext cx="2743200" cy="1234440"/>
          </a:xfrm>
          <a:prstGeom prst="rect">
            <a:avLst/>
          </a:prstGeom>
          <a:noFill/>
          <a:ln/>
        </p:spPr>
        <p:txBody>
          <a:bodyPr wrap="square" lIns="0" tIns="0" rIns="0" bIns="0" rtlCol="0" anchor="t"/>
          <a:lstStyle/>
          <a:p>
            <a:pPr algn="l" indent="0" marL="0">
              <a:buNone/>
            </a:pPr>
            <a:r>
              <a:rPr lang="en-US" sz="1200" dirty="0">
                <a:solidFill>
                  <a:schemeClr val="tx2"/>
                </a:solidFill>
              </a:rPr>
              <a:t>確率と判定はモデルの数値をそのまま表示。Claudeは数値を再計算せず、背景と注意点だけを補足(1回 約0.003ドル)</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最大の訂正:制御日ラベルのバグ</a:t>
            </a:r>
            <a:endParaRPr lang="en-US" sz="2800" dirty="0"/>
          </a:p>
        </p:txBody>
      </p:sp>
      <p:sp>
        <p:nvSpPr>
          <p:cNvPr id="3" name="bug card"/>
          <p:cNvSpPr/>
          <p:nvPr/>
        </p:nvSpPr>
        <p:spPr>
          <a:xfrm>
            <a:off x="457200" y="1188720"/>
            <a:ext cx="3931920" cy="3429000"/>
          </a:xfrm>
          <a:prstGeom prst="roundRect">
            <a:avLst>
              <a:gd name="adj" fmla="val 3200"/>
            </a:avLst>
          </a:prstGeom>
          <a:solidFill>
            <a:schemeClr val="bg2"/>
          </a:solidFill>
          <a:ln/>
        </p:spPr>
      </p:sp>
      <p:sp>
        <p:nvSpPr>
          <p:cNvPr id="4" name="bug icon circle"/>
          <p:cNvSpPr/>
          <p:nvPr/>
        </p:nvSpPr>
        <p:spPr>
          <a:xfrm>
            <a:off x="640080" y="1371600"/>
            <a:ext cx="548640" cy="548640"/>
          </a:xfrm>
          <a:prstGeom prst="ellipse">
            <a:avLst/>
          </a:prstGeom>
          <a:solidFill>
            <a:schemeClr val="accent3"/>
          </a:solidFill>
          <a:ln/>
        </p:spPr>
      </p:sp>
      <p:pic>
        <p:nvPicPr>
          <p:cNvPr id="5" name="bug icon" descr="bug icon">    </p:cNvPr>
          <p:cNvPicPr>
            <a:picLocks noChangeAspect="1"/>
          </p:cNvPicPr>
          <p:nvPr/>
        </p:nvPicPr>
        <p:blipFill>
          <a:blip r:embed="rId1"/>
          <a:stretch>
            <a:fillRect/>
          </a:stretch>
        </p:blipFill>
        <p:spPr>
          <a:xfrm>
            <a:off x="777240" y="1508760"/>
            <a:ext cx="274320" cy="274320"/>
          </a:xfrm>
          <a:prstGeom prst="rect">
            <a:avLst/>
          </a:prstGeom>
        </p:spPr>
      </p:pic>
      <p:sp>
        <p:nvSpPr>
          <p:cNvPr id="6" name="bug title"/>
          <p:cNvSpPr txBox="1"/>
          <p:nvPr/>
        </p:nvSpPr>
        <p:spPr>
          <a:xfrm>
            <a:off x="1371600" y="1417320"/>
            <a:ext cx="2834640" cy="457200"/>
          </a:xfrm>
          <a:prstGeom prst="rect">
            <a:avLst/>
          </a:prstGeom>
          <a:noFill/>
          <a:ln/>
        </p:spPr>
        <p:txBody>
          <a:bodyPr wrap="square" lIns="0" tIns="0" rIns="0" bIns="0" rtlCol="0" anchor="ctr"/>
          <a:lstStyle/>
          <a:p>
            <a:pPr algn="l" indent="0" marL="0">
              <a:buNone/>
            </a:pPr>
            <a:r>
              <a:rPr lang="en-US" sz="1600" b="1" dirty="0">
                <a:solidFill>
                  <a:schemeClr val="tx1"/>
                </a:solidFill>
              </a:rPr>
              <a:t>何が誤っていたか</a:t>
            </a:r>
            <a:endParaRPr lang="en-US" sz="1600" dirty="0"/>
          </a:p>
        </p:txBody>
      </p:sp>
      <p:sp>
        <p:nvSpPr>
          <p:cNvPr id="7" name="bug body"/>
          <p:cNvSpPr txBox="1"/>
          <p:nvPr/>
        </p:nvSpPr>
        <p:spPr>
          <a:xfrm>
            <a:off x="640080" y="2103120"/>
            <a:ext cx="3566160" cy="1325880"/>
          </a:xfrm>
          <a:prstGeom prst="rect">
            <a:avLst/>
          </a:prstGeom>
          <a:noFill/>
          <a:ln/>
        </p:spPr>
        <p:txBody>
          <a:bodyPr wrap="square" lIns="0" tIns="0" rIns="0" bIns="0" rtlCol="0" anchor="t"/>
          <a:lstStyle/>
          <a:p>
            <a:pPr algn="l" indent="0" marL="0">
              <a:buNone/>
            </a:pPr>
            <a:r>
              <a:rPr lang="en-US" sz="1400" dirty="0">
                <a:solidFill>
                  <a:schemeClr val="tx2"/>
                </a:solidFill>
              </a:rPr>
              <a:t>前日指示(予報ベース)だけを読み、当日の速報による取り消しを見落としていた。晴れ予報で指示したが当日は曇って不要になった日が、制御日に混入していた。</a:t>
            </a:r>
            <a:endParaRPr lang="en-US" sz="1400" dirty="0"/>
          </a:p>
        </p:txBody>
      </p:sp>
      <p:sp>
        <p:nvSpPr>
          <p:cNvPr id="8" name="bug lesson"/>
          <p:cNvSpPr txBox="1"/>
          <p:nvPr/>
        </p:nvSpPr>
        <p:spPr>
          <a:xfrm>
            <a:off x="640080" y="3520440"/>
            <a:ext cx="3566160" cy="960120"/>
          </a:xfrm>
          <a:prstGeom prst="rect">
            <a:avLst/>
          </a:prstGeom>
          <a:noFill/>
          <a:ln/>
        </p:spPr>
        <p:txBody>
          <a:bodyPr wrap="square" lIns="0" tIns="0" rIns="0" bIns="0" rtlCol="0" anchor="t"/>
          <a:lstStyle/>
          <a:p>
            <a:pPr algn="l" indent="0" marL="0">
              <a:buNone/>
            </a:pPr>
            <a:r>
              <a:rPr lang="en-US" sz="1400" b="1" dirty="0">
                <a:solidFill>
                  <a:schemeClr val="tx1"/>
                </a:solidFill>
              </a:rPr>
              <a:t>相関やAUCでは見つからず、散布図の違和感とドメイン知識で発見された。</a:t>
            </a:r>
            <a:endParaRPr lang="en-US" sz="1400" dirty="0"/>
          </a:p>
        </p:txBody>
      </p:sp>
      <p:sp>
        <p:nvSpPr>
          <p:cNvPr id="9" name="before after card 1"/>
          <p:cNvSpPr/>
          <p:nvPr/>
        </p:nvSpPr>
        <p:spPr>
          <a:xfrm>
            <a:off x="4572000" y="1188720"/>
            <a:ext cx="2011680" cy="1600200"/>
          </a:xfrm>
          <a:prstGeom prst="roundRect">
            <a:avLst>
              <a:gd name="adj" fmla="val 6857"/>
            </a:avLst>
          </a:prstGeom>
          <a:solidFill>
            <a:schemeClr val="bg2"/>
          </a:solidFill>
          <a:ln/>
        </p:spPr>
      </p:sp>
      <p:sp>
        <p:nvSpPr>
          <p:cNvPr id="10" name="ba label 1"/>
          <p:cNvSpPr txBox="1"/>
          <p:nvPr/>
        </p:nvSpPr>
        <p:spPr>
          <a:xfrm>
            <a:off x="4754880" y="1371600"/>
            <a:ext cx="1691640" cy="274320"/>
          </a:xfrm>
          <a:prstGeom prst="rect">
            <a:avLst/>
          </a:prstGeom>
          <a:noFill/>
          <a:ln/>
        </p:spPr>
        <p:txBody>
          <a:bodyPr wrap="square" lIns="0" tIns="0" rIns="0" bIns="0" rtlCol="0" anchor="t"/>
          <a:lstStyle/>
          <a:p>
            <a:pPr algn="l" indent="0" marL="0">
              <a:buNone/>
            </a:pPr>
            <a:r>
              <a:rPr lang="en-US" sz="1200" dirty="0">
                <a:solidFill>
                  <a:schemeClr val="tx2"/>
                </a:solidFill>
              </a:rPr>
              <a:t>九州の制御日数</a:t>
            </a:r>
            <a:endParaRPr lang="en-US" sz="1200" dirty="0"/>
          </a:p>
        </p:txBody>
      </p:sp>
      <p:sp>
        <p:nvSpPr>
          <p:cNvPr id="11" name="ba value 1"/>
          <p:cNvSpPr txBox="1"/>
          <p:nvPr/>
        </p:nvSpPr>
        <p:spPr>
          <a:xfrm>
            <a:off x="4754880" y="1737360"/>
            <a:ext cx="1691640" cy="457200"/>
          </a:xfrm>
          <a:prstGeom prst="rect">
            <a:avLst/>
          </a:prstGeom>
          <a:noFill/>
          <a:ln/>
        </p:spPr>
        <p:txBody>
          <a:bodyPr wrap="square" lIns="0" tIns="0" rIns="0" bIns="0" rtlCol="0" anchor="ctr"/>
          <a:lstStyle/>
          <a:p>
            <a:pPr algn="l" indent="0" marL="0">
              <a:buNone/>
            </a:pPr>
            <a:r>
              <a:rPr lang="en-US" sz="1800" b="1" dirty="0">
                <a:solidFill>
                  <a:schemeClr val="tx1"/>
                </a:solidFill>
              </a:rPr>
              <a:t>1175→715</a:t>
            </a:r>
            <a:endParaRPr lang="en-US" sz="1800" dirty="0"/>
          </a:p>
        </p:txBody>
      </p:sp>
      <p:sp>
        <p:nvSpPr>
          <p:cNvPr id="12" name="ba sub 1"/>
          <p:cNvSpPr txBox="1"/>
          <p:nvPr/>
        </p:nvSpPr>
        <p:spPr>
          <a:xfrm>
            <a:off x="4754880" y="2286000"/>
            <a:ext cx="1691640" cy="365760"/>
          </a:xfrm>
          <a:prstGeom prst="rect">
            <a:avLst/>
          </a:prstGeom>
          <a:noFill/>
          <a:ln/>
        </p:spPr>
        <p:txBody>
          <a:bodyPr wrap="square" lIns="0" tIns="0" rIns="0" bIns="0" rtlCol="0" anchor="t"/>
          <a:lstStyle/>
          <a:p>
            <a:pPr algn="l" indent="0" marL="0">
              <a:buNone/>
            </a:pPr>
            <a:r>
              <a:rPr lang="en-US" sz="1200" b="1" dirty="0">
                <a:solidFill>
                  <a:schemeClr val="accent3"/>
                </a:solidFill>
              </a:rPr>
              <a:t>−39%</a:t>
            </a:r>
            <a:endParaRPr lang="en-US" sz="1200" dirty="0"/>
          </a:p>
        </p:txBody>
      </p:sp>
      <p:sp>
        <p:nvSpPr>
          <p:cNvPr id="13" name="before after card 2"/>
          <p:cNvSpPr/>
          <p:nvPr/>
        </p:nvSpPr>
        <p:spPr>
          <a:xfrm>
            <a:off x="6675120" y="1188720"/>
            <a:ext cx="2011680" cy="1600200"/>
          </a:xfrm>
          <a:prstGeom prst="roundRect">
            <a:avLst>
              <a:gd name="adj" fmla="val 6857"/>
            </a:avLst>
          </a:prstGeom>
          <a:solidFill>
            <a:schemeClr val="bg2"/>
          </a:solidFill>
          <a:ln/>
        </p:spPr>
      </p:sp>
      <p:sp>
        <p:nvSpPr>
          <p:cNvPr id="14" name="ba label 2"/>
          <p:cNvSpPr txBox="1"/>
          <p:nvPr/>
        </p:nvSpPr>
        <p:spPr>
          <a:xfrm>
            <a:off x="6858000" y="1371600"/>
            <a:ext cx="1691640" cy="274320"/>
          </a:xfrm>
          <a:prstGeom prst="rect">
            <a:avLst/>
          </a:prstGeom>
          <a:noFill/>
          <a:ln/>
        </p:spPr>
        <p:txBody>
          <a:bodyPr wrap="square" lIns="0" tIns="0" rIns="0" bIns="0" rtlCol="0" anchor="t"/>
          <a:lstStyle/>
          <a:p>
            <a:pPr algn="l" indent="0" marL="0">
              <a:buNone/>
            </a:pPr>
            <a:r>
              <a:rPr lang="en-US" sz="1200" dirty="0">
                <a:solidFill>
                  <a:schemeClr val="tx2"/>
                </a:solidFill>
              </a:rPr>
              <a:t>沖縄の制御日数</a:t>
            </a:r>
            <a:endParaRPr lang="en-US" sz="1200" dirty="0"/>
          </a:p>
        </p:txBody>
      </p:sp>
      <p:sp>
        <p:nvSpPr>
          <p:cNvPr id="15" name="ba value 2"/>
          <p:cNvSpPr txBox="1"/>
          <p:nvPr/>
        </p:nvSpPr>
        <p:spPr>
          <a:xfrm>
            <a:off x="6858000" y="1737360"/>
            <a:ext cx="1691640" cy="457200"/>
          </a:xfrm>
          <a:prstGeom prst="rect">
            <a:avLst/>
          </a:prstGeom>
          <a:noFill/>
          <a:ln/>
        </p:spPr>
        <p:txBody>
          <a:bodyPr wrap="square" lIns="0" tIns="0" rIns="0" bIns="0" rtlCol="0" anchor="ctr"/>
          <a:lstStyle/>
          <a:p>
            <a:pPr algn="l" indent="0" marL="0">
              <a:buNone/>
            </a:pPr>
            <a:r>
              <a:rPr lang="en-US" sz="1800" b="1" dirty="0">
                <a:solidFill>
                  <a:schemeClr val="tx1"/>
                </a:solidFill>
              </a:rPr>
              <a:t>160→44</a:t>
            </a:r>
            <a:endParaRPr lang="en-US" sz="1800" dirty="0"/>
          </a:p>
        </p:txBody>
      </p:sp>
      <p:sp>
        <p:nvSpPr>
          <p:cNvPr id="16" name="ba sub 2"/>
          <p:cNvSpPr txBox="1"/>
          <p:nvPr/>
        </p:nvSpPr>
        <p:spPr>
          <a:xfrm>
            <a:off x="6858000" y="2286000"/>
            <a:ext cx="1691640" cy="365760"/>
          </a:xfrm>
          <a:prstGeom prst="rect">
            <a:avLst/>
          </a:prstGeom>
          <a:noFill/>
          <a:ln/>
        </p:spPr>
        <p:txBody>
          <a:bodyPr wrap="square" lIns="0" tIns="0" rIns="0" bIns="0" rtlCol="0" anchor="t"/>
          <a:lstStyle/>
          <a:p>
            <a:pPr algn="l" indent="0" marL="0">
              <a:buNone/>
            </a:pPr>
            <a:r>
              <a:rPr lang="en-US" sz="1200" b="1" dirty="0">
                <a:solidFill>
                  <a:schemeClr val="accent3"/>
                </a:solidFill>
              </a:rPr>
              <a:t>−72.5%</a:t>
            </a:r>
            <a:endParaRPr lang="en-US" sz="1200" dirty="0"/>
          </a:p>
        </p:txBody>
      </p:sp>
      <p:sp>
        <p:nvSpPr>
          <p:cNvPr id="17" name="before after card 3"/>
          <p:cNvSpPr/>
          <p:nvPr/>
        </p:nvSpPr>
        <p:spPr>
          <a:xfrm>
            <a:off x="4572000" y="2971800"/>
            <a:ext cx="2011680" cy="1600200"/>
          </a:xfrm>
          <a:prstGeom prst="roundRect">
            <a:avLst>
              <a:gd name="adj" fmla="val 6857"/>
            </a:avLst>
          </a:prstGeom>
          <a:solidFill>
            <a:schemeClr val="bg2"/>
          </a:solidFill>
          <a:ln/>
        </p:spPr>
      </p:sp>
      <p:sp>
        <p:nvSpPr>
          <p:cNvPr id="18" name="ba label 3"/>
          <p:cNvSpPr txBox="1"/>
          <p:nvPr/>
        </p:nvSpPr>
        <p:spPr>
          <a:xfrm>
            <a:off x="4754880" y="3154680"/>
            <a:ext cx="1691640" cy="274320"/>
          </a:xfrm>
          <a:prstGeom prst="rect">
            <a:avLst/>
          </a:prstGeom>
          <a:noFill/>
          <a:ln/>
        </p:spPr>
        <p:txBody>
          <a:bodyPr wrap="square" lIns="0" tIns="0" rIns="0" bIns="0" rtlCol="0" anchor="t"/>
          <a:lstStyle/>
          <a:p>
            <a:pPr algn="l" indent="0" marL="0">
              <a:buNone/>
            </a:pPr>
            <a:r>
              <a:rPr lang="en-US" sz="1200" dirty="0">
                <a:solidFill>
                  <a:schemeClr val="tx2"/>
                </a:solidFill>
              </a:rPr>
              <a:t>九州のCohen's d</a:t>
            </a:r>
            <a:endParaRPr lang="en-US" sz="1200" dirty="0"/>
          </a:p>
        </p:txBody>
      </p:sp>
      <p:sp>
        <p:nvSpPr>
          <p:cNvPr id="19" name="ba value 3"/>
          <p:cNvSpPr txBox="1"/>
          <p:nvPr/>
        </p:nvSpPr>
        <p:spPr>
          <a:xfrm>
            <a:off x="4754880" y="3520440"/>
            <a:ext cx="1691640" cy="457200"/>
          </a:xfrm>
          <a:prstGeom prst="rect">
            <a:avLst/>
          </a:prstGeom>
          <a:noFill/>
          <a:ln/>
        </p:spPr>
        <p:txBody>
          <a:bodyPr wrap="square" lIns="0" tIns="0" rIns="0" bIns="0" rtlCol="0" anchor="ctr"/>
          <a:lstStyle/>
          <a:p>
            <a:pPr algn="l" indent="0" marL="0">
              <a:buNone/>
            </a:pPr>
            <a:r>
              <a:rPr lang="en-US" sz="1800" b="1" dirty="0">
                <a:solidFill>
                  <a:schemeClr val="tx1"/>
                </a:solidFill>
              </a:rPr>
              <a:t>0.73→1.07</a:t>
            </a:r>
            <a:endParaRPr lang="en-US" sz="1800" dirty="0"/>
          </a:p>
        </p:txBody>
      </p:sp>
      <p:sp>
        <p:nvSpPr>
          <p:cNvPr id="20" name="ba sub 3"/>
          <p:cNvSpPr txBox="1"/>
          <p:nvPr/>
        </p:nvSpPr>
        <p:spPr>
          <a:xfrm>
            <a:off x="4754880" y="4069080"/>
            <a:ext cx="1691640" cy="365760"/>
          </a:xfrm>
          <a:prstGeom prst="rect">
            <a:avLst/>
          </a:prstGeom>
          <a:noFill/>
          <a:ln/>
        </p:spPr>
        <p:txBody>
          <a:bodyPr wrap="square" lIns="0" tIns="0" rIns="0" bIns="0" rtlCol="0" anchor="t"/>
          <a:lstStyle/>
          <a:p>
            <a:pPr algn="l" indent="0" marL="0">
              <a:buNone/>
            </a:pPr>
            <a:r>
              <a:rPr lang="en-US" sz="1200" b="1" dirty="0">
                <a:solidFill>
                  <a:schemeClr val="accent3"/>
                </a:solidFill>
              </a:rPr>
              <a:t>日照時間・全日</a:t>
            </a:r>
            <a:endParaRPr lang="en-US" sz="1200" dirty="0"/>
          </a:p>
        </p:txBody>
      </p:sp>
      <p:sp>
        <p:nvSpPr>
          <p:cNvPr id="21" name="before after card 4"/>
          <p:cNvSpPr/>
          <p:nvPr/>
        </p:nvSpPr>
        <p:spPr>
          <a:xfrm>
            <a:off x="6675120" y="2971800"/>
            <a:ext cx="2011680" cy="1600200"/>
          </a:xfrm>
          <a:prstGeom prst="roundRect">
            <a:avLst>
              <a:gd name="adj" fmla="val 6857"/>
            </a:avLst>
          </a:prstGeom>
          <a:solidFill>
            <a:schemeClr val="bg2"/>
          </a:solidFill>
          <a:ln/>
        </p:spPr>
      </p:sp>
      <p:sp>
        <p:nvSpPr>
          <p:cNvPr id="22" name="ba label 4"/>
          <p:cNvSpPr txBox="1"/>
          <p:nvPr/>
        </p:nvSpPr>
        <p:spPr>
          <a:xfrm>
            <a:off x="6858000" y="3154680"/>
            <a:ext cx="1691640" cy="274320"/>
          </a:xfrm>
          <a:prstGeom prst="rect">
            <a:avLst/>
          </a:prstGeom>
          <a:noFill/>
          <a:ln/>
        </p:spPr>
        <p:txBody>
          <a:bodyPr wrap="square" lIns="0" tIns="0" rIns="0" bIns="0" rtlCol="0" anchor="t"/>
          <a:lstStyle/>
          <a:p>
            <a:pPr algn="l" indent="0" marL="0">
              <a:buNone/>
            </a:pPr>
            <a:r>
              <a:rPr lang="en-US" sz="1200" dirty="0">
                <a:solidFill>
                  <a:schemeClr val="tx2"/>
                </a:solidFill>
              </a:rPr>
              <a:t>フルモデルAUC</a:t>
            </a:r>
            <a:endParaRPr lang="en-US" sz="1200" dirty="0"/>
          </a:p>
        </p:txBody>
      </p:sp>
      <p:sp>
        <p:nvSpPr>
          <p:cNvPr id="23" name="ba value 4"/>
          <p:cNvSpPr txBox="1"/>
          <p:nvPr/>
        </p:nvSpPr>
        <p:spPr>
          <a:xfrm>
            <a:off x="6858000" y="3520440"/>
            <a:ext cx="1691640" cy="457200"/>
          </a:xfrm>
          <a:prstGeom prst="rect">
            <a:avLst/>
          </a:prstGeom>
          <a:noFill/>
          <a:ln/>
        </p:spPr>
        <p:txBody>
          <a:bodyPr wrap="square" lIns="0" tIns="0" rIns="0" bIns="0" rtlCol="0" anchor="ctr"/>
          <a:lstStyle/>
          <a:p>
            <a:pPr algn="l" indent="0" marL="0">
              <a:buNone/>
            </a:pPr>
            <a:r>
              <a:rPr lang="en-US" sz="1600" b="1" dirty="0">
                <a:solidFill>
                  <a:schemeClr val="tx1"/>
                </a:solidFill>
              </a:rPr>
              <a:t>0.852→0.904</a:t>
            </a:r>
            <a:endParaRPr lang="en-US" sz="1600" dirty="0"/>
          </a:p>
        </p:txBody>
      </p:sp>
      <p:sp>
        <p:nvSpPr>
          <p:cNvPr id="24" name="ba sub 4"/>
          <p:cNvSpPr txBox="1"/>
          <p:nvPr/>
        </p:nvSpPr>
        <p:spPr>
          <a:xfrm>
            <a:off x="6858000" y="4069080"/>
            <a:ext cx="1691640" cy="365760"/>
          </a:xfrm>
          <a:prstGeom prst="rect">
            <a:avLst/>
          </a:prstGeom>
          <a:noFill/>
          <a:ln/>
        </p:spPr>
        <p:txBody>
          <a:bodyPr wrap="square" lIns="0" tIns="0" rIns="0" bIns="0" rtlCol="0" anchor="t"/>
          <a:lstStyle/>
          <a:p>
            <a:pPr algn="l" indent="0" marL="0">
              <a:buNone/>
            </a:pPr>
            <a:r>
              <a:rPr lang="en-US" sz="1200" b="1" dirty="0">
                <a:solidFill>
                  <a:schemeClr val="accent3"/>
                </a:solidFill>
              </a:rPr>
              <a:t>ノイズ除去で改善</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bg1"/>
                </a:solidFill>
              </a:rPr>
              <a:t>まとめと次の一手</a:t>
            </a:r>
            <a:endParaRPr lang="en-US" sz="2800" dirty="0"/>
          </a:p>
        </p:txBody>
      </p:sp>
      <p:sp>
        <p:nvSpPr>
          <p:cNvPr id="3" name="takeaway number circle 1"/>
          <p:cNvSpPr/>
          <p:nvPr/>
        </p:nvSpPr>
        <p:spPr>
          <a:xfrm>
            <a:off x="457200" y="1234440"/>
            <a:ext cx="548640" cy="548640"/>
          </a:xfrm>
          <a:prstGeom prst="ellipse">
            <a:avLst/>
          </a:prstGeom>
          <a:solidFill>
            <a:schemeClr val="accent1"/>
          </a:solidFill>
          <a:ln/>
        </p:spPr>
      </p:sp>
      <p:sp>
        <p:nvSpPr>
          <p:cNvPr id="4" name="takeaway number 1"/>
          <p:cNvSpPr txBox="1"/>
          <p:nvPr/>
        </p:nvSpPr>
        <p:spPr>
          <a:xfrm>
            <a:off x="457200" y="123444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akeaway text 1"/>
          <p:cNvSpPr txBox="1"/>
          <p:nvPr/>
        </p:nvSpPr>
        <p:spPr>
          <a:xfrm>
            <a:off x="1188720" y="1051560"/>
            <a:ext cx="2926080" cy="914400"/>
          </a:xfrm>
          <a:prstGeom prst="rect">
            <a:avLst/>
          </a:prstGeom>
          <a:noFill/>
          <a:ln/>
        </p:spPr>
        <p:txBody>
          <a:bodyPr wrap="square" lIns="0" tIns="0" rIns="0" bIns="0" rtlCol="0" anchor="ctr"/>
          <a:lstStyle/>
          <a:p>
            <a:pPr algn="l" indent="0" marL="0">
              <a:buNone/>
            </a:pPr>
            <a:r>
              <a:rPr lang="en-US" sz="1400" dirty="0">
                <a:solidFill>
                  <a:schemeClr val="bg1"/>
                </a:solidFill>
              </a:rPr>
              <a:t>季節・日照・曜日で九州の制御は説明できる(AUC 0.925)</a:t>
            </a:r>
            <a:endParaRPr lang="en-US" sz="1400" dirty="0"/>
          </a:p>
        </p:txBody>
      </p:sp>
      <p:sp>
        <p:nvSpPr>
          <p:cNvPr id="6" name="takeaway number circle 2"/>
          <p:cNvSpPr/>
          <p:nvPr/>
        </p:nvSpPr>
        <p:spPr>
          <a:xfrm>
            <a:off x="457200" y="2331720"/>
            <a:ext cx="548640" cy="548640"/>
          </a:xfrm>
          <a:prstGeom prst="ellipse">
            <a:avLst/>
          </a:prstGeom>
          <a:solidFill>
            <a:schemeClr val="accent1"/>
          </a:solidFill>
          <a:ln/>
        </p:spPr>
      </p:sp>
      <p:sp>
        <p:nvSpPr>
          <p:cNvPr id="7" name="takeaway number 2"/>
          <p:cNvSpPr txBox="1"/>
          <p:nvPr/>
        </p:nvSpPr>
        <p:spPr>
          <a:xfrm>
            <a:off x="457200" y="23317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8" name="takeaway text 2"/>
          <p:cNvSpPr txBox="1"/>
          <p:nvPr/>
        </p:nvSpPr>
        <p:spPr>
          <a:xfrm>
            <a:off x="1188720" y="2148840"/>
            <a:ext cx="2926080" cy="914400"/>
          </a:xfrm>
          <a:prstGeom prst="rect">
            <a:avLst/>
          </a:prstGeom>
          <a:noFill/>
          <a:ln/>
        </p:spPr>
        <p:txBody>
          <a:bodyPr wrap="square" lIns="0" tIns="0" rIns="0" bIns="0" rtlCol="0" anchor="ctr"/>
          <a:lstStyle/>
          <a:p>
            <a:pPr algn="l" indent="0" marL="0">
              <a:buNone/>
            </a:pPr>
            <a:r>
              <a:rPr lang="en-US" sz="1400" dirty="0">
                <a:solidFill>
                  <a:schemeClr val="bg1"/>
                </a:solidFill>
              </a:rPr>
              <a:t>制御の判別は日照時間、発電量は全天日射量が強い</a:t>
            </a:r>
            <a:endParaRPr lang="en-US" sz="1400" dirty="0"/>
          </a:p>
        </p:txBody>
      </p:sp>
      <p:sp>
        <p:nvSpPr>
          <p:cNvPr id="9" name="takeaway number circle 3"/>
          <p:cNvSpPr/>
          <p:nvPr/>
        </p:nvSpPr>
        <p:spPr>
          <a:xfrm>
            <a:off x="457200" y="3429000"/>
            <a:ext cx="548640" cy="548640"/>
          </a:xfrm>
          <a:prstGeom prst="ellipse">
            <a:avLst/>
          </a:prstGeom>
          <a:solidFill>
            <a:schemeClr val="accent1"/>
          </a:solidFill>
          <a:ln/>
        </p:spPr>
      </p:sp>
      <p:sp>
        <p:nvSpPr>
          <p:cNvPr id="10" name="takeaway number 3"/>
          <p:cNvSpPr txBox="1"/>
          <p:nvPr/>
        </p:nvSpPr>
        <p:spPr>
          <a:xfrm>
            <a:off x="457200" y="342900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1" name="takeaway text 3"/>
          <p:cNvSpPr txBox="1"/>
          <p:nvPr/>
        </p:nvSpPr>
        <p:spPr>
          <a:xfrm>
            <a:off x="1188720" y="3246120"/>
            <a:ext cx="2926080" cy="914400"/>
          </a:xfrm>
          <a:prstGeom prst="rect">
            <a:avLst/>
          </a:prstGeom>
          <a:noFill/>
          <a:ln/>
        </p:spPr>
        <p:txBody>
          <a:bodyPr wrap="square" lIns="0" tIns="0" rIns="0" bIns="0" rtlCol="0" anchor="ctr"/>
          <a:lstStyle/>
          <a:p>
            <a:pPr algn="l" indent="0" marL="0">
              <a:buNone/>
            </a:pPr>
            <a:r>
              <a:rPr lang="en-US" sz="1400" dirty="0">
                <a:solidFill>
                  <a:schemeClr val="bg1"/>
                </a:solidFill>
              </a:rPr>
              <a:t>予報の手法に優劣はなく、訂正を重ねて信頼性を確保</a:t>
            </a:r>
            <a:endParaRPr lang="en-US" sz="1400" dirty="0"/>
          </a:p>
        </p:txBody>
      </p:sp>
      <p:sp>
        <p:nvSpPr>
          <p:cNvPr id="12" name="next card"/>
          <p:cNvSpPr/>
          <p:nvPr/>
        </p:nvSpPr>
        <p:spPr>
          <a:xfrm>
            <a:off x="4480560" y="1188720"/>
            <a:ext cx="4206240" cy="3429000"/>
          </a:xfrm>
          <a:prstGeom prst="roundRect">
            <a:avLst>
              <a:gd name="adj" fmla="val 3200"/>
            </a:avLst>
          </a:prstGeom>
          <a:solidFill>
            <a:schemeClr val="tx2"/>
          </a:solidFill>
          <a:ln/>
        </p:spPr>
      </p:sp>
      <p:sp>
        <p:nvSpPr>
          <p:cNvPr id="13" name="next title"/>
          <p:cNvSpPr txBox="1"/>
          <p:nvPr/>
        </p:nvSpPr>
        <p:spPr>
          <a:xfrm>
            <a:off x="4709160" y="1325880"/>
            <a:ext cx="3749040" cy="365760"/>
          </a:xfrm>
          <a:prstGeom prst="rect">
            <a:avLst/>
          </a:prstGeom>
          <a:noFill/>
          <a:ln/>
        </p:spPr>
        <p:txBody>
          <a:bodyPr wrap="square" lIns="0" tIns="0" rIns="0" bIns="0" rtlCol="0" anchor="t"/>
          <a:lstStyle/>
          <a:p>
            <a:pPr algn="l" indent="0" marL="0">
              <a:buNone/>
            </a:pPr>
            <a:r>
              <a:rPr lang="en-US" sz="1600" b="1" dirty="0">
                <a:solidFill>
                  <a:schemeClr val="accent1"/>
                </a:solidFill>
              </a:rPr>
              <a:t>限界と次の一手</a:t>
            </a:r>
            <a:endParaRPr lang="en-US" sz="1600" dirty="0"/>
          </a:p>
        </p:txBody>
      </p:sp>
      <p:sp>
        <p:nvSpPr>
          <p:cNvPr id="14" name="next list"/>
          <p:cNvSpPr txBox="1"/>
          <p:nvPr/>
        </p:nvSpPr>
        <p:spPr>
          <a:xfrm>
            <a:off x="4709160" y="1783080"/>
            <a:ext cx="3749040" cy="2697480"/>
          </a:xfrm>
          <a:prstGeom prst="rect">
            <a:avLst/>
          </a:prstGeom>
          <a:noFill/>
          <a:ln/>
        </p:spPr>
        <p:txBody>
          <a:bodyPr wrap="square" lIns="0" tIns="0" rIns="0" bIns="0" rtlCol="0" anchor="t"/>
          <a:lstStyle/>
          <a:p>
            <a:pPr algn="l" marL="342900" indent="-342900">
              <a:spcAft>
                <a:spcPts val="1000"/>
              </a:spcAft>
              <a:buSzPct val="100000"/>
              <a:buChar char="•"/>
            </a:pPr>
            <a:r>
              <a:rPr lang="en-US" sz="1400" dirty="0">
                <a:solidFill>
                  <a:schemeClr val="bg1"/>
                </a:solidFill>
              </a:rPr>
              <a:t>制御の量(kW)は未検証。有無の二値のみ</a:t>
            </a:r>
            <a:endParaRPr lang="en-US" sz="1400" dirty="0"/>
          </a:p>
          <a:p>
            <a:pPr algn="l" marL="342900" indent="-342900">
              <a:spcAft>
                <a:spcPts val="1000"/>
              </a:spcAft>
              <a:buSzPct val="100000"/>
              <a:buChar char="•"/>
            </a:pPr>
            <a:r>
              <a:rPr lang="en-US" sz="1400" dirty="0">
                <a:solidFill>
                  <a:schemeClr val="bg1"/>
                </a:solidFill>
              </a:rPr>
              <a:t>沖縄は44日と小標本。那覇以外の代表点を試す</a:t>
            </a:r>
            <a:endParaRPr lang="en-US" sz="1400" dirty="0"/>
          </a:p>
          <a:p>
            <a:pPr algn="l" marL="342900" indent="-342900">
              <a:spcAft>
                <a:spcPts val="1000"/>
              </a:spcAft>
              <a:buSzPct val="100000"/>
              <a:buChar char="•"/>
            </a:pPr>
            <a:r>
              <a:rPr lang="en-US" sz="1400" dirty="0">
                <a:solidFill>
                  <a:schemeClr val="bg1"/>
                </a:solidFill>
              </a:rPr>
              <a:t>沖縄電力のFY2026分公開後に予報の実績検証</a:t>
            </a:r>
            <a:endParaRPr lang="en-US" sz="1400" dirty="0"/>
          </a:p>
          <a:p>
            <a:pPr algn="l" marL="342900" indent="-342900">
              <a:spcAft>
                <a:spcPts val="1000"/>
              </a:spcAft>
              <a:buSzPct val="100000"/>
              <a:buChar char="•"/>
            </a:pPr>
            <a:r>
              <a:rPr lang="en-US" sz="1400" dirty="0">
                <a:solidFill>
                  <a:schemeClr val="bg1"/>
                </a:solidFill>
              </a:rPr>
              <a:t>多日分の予報ペアで分位点の対応を補正</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olar Curtailment">
  <a:themeElements>
    <a:clrScheme name="Solar Curtailment">
      <a:dk1>
        <a:srgbClr val="16202E"/>
      </a:dk1>
      <a:lt1>
        <a:srgbClr val="FFFFFF"/>
      </a:lt1>
      <a:dk2>
        <a:srgbClr val="24344D"/>
      </a:dk2>
      <a:lt2>
        <a:srgbClr val="F1F4F8"/>
      </a:lt2>
      <a:accent1>
        <a:srgbClr val="F2A900"/>
      </a:accent1>
      <a:accent2>
        <a:srgbClr val="2A6F97"/>
      </a:accent2>
      <a:accent3>
        <a:srgbClr val="D1495B"/>
      </a:accent3>
      <a:accent4>
        <a:srgbClr val="3A9D7A"/>
      </a:accent4>
      <a:accent5>
        <a:srgbClr val="5B6B80"/>
      </a:accent5>
      <a:accent6>
        <a:srgbClr val="8FB8D6"/>
      </a:accent6>
      <a:hlink>
        <a:srgbClr val="2A6F97"/>
      </a:hlink>
      <a:folHlink>
        <a:srgbClr val="5B6B80"/>
      </a:folHlink>
    </a:clrScheme>
    <a:fontScheme name="Solar Curtailment">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太陽光の出力制御は天気で説明できるか</dc:title>
  <dc:subject>九州・沖縄の出力制御実績データによる検証</dc:subject>
  <dc:creator>PptxGenJS</dc:creator>
  <cp:lastModifiedBy>PptxGenJS</cp:lastModifiedBy>
  <cp:revision>1</cp:revision>
  <dcterms:created xsi:type="dcterms:W3CDTF">2026-10-05T01:55:45Z</dcterms:created>
  <dcterms:modified xsi:type="dcterms:W3CDTF">2026-10-05T01:55:45Z</dcterms:modified>
</cp:coreProperties>
</file>