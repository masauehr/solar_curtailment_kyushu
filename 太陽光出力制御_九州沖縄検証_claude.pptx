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B2A41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1B2A41"/>
                </a:solidFill>
                <a:latin typeface="+mn-lt"/>
              </a:rPr>
              <a:t>発電量との相関係数 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全日</c:v>
                </c:pt>
              </c:strCache>
            </c:strRef>
          </c:tx>
          <c:spPr>
            <a:solidFill>
              <a:srgbClr val="7A8BA3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4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日照時間</c:v>
                  </c:pt>
                  <c:pt idx="1">
                    <c:v>全天日射量</c:v>
                  </c:pt>
                  <c:pt idx="2">
                    <c:v>AMGSDS模擬</c:v>
                  </c:pt>
                  <c:pt idx="3">
                    <c:v>簡略化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0.799</c:v>
                </c:pt>
                <c:pt idx="1">
                  <c:v>0.835</c:v>
                </c:pt>
                <c:pt idx="2">
                  <c:v>0.67</c:v>
                </c:pt>
                <c:pt idx="3">
                  <c:v>0.691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非制御日のみ</c:v>
                </c:pt>
              </c:strCache>
            </c:strRef>
          </c:tx>
          <c:spPr>
            <a:solidFill>
              <a:srgbClr val="2F6DB5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4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日照時間</c:v>
                  </c:pt>
                  <c:pt idx="1">
                    <c:v>全天日射量</c:v>
                  </c:pt>
                  <c:pt idx="2">
                    <c:v>AMGSDS模擬</c:v>
                  </c:pt>
                  <c:pt idx="3">
                    <c:v>簡略化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0.811</c:v>
                </c:pt>
                <c:pt idx="1">
                  <c:v>0.854</c:v>
                </c:pt>
                <c:pt idx="2">
                  <c:v>0.695</c:v>
                </c:pt>
                <c:pt idx="3">
                  <c:v>0.693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B2A4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4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.6"/>
        </c:scaling>
        <c:delete val="0"/>
        <c:axPos val="l"/>
        <c:majorGridlines>
          <c:spPr>
            <a:ln w="9525" cap="flat">
              <a:solidFill>
                <a:srgbClr val="D5DC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BA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A41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B2A41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1B2A41"/>
                </a:solidFill>
                <a:latin typeface="+mn-lt"/>
              </a:rPr>
              <a:t>日照の取り方ごとの ROC-AUC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ROC-AUC（フルモデル）</c:v>
                </c:pt>
              </c:strCache>
            </c:strRef>
          </c:tx>
          <c:spPr>
            <a:solidFill>
              <a:srgbClr val="2F6DB5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B2A4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福岡 単一点</c:v>
                  </c:pt>
                  <c:pt idx="1">
                    <c:v>AMeDAS 7県平均</c:v>
                  </c:pt>
                  <c:pt idx="2">
                    <c:v>AMGSDS メッシュ面平均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0.904</c:v>
                </c:pt>
                <c:pt idx="1">
                  <c:v>0.925</c:v>
                </c:pt>
                <c:pt idx="2">
                  <c:v>0.924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400" u="none">
                  <a:solidFill>
                    <a:srgbClr val="1B2A4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2A4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5"/>
          <c:min val="0.85"/>
        </c:scaling>
        <c:delete val="0"/>
        <c:axPos val="l"/>
        <c:majorGridlines>
          <c:spPr>
            <a:ln w="9525" cap="flat">
              <a:solidFill>
                <a:srgbClr val="D5DC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BA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0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出典: CORRECTIONS_LOG.md の訂正一覧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出典: CORRECTIONS_LOG.md の訂正一覧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A8B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A8B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n"/>
          <p:cNvSpPr/>
          <p:nvPr/>
        </p:nvSpPr>
        <p:spPr>
          <a:xfrm>
            <a:off x="8778240" y="822960"/>
            <a:ext cx="4023360" cy="4023360"/>
          </a:xfrm>
          <a:prstGeom prst="ellipse">
            <a:avLst/>
          </a:prstGeom>
          <a:solidFill>
            <a:srgbClr val="F2A900">
              <a:alpha val="88000"/>
            </a:srgbClr>
          </a:solidFill>
          <a:ln w="12700">
            <a:solidFill>
              <a:srgbClr val="F2A900">
                <a:alpha val="0"/>
              </a:srgbClr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731520" y="1554480"/>
            <a:ext cx="8686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太陽光の出力制御は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天気で説明できるか</a:t>
            </a:r>
            <a:endParaRPr lang="en-US" sz="4800" dirty="0"/>
          </a:p>
        </p:txBody>
      </p:sp>
      <p:sp>
        <p:nvSpPr>
          <p:cNvPr id="4" name="subtitle"/>
          <p:cNvSpPr txBox="1"/>
          <p:nvPr/>
        </p:nvSpPr>
        <p:spPr>
          <a:xfrm>
            <a:off x="731520" y="3749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2A9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九州 vs 沖縄 — 実際の制御実績での検証</a:t>
            </a:r>
            <a:endParaRPr lang="en-US" sz="2400" dirty="0"/>
          </a:p>
        </p:txBody>
      </p:sp>
      <p:sp>
        <p:nvSpPr>
          <p:cNvPr id="5" name="date"/>
          <p:cNvSpPr txBox="1"/>
          <p:nvPr/>
        </p:nvSpPr>
        <p:spPr>
          <a:xfrm>
            <a:off x="73152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4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solar_curtailment_kyushu ／ 2026-10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問いと結論</a:t>
            </a:r>
            <a:endParaRPr lang="en-US" sz="3200" dirty="0"/>
          </a:p>
        </p:txBody>
      </p:sp>
      <p:sp>
        <p:nvSpPr>
          <p:cNvPr id="3" name="lead"/>
          <p:cNvSpPr txBox="1"/>
          <p:nvPr/>
        </p:nvSpPr>
        <p:spPr>
          <a:xfrm>
            <a:off x="548640" y="137160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出力制御（カーテイルメント）は「晴天」と「低需要（休日・季節）」で説明できるか？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九州電力送配電・沖縄電力の実際の出力制御実績＋気象庁データで検証。結論: 説明できる。九州を本命に進めるのが妥当。</a:t>
            </a:r>
            <a:endParaRPr lang="en-US" sz="2000" dirty="0"/>
          </a:p>
        </p:txBody>
      </p:sp>
      <p:sp>
        <p:nvSpPr>
          <p:cNvPr id="4" name="s1-card"/>
          <p:cNvSpPr/>
          <p:nvPr/>
        </p:nvSpPr>
        <p:spPr>
          <a:xfrm>
            <a:off x="548640" y="2926080"/>
            <a:ext cx="3520440" cy="2468880"/>
          </a:xfrm>
          <a:prstGeom prst="roundRect">
            <a:avLst>
              <a:gd name="adj" fmla="val 4444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5" name="s1-value"/>
          <p:cNvSpPr txBox="1"/>
          <p:nvPr/>
        </p:nvSpPr>
        <p:spPr>
          <a:xfrm>
            <a:off x="548640" y="3108960"/>
            <a:ext cx="3520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2A9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 = 1.07</a:t>
            </a:r>
            <a:endParaRPr lang="en-US" sz="4400" dirty="0"/>
          </a:p>
        </p:txBody>
      </p:sp>
      <p:sp>
        <p:nvSpPr>
          <p:cNvPr id="6" name="s1-label"/>
          <p:cNvSpPr txBox="1"/>
          <p:nvPr/>
        </p:nvSpPr>
        <p:spPr>
          <a:xfrm>
            <a:off x="731520" y="4283964"/>
            <a:ext cx="31546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晴天: 制御日の日照時間 8.46h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vs 非制御日 4.58h</a:t>
            </a:r>
            <a:endParaRPr lang="en-US" sz="1500" dirty="0"/>
          </a:p>
        </p:txBody>
      </p:sp>
      <p:sp>
        <p:nvSpPr>
          <p:cNvPr id="7" name="s2-card"/>
          <p:cNvSpPr/>
          <p:nvPr/>
        </p:nvSpPr>
        <p:spPr>
          <a:xfrm>
            <a:off x="4343400" y="2926080"/>
            <a:ext cx="3520440" cy="2468880"/>
          </a:xfrm>
          <a:prstGeom prst="roundRect">
            <a:avLst>
              <a:gd name="adj" fmla="val 4444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8" name="s2-value"/>
          <p:cNvSpPr txBox="1"/>
          <p:nvPr/>
        </p:nvSpPr>
        <p:spPr>
          <a:xfrm>
            <a:off x="4343400" y="3108960"/>
            <a:ext cx="3520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F6DB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39.2%</a:t>
            </a:r>
            <a:endParaRPr lang="en-US" sz="4400" dirty="0"/>
          </a:p>
        </p:txBody>
      </p:sp>
      <p:sp>
        <p:nvSpPr>
          <p:cNvPr id="9" name="s2-label"/>
          <p:cNvSpPr txBox="1"/>
          <p:nvPr/>
        </p:nvSpPr>
        <p:spPr>
          <a:xfrm>
            <a:off x="4526280" y="4283964"/>
            <a:ext cx="31546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休日: 土日の割合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（カレンダー基準 28.6%）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ただし季節で大きく異なる</a:t>
            </a:r>
            <a:endParaRPr lang="en-US" sz="1500" dirty="0"/>
          </a:p>
        </p:txBody>
      </p:sp>
      <p:sp>
        <p:nvSpPr>
          <p:cNvPr id="10" name="s3-card"/>
          <p:cNvSpPr/>
          <p:nvPr/>
        </p:nvSpPr>
        <p:spPr>
          <a:xfrm>
            <a:off x="8138160" y="2926080"/>
            <a:ext cx="3520440" cy="2468880"/>
          </a:xfrm>
          <a:prstGeom prst="roundRect">
            <a:avLst>
              <a:gd name="adj" fmla="val 4444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1" name="s3-value"/>
          <p:cNvSpPr txBox="1"/>
          <p:nvPr/>
        </p:nvSpPr>
        <p:spPr>
          <a:xfrm>
            <a:off x="8138160" y="3108960"/>
            <a:ext cx="3520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E9E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0.925</a:t>
            </a:r>
            <a:endParaRPr lang="en-US" sz="4400" dirty="0"/>
          </a:p>
        </p:txBody>
      </p:sp>
      <p:sp>
        <p:nvSpPr>
          <p:cNvPr id="12" name="s3-label"/>
          <p:cNvSpPr txBox="1"/>
          <p:nvPr/>
        </p:nvSpPr>
        <p:spPr>
          <a:xfrm>
            <a:off x="8321040" y="4283964"/>
            <a:ext cx="31546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予測: 季節＋日照＋曜日の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ROC-AUC（九州）</a:t>
            </a:r>
            <a:endParaRPr lang="en-US" sz="1500" dirty="0"/>
          </a:p>
        </p:txBody>
      </p:sp>
      <p:sp>
        <p:nvSpPr>
          <p:cNvPr id="13" name="footnote"/>
          <p:cNvSpPr txBox="1"/>
          <p:nvPr/>
        </p:nvSpPr>
        <p:spPr>
          <a:xfrm>
            <a:off x="548640" y="5760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8B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Cohen's d は群間差を標準偏差で正規化した効果量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A8B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データと比較（九州 vs 沖縄）</a:t>
            </a:r>
            <a:endParaRPr lang="en-US" sz="3200" dirty="0"/>
          </a:p>
        </p:txBody>
      </p:sp>
      <p:graphicFrame>
        <p:nvGraphicFramePr>
          <p:cNvPr id="4" name="compare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840480"/>
                <a:gridCol w="393192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項目</a:t>
                      </a:r>
                      <a:endParaRPr lang="en-US" sz="17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九州</a:t>
                      </a:r>
                      <a:endParaRPr lang="en-US" sz="17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沖縄本島</a:t>
                      </a:r>
                      <a:endParaRPr lang="en-US" sz="17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B2A4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実績データ形式</a:t>
                      </a:r>
                      <a:endParaRPr lang="en-US" sz="17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B2A4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Excel（機械的にパース可）</a:t>
                      </a:r>
                      <a:endParaRPr lang="en-US" sz="17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B2A4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PDF（テキスト抽出が必要）</a:t>
                      </a:r>
                      <a:endParaRPr lang="en-US" sz="17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B2A4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対象期間</a:t>
                      </a:r>
                      <a:endParaRPr lang="en-US" sz="17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B2A4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2018〜2025年度（8年）</a:t>
                      </a:r>
                      <a:endParaRPr lang="en-US" sz="17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B2A4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2022〜2025年度（4年）</a:t>
                      </a:r>
                      <a:endParaRPr lang="en-US" sz="17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B2A4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制御日数</a:t>
                      </a:r>
                      <a:endParaRPr lang="en-US" sz="17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B2A4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715日</a:t>
                      </a:r>
                      <a:endParaRPr lang="en-US" sz="17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B2A4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44日</a:t>
                      </a:r>
                      <a:endParaRPr lang="en-US" sz="17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B2A4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土日の割合</a:t>
                      </a:r>
                      <a:endParaRPr lang="en-US" sz="17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B2A4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39.2%</a:t>
                      </a:r>
                      <a:endParaRPr lang="en-US" sz="17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B2A4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59.1%</a:t>
                      </a:r>
                      <a:endParaRPr lang="en-US" sz="17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B2A4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日照時間（制御 vs 非制御）</a:t>
                      </a:r>
                      <a:endParaRPr lang="en-US" sz="17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B2A4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8.46h vs 4.58h</a:t>
                      </a:r>
                      <a:endParaRPr lang="en-US" sz="17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B2A4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7.16h vs 4.84h</a:t>
                      </a:r>
                      <a:endParaRPr lang="en-US" sz="17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B2A4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Cohen's d</a:t>
                      </a:r>
                      <a:endParaRPr lang="en-US" sz="17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B2A4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1.07</a:t>
                      </a:r>
                      <a:endParaRPr lang="en-US" sz="17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B2A4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0.63</a:t>
                      </a:r>
                      <a:endParaRPr lang="en-US" sz="17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B2A4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判定</a:t>
                      </a:r>
                      <a:endParaRPr lang="en-US" sz="17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B2A4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GO</a:t>
                      </a:r>
                      <a:endParaRPr lang="en-US" sz="17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B2A4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一部GO（データ短く信号が弱い）</a:t>
                      </a:r>
                      <a:endParaRPr lang="en-US" sz="17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A8B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重大な訂正: 「制御日」の判定バグ</a:t>
            </a:r>
            <a:endParaRPr lang="en-US" sz="3200" dirty="0"/>
          </a:p>
        </p:txBody>
      </p:sp>
      <p:sp>
        <p:nvSpPr>
          <p:cNvPr id="3" name="bullets"/>
          <p:cNvSpPr txBox="1"/>
          <p:nvPr/>
        </p:nvSpPr>
        <p:spPr>
          <a:xfrm>
            <a:off x="548640" y="137160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実績報告書には2段階: </a:t>
            </a:r>
            <a:r>
              <a:rPr lang="en-US" sz="19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前日指示</a:t>
            </a:r>
            <a:r>
              <a:rPr lang="en-US" sz="19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（予報ベース）→ </a:t>
            </a:r>
            <a:r>
              <a:rPr lang="en-US" sz="19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速報</a:t>
            </a:r>
            <a:r>
              <a:rPr lang="en-US" sz="19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（当日実況で見直し）</a:t>
            </a:r>
            <a:endParaRPr lang="en-US" sz="19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当初は前日指示だけを読み、</a:t>
            </a:r>
            <a:r>
              <a:rPr lang="en-US" sz="19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当日の取り消しを見逃していた</a:t>
            </a:r>
            <a:r>
              <a:rPr lang="en-US" sz="19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（ユーザー指摘で発見）</a:t>
            </a:r>
            <a:endParaRPr lang="en-US" sz="1900" dirty="0"/>
          </a:p>
        </p:txBody>
      </p:sp>
      <p:sp>
        <p:nvSpPr>
          <p:cNvPr id="4" name="kyushu-label"/>
          <p:cNvSpPr txBox="1"/>
          <p:nvPr/>
        </p:nvSpPr>
        <p:spPr>
          <a:xfrm>
            <a:off x="548640" y="30175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九州の制御日数</a:t>
            </a:r>
            <a:endParaRPr lang="en-US" sz="1800" dirty="0"/>
          </a:p>
        </p:txBody>
      </p:sp>
      <p:sp>
        <p:nvSpPr>
          <p:cNvPr id="5" name="k-before-card"/>
          <p:cNvSpPr/>
          <p:nvPr/>
        </p:nvSpPr>
        <p:spPr>
          <a:xfrm>
            <a:off x="548640" y="347472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6" name="k-before-value"/>
          <p:cNvSpPr txBox="1"/>
          <p:nvPr/>
        </p:nvSpPr>
        <p:spPr>
          <a:xfrm>
            <a:off x="548640" y="36576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A8B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1,175日</a:t>
            </a:r>
            <a:endParaRPr lang="en-US" sz="4400" dirty="0"/>
          </a:p>
        </p:txBody>
      </p:sp>
      <p:sp>
        <p:nvSpPr>
          <p:cNvPr id="7" name="k-before-label"/>
          <p:cNvSpPr txBox="1"/>
          <p:nvPr/>
        </p:nvSpPr>
        <p:spPr>
          <a:xfrm>
            <a:off x="731520" y="44805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修正前</a:t>
            </a:r>
            <a:endParaRPr lang="en-US" sz="1500" dirty="0"/>
          </a:p>
        </p:txBody>
      </p:sp>
      <p:sp>
        <p:nvSpPr>
          <p:cNvPr id="8" name="k-arrow"/>
          <p:cNvSpPr txBox="1"/>
          <p:nvPr/>
        </p:nvSpPr>
        <p:spPr>
          <a:xfrm>
            <a:off x="3017520" y="384048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2800" dirty="0"/>
          </a:p>
        </p:txBody>
      </p:sp>
      <p:sp>
        <p:nvSpPr>
          <p:cNvPr id="9" name="k-after-card"/>
          <p:cNvSpPr/>
          <p:nvPr/>
        </p:nvSpPr>
        <p:spPr>
          <a:xfrm>
            <a:off x="3474720" y="347472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0" name="k-after-value"/>
          <p:cNvSpPr txBox="1"/>
          <p:nvPr/>
        </p:nvSpPr>
        <p:spPr>
          <a:xfrm>
            <a:off x="3474720" y="36576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2A9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715日</a:t>
            </a:r>
            <a:endParaRPr lang="en-US" sz="4400" dirty="0"/>
          </a:p>
        </p:txBody>
      </p:sp>
      <p:sp>
        <p:nvSpPr>
          <p:cNvPr id="11" name="k-after-label"/>
          <p:cNvSpPr txBox="1"/>
          <p:nvPr/>
        </p:nvSpPr>
        <p:spPr>
          <a:xfrm>
            <a:off x="3657600" y="44805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修正後（-39%）</a:t>
            </a:r>
            <a:endParaRPr lang="en-US" sz="1500" dirty="0"/>
          </a:p>
        </p:txBody>
      </p:sp>
      <p:sp>
        <p:nvSpPr>
          <p:cNvPr id="12" name="okinawa-label"/>
          <p:cNvSpPr txBox="1"/>
          <p:nvPr/>
        </p:nvSpPr>
        <p:spPr>
          <a:xfrm>
            <a:off x="6309360" y="30175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沖縄の制御日数</a:t>
            </a:r>
            <a:endParaRPr lang="en-US" sz="1800" dirty="0"/>
          </a:p>
        </p:txBody>
      </p:sp>
      <p:sp>
        <p:nvSpPr>
          <p:cNvPr id="13" name="o-before-card"/>
          <p:cNvSpPr/>
          <p:nvPr/>
        </p:nvSpPr>
        <p:spPr>
          <a:xfrm>
            <a:off x="6309360" y="347472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4" name="o-before-value"/>
          <p:cNvSpPr txBox="1"/>
          <p:nvPr/>
        </p:nvSpPr>
        <p:spPr>
          <a:xfrm>
            <a:off x="6309360" y="36576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A8B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160日</a:t>
            </a:r>
            <a:endParaRPr lang="en-US" sz="4400" dirty="0"/>
          </a:p>
        </p:txBody>
      </p:sp>
      <p:sp>
        <p:nvSpPr>
          <p:cNvPr id="15" name="o-before-label"/>
          <p:cNvSpPr txBox="1"/>
          <p:nvPr/>
        </p:nvSpPr>
        <p:spPr>
          <a:xfrm>
            <a:off x="6492240" y="44805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修正前</a:t>
            </a:r>
            <a:endParaRPr lang="en-US" sz="1500" dirty="0"/>
          </a:p>
        </p:txBody>
      </p:sp>
      <p:sp>
        <p:nvSpPr>
          <p:cNvPr id="16" name="o-arrow"/>
          <p:cNvSpPr txBox="1"/>
          <p:nvPr/>
        </p:nvSpPr>
        <p:spPr>
          <a:xfrm>
            <a:off x="8778240" y="384048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2800" dirty="0"/>
          </a:p>
        </p:txBody>
      </p:sp>
      <p:sp>
        <p:nvSpPr>
          <p:cNvPr id="17" name="o-after-card"/>
          <p:cNvSpPr/>
          <p:nvPr/>
        </p:nvSpPr>
        <p:spPr>
          <a:xfrm>
            <a:off x="9235440" y="3474720"/>
            <a:ext cx="2377440" cy="182880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8" name="o-after-value"/>
          <p:cNvSpPr txBox="1"/>
          <p:nvPr/>
        </p:nvSpPr>
        <p:spPr>
          <a:xfrm>
            <a:off x="9235440" y="36576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2A9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44日</a:t>
            </a:r>
            <a:endParaRPr lang="en-US" sz="4400" dirty="0"/>
          </a:p>
        </p:txBody>
      </p:sp>
      <p:sp>
        <p:nvSpPr>
          <p:cNvPr id="19" name="o-after-label"/>
          <p:cNvSpPr txBox="1"/>
          <p:nvPr/>
        </p:nvSpPr>
        <p:spPr>
          <a:xfrm>
            <a:off x="9418320" y="44805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修正後（-72.5%）</a:t>
            </a:r>
            <a:endParaRPr lang="en-US" sz="1500" dirty="0"/>
          </a:p>
        </p:txBody>
      </p:sp>
      <p:sp>
        <p:nvSpPr>
          <p:cNvPr id="20" name="takeaway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6DB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ノイズが除かれ、信号はむしろ強くなった（日照時間 d: 0.73→1.07、AUC: 0.852→0.904）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A8B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晴れた日に制御が多い</a:t>
            </a:r>
            <a:endParaRPr lang="en-US" sz="3200" dirty="0"/>
          </a:p>
        </p:txBody>
      </p:sp>
      <p:pic>
        <p:nvPicPr>
          <p:cNvPr id="3" name="fig-scatter" descr="日照時間と出力制御の散布図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96" y="1463040"/>
            <a:ext cx="10424160" cy="4343400"/>
          </a:xfrm>
          <a:prstGeom prst="rect">
            <a:avLst/>
          </a:prstGeom>
        </p:spPr>
      </p:pic>
      <p:sp>
        <p:nvSpPr>
          <p:cNvPr id="4" name="caption"/>
          <p:cNvSpPr txBox="1"/>
          <p:nvPr/>
        </p:nvSpPr>
        <p:spPr>
          <a:xfrm>
            <a:off x="548640" y="5943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曜日を統制（日曜のみ）しても差は残る: 7.93h vs 3.67h（Cohen's d=1.26）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A8B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土日に多い — ただし季節で正反対</a:t>
            </a:r>
            <a:endParaRPr lang="en-US" sz="3200" dirty="0"/>
          </a:p>
        </p:txBody>
      </p:sp>
      <p:sp>
        <p:nvSpPr>
          <p:cNvPr id="3" name="season-card-0"/>
          <p:cNvSpPr/>
          <p:nvPr/>
        </p:nvSpPr>
        <p:spPr>
          <a:xfrm>
            <a:off x="548640" y="146304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4" name="season-dot-0"/>
          <p:cNvSpPr/>
          <p:nvPr/>
        </p:nvSpPr>
        <p:spPr>
          <a:xfrm>
            <a:off x="822960" y="1737360"/>
            <a:ext cx="457200" cy="457200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5" name="season-title-0"/>
          <p:cNvSpPr txBox="1"/>
          <p:nvPr/>
        </p:nvSpPr>
        <p:spPr>
          <a:xfrm>
            <a:off x="1417320" y="16916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春（3〜5月）</a:t>
            </a:r>
            <a:endParaRPr lang="en-US" sz="2000" dirty="0"/>
          </a:p>
        </p:txBody>
      </p:sp>
      <p:sp>
        <p:nvSpPr>
          <p:cNvPr id="6" name="season-body-0"/>
          <p:cNvSpPr txBox="1"/>
          <p:nvPr/>
        </p:nvSpPr>
        <p:spPr>
          <a:xfrm>
            <a:off x="822960" y="246888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制御日数が多い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土日の割合 29〜34%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需要が少なく平日も供給過多</a:t>
            </a:r>
            <a:endParaRPr lang="en-US" sz="1600" dirty="0"/>
          </a:p>
        </p:txBody>
      </p:sp>
      <p:sp>
        <p:nvSpPr>
          <p:cNvPr id="7" name="season-card-1"/>
          <p:cNvSpPr/>
          <p:nvPr/>
        </p:nvSpPr>
        <p:spPr>
          <a:xfrm>
            <a:off x="4343400" y="146304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8" name="season-dot-1"/>
          <p:cNvSpPr/>
          <p:nvPr/>
        </p:nvSpPr>
        <p:spPr>
          <a:xfrm>
            <a:off x="4617720" y="1737360"/>
            <a:ext cx="457200" cy="45720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9" name="season-title-1"/>
          <p:cNvSpPr txBox="1"/>
          <p:nvPr/>
        </p:nvSpPr>
        <p:spPr>
          <a:xfrm>
            <a:off x="5212080" y="16916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夏〜初秋（7〜9月）</a:t>
            </a:r>
            <a:endParaRPr lang="en-US" sz="2000" dirty="0"/>
          </a:p>
        </p:txBody>
      </p:sp>
      <p:sp>
        <p:nvSpPr>
          <p:cNvPr id="10" name="season-body-1"/>
          <p:cNvSpPr txBox="1"/>
          <p:nvPr/>
        </p:nvSpPr>
        <p:spPr>
          <a:xfrm>
            <a:off x="4617720" y="246888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制御日数が少ない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土日の割合 83〜100%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冷房需要で平日は高く、土日だけ供給過多</a:t>
            </a:r>
            <a:endParaRPr lang="en-US" sz="1600" dirty="0"/>
          </a:p>
        </p:txBody>
      </p:sp>
      <p:sp>
        <p:nvSpPr>
          <p:cNvPr id="11" name="season-card-2"/>
          <p:cNvSpPr/>
          <p:nvPr/>
        </p:nvSpPr>
        <p:spPr>
          <a:xfrm>
            <a:off x="8138160" y="146304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2" name="season-dot-2"/>
          <p:cNvSpPr/>
          <p:nvPr/>
        </p:nvSpPr>
        <p:spPr>
          <a:xfrm>
            <a:off x="8412480" y="1737360"/>
            <a:ext cx="457200" cy="457200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13" name="season-title-2"/>
          <p:cNvSpPr txBox="1"/>
          <p:nvPr/>
        </p:nvSpPr>
        <p:spPr>
          <a:xfrm>
            <a:off x="9006840" y="16916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秋冬（10〜2月）</a:t>
            </a:r>
            <a:endParaRPr lang="en-US" sz="2000" dirty="0"/>
          </a:p>
        </p:txBody>
      </p:sp>
      <p:sp>
        <p:nvSpPr>
          <p:cNvPr id="14" name="season-body-2"/>
          <p:cNvSpPr txBox="1"/>
          <p:nvPr/>
        </p:nvSpPr>
        <p:spPr>
          <a:xfrm>
            <a:off x="8412480" y="246888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制御日数は中程度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土日の割合 41〜56%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中間的なパターン</a:t>
            </a:r>
            <a:endParaRPr lang="en-US" sz="1600" dirty="0"/>
          </a:p>
        </p:txBody>
      </p:sp>
      <p:sp>
        <p:nvSpPr>
          <p:cNvPr id="15" name="bullets"/>
          <p:cNvSpPr txBox="1"/>
          <p:nvPr/>
        </p:nvSpPr>
        <p:spPr>
          <a:xfrm>
            <a:off x="548640" y="484632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全体の39.2%は</a:t>
            </a:r>
            <a:r>
              <a:rPr lang="en-US" sz="18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全く異なる2つの季節パターンの平均</a:t>
            </a:r>
            <a:endParaRPr lang="en-US" sz="18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沖縄は5〜10月の制御が</a:t>
            </a:r>
            <a:r>
              <a:rPr lang="en-US" sz="18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0日</a:t>
            </a: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（季節が制御の有無を分ける）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A8B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日照時間 vs 全天日射量: 目的変数で逆転</a:t>
            </a:r>
            <a:endParaRPr lang="en-US" sz="3200" dirty="0"/>
          </a:p>
        </p:txBody>
      </p:sp>
      <p:sp>
        <p:nvSpPr>
          <p:cNvPr id="3" name="card-binary"/>
          <p:cNvSpPr/>
          <p:nvPr/>
        </p:nvSpPr>
        <p:spPr>
          <a:xfrm>
            <a:off x="548640" y="1463040"/>
            <a:ext cx="4937760" cy="2103120"/>
          </a:xfrm>
          <a:prstGeom prst="roundRect">
            <a:avLst>
              <a:gd name="adj" fmla="val 5217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4" name="binary-text"/>
          <p:cNvSpPr txBox="1"/>
          <p:nvPr/>
        </p:nvSpPr>
        <p:spPr>
          <a:xfrm>
            <a:off x="822960" y="1645920"/>
            <a:ext cx="4389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9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出力制御の有無（二値）</a:t>
            </a:r>
            <a:endParaRPr lang="en-US" sz="1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日照時間の方が判別力が高い</a:t>
            </a:r>
            <a:endParaRPr lang="en-US" sz="1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制御は「昼ピークで供給が需要を超えるか」という閾値イベントのため</a:t>
            </a:r>
            <a:endParaRPr lang="en-US" sz="1900" dirty="0"/>
          </a:p>
        </p:txBody>
      </p:sp>
      <p:sp>
        <p:nvSpPr>
          <p:cNvPr id="5" name="card-continuous"/>
          <p:cNvSpPr/>
          <p:nvPr/>
        </p:nvSpPr>
        <p:spPr>
          <a:xfrm>
            <a:off x="548640" y="3840480"/>
            <a:ext cx="4937760" cy="2103120"/>
          </a:xfrm>
          <a:prstGeom prst="roundRect">
            <a:avLst>
              <a:gd name="adj" fmla="val 5217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6" name="continuous-text"/>
          <p:cNvSpPr txBox="1"/>
          <p:nvPr/>
        </p:nvSpPr>
        <p:spPr>
          <a:xfrm>
            <a:off x="822960" y="4023360"/>
            <a:ext cx="4389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9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発電量（連続量）</a:t>
            </a:r>
            <a:endParaRPr lang="en-US" sz="1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全天日射量の方が相関が高い（r=0.835 vs 0.799）</a:t>
            </a:r>
            <a:endParaRPr lang="en-US" sz="1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積算量そのものが発電量に直結するため</a:t>
            </a:r>
            <a:endParaRPr lang="en-US" sz="1900" dirty="0"/>
          </a:p>
        </p:txBody>
      </p:sp>
      <p:graphicFrame>
        <p:nvGraphicFramePr>
          <p:cNvPr id="7" name="chart-corr" descr=""/>
          <p:cNvGraphicFramePr/>
          <p:nvPr/>
        </p:nvGraphicFramePr>
        <p:xfrm>
          <a:off x="5852160" y="1371600"/>
          <a:ext cx="585216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A8B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ロジスティック回帰でどこまで予測できるか（九州）</a:t>
            </a:r>
            <a:endParaRPr lang="en-US" sz="3200" dirty="0"/>
          </a:p>
        </p:txBody>
      </p:sp>
      <p:graphicFrame>
        <p:nvGraphicFramePr>
          <p:cNvPr id="9" name="auc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585216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182880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特徴量</a:t>
                      </a:r>
                      <a:endParaRPr lang="en-US" sz="17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ROC-AUC</a:t>
                      </a:r>
                      <a:endParaRPr lang="en-US" sz="17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B2A4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曜日（土日祝）のみ</a:t>
                      </a:r>
                      <a:endParaRPr lang="en-US" sz="17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B2A4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0.571</a:t>
                      </a:r>
                      <a:endParaRPr lang="en-US" sz="17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B2A4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日照時間のみ</a:t>
                      </a:r>
                      <a:endParaRPr lang="en-US" sz="17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B2A4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0.756</a:t>
                      </a:r>
                      <a:endParaRPr lang="en-US" sz="17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B2A4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日照時間＋曜日</a:t>
                      </a:r>
                      <a:endParaRPr lang="en-US" sz="17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B2A4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0.777</a:t>
                      </a:r>
                      <a:endParaRPr lang="en-US" sz="17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B2A4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＋季節（月）＋トレンド</a:t>
                      </a:r>
                      <a:endParaRPr lang="en-US" sz="17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B2A4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0.904</a:t>
                      </a:r>
                      <a:endParaRPr lang="en-US" sz="17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B2A4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日照を九州7県平均に（面で見る）</a:t>
                      </a:r>
                      <a:endParaRPr lang="en-US" sz="17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B2A4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0.925</a:t>
                      </a:r>
                      <a:endParaRPr lang="en-US" sz="17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bullets"/>
          <p:cNvSpPr txBox="1"/>
          <p:nvPr/>
        </p:nvSpPr>
        <p:spPr>
          <a:xfrm>
            <a:off x="6858000" y="1554480"/>
            <a:ext cx="47548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時系列分割（前70%学習／後30%評価）で評価</a:t>
            </a:r>
            <a:endParaRPr lang="en-US" sz="18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季節（月）は日照・曜日に匹敵する強力な予測因子</a:t>
            </a:r>
            <a:endParaRPr lang="en-US" sz="18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トレンド項で再現率 0.241→0.515（太陽光導入量の増加による分布シフトを補正）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A8B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AUC改善の流れ</a:t>
            </a:r>
            <a:endParaRPr lang="en-US" sz="3200" dirty="0"/>
          </a:p>
        </p:txBody>
      </p:sp>
      <p:pic>
        <p:nvPicPr>
          <p:cNvPr id="3" name="fig-auc-journey" descr="AUCの改善の流れ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8156" y="1371600"/>
            <a:ext cx="9692640" cy="4846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A8B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点より面: 九州全体で見ると精度が上がる</a:t>
            </a:r>
            <a:endParaRPr lang="en-US" sz="3200" dirty="0"/>
          </a:p>
        </p:txBody>
      </p:sp>
      <p:graphicFrame>
        <p:nvGraphicFramePr>
          <p:cNvPr id="3" name="chart-point-vs-area" descr=""/>
          <p:cNvGraphicFramePr/>
          <p:nvPr/>
        </p:nvGraphicFramePr>
        <p:xfrm>
          <a:off x="548640" y="1371600"/>
          <a:ext cx="60350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bullets"/>
          <p:cNvSpPr txBox="1"/>
          <p:nvPr/>
        </p:nvSpPr>
        <p:spPr>
          <a:xfrm>
            <a:off x="7040880" y="1554480"/>
            <a:ext cx="45720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制御は九州全域の系統で起きる現象 → 1点より</a:t>
            </a:r>
            <a:r>
              <a:rPr lang="en-US" sz="18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面</a:t>
            </a: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が適切</a:t>
            </a:r>
            <a:endParaRPr lang="en-US" sz="18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高解像度メッシュ不要</a:t>
            </a: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: 気象官署7点の平均で十分（運用コストも低い）</a:t>
            </a:r>
            <a:endParaRPr lang="en-US" sz="18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トレンド項を実導入容量（738万→1,270万kW）に置換してもAUCは不変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A8B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低日射量でも制御がある日の要因</a:t>
            </a:r>
            <a:endParaRPr lang="en-US" sz="3200" dirty="0"/>
          </a:p>
        </p:txBody>
      </p:sp>
      <p:pic>
        <p:nvPicPr>
          <p:cNvPr id="3" name="fig-low-sun" descr="全天日射量10分位ごとの制御率と風力・需要の比較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5356" y="1325880"/>
            <a:ext cx="8778240" cy="3657600"/>
          </a:xfrm>
          <a:prstGeom prst="rect">
            <a:avLst/>
          </a:prstGeom>
        </p:spPr>
      </p:pic>
      <p:sp>
        <p:nvSpPr>
          <p:cNvPr id="4" name="bullets"/>
          <p:cNvSpPr txBox="1"/>
          <p:nvPr/>
        </p:nvSpPr>
        <p:spPr>
          <a:xfrm>
            <a:off x="548640" y="521208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日射量下位20%帯の制御日8日のうち、6〜7日は</a:t>
            </a:r>
            <a:r>
              <a:rPr lang="en-US" sz="17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風力・需要低下</a:t>
            </a:r>
            <a:r>
              <a:rPr lang="en-US" sz="17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で説明可能</a:t>
            </a:r>
            <a:endParaRPr lang="en-US" sz="17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1日（2025-02-14）は未解明。基本構造（晴れ×低需要）は揺るがない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A8B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前日判断と当日判断の比較</a:t>
            </a:r>
            <a:endParaRPr lang="en-US" sz="3200" dirty="0"/>
          </a:p>
        </p:txBody>
      </p:sp>
      <p:graphicFrame>
        <p:nvGraphicFramePr>
          <p:cNvPr id="13" name="advance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926080"/>
                <a:gridCol w="2926080"/>
                <a:gridCol w="2926080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前日指示のみ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最終決定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取り消し率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A4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九州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2A4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1,170日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2A4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715日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2A4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39.4%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A4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沖縄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2A4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160日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2A4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44日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2A4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72.5%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  <p:sp>
        <p:nvSpPr>
          <p:cNvPr id="4" name="robust-card"/>
          <p:cNvSpPr/>
          <p:nvPr/>
        </p:nvSpPr>
        <p:spPr>
          <a:xfrm>
            <a:off x="548640" y="374904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5" name="robust-value"/>
          <p:cNvSpPr txBox="1"/>
          <p:nvPr/>
        </p:nvSpPr>
        <p:spPr>
          <a:xfrm>
            <a:off x="548640" y="3931920"/>
            <a:ext cx="5394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E9E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同じ「形」</a:t>
            </a:r>
            <a:endParaRPr lang="en-US" sz="4400" dirty="0"/>
          </a:p>
        </p:txBody>
      </p:sp>
      <p:sp>
        <p:nvSpPr>
          <p:cNvPr id="6" name="robust-label"/>
          <p:cNvSpPr txBox="1"/>
          <p:nvPr/>
        </p:nvSpPr>
        <p:spPr>
          <a:xfrm>
            <a:off x="731520" y="4905756"/>
            <a:ext cx="5029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曜日・季節パターンは前日の見通しから存在する頑健な傾向</a:t>
            </a:r>
            <a:endParaRPr lang="en-US" sz="1500" dirty="0"/>
          </a:p>
        </p:txBody>
      </p:sp>
      <p:sp>
        <p:nvSpPr>
          <p:cNvPr id="7" name="okinawa-cancel-card"/>
          <p:cNvSpPr/>
          <p:nvPr/>
        </p:nvSpPr>
        <p:spPr>
          <a:xfrm>
            <a:off x="6217920" y="374904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8" name="okinawa-cancel-value"/>
          <p:cNvSpPr txBox="1"/>
          <p:nvPr/>
        </p:nvSpPr>
        <p:spPr>
          <a:xfrm>
            <a:off x="6217920" y="3931920"/>
            <a:ext cx="5394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149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72.5%</a:t>
            </a:r>
            <a:endParaRPr lang="en-US" sz="4400" dirty="0"/>
          </a:p>
        </p:txBody>
      </p:sp>
      <p:sp>
        <p:nvSpPr>
          <p:cNvPr id="9" name="okinawa-cancel-label"/>
          <p:cNvSpPr txBox="1"/>
          <p:nvPr/>
        </p:nvSpPr>
        <p:spPr>
          <a:xfrm>
            <a:off x="6400800" y="4905756"/>
            <a:ext cx="5029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沖縄は予報と実況のズレが大きく、相関が弱い一因と考えられる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A8B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予報の使い方: AMGSDSは「正確」ではなかった</a:t>
            </a:r>
            <a:endParaRPr lang="en-US" sz="3200" dirty="0"/>
          </a:p>
        </p:txBody>
      </p:sp>
      <p:sp>
        <p:nvSpPr>
          <p:cNvPr id="3" name="amgsds-card-0"/>
          <p:cNvSpPr/>
          <p:nvPr/>
        </p:nvSpPr>
        <p:spPr>
          <a:xfrm>
            <a:off x="548640" y="141732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4" name="amgsds-num-0"/>
          <p:cNvSpPr txBox="1"/>
          <p:nvPr/>
        </p:nvSpPr>
        <p:spPr>
          <a:xfrm>
            <a:off x="731520" y="1417320"/>
            <a:ext cx="2194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F6DB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5h</a:t>
            </a:r>
            <a:endParaRPr lang="en-US" sz="3600" dirty="0"/>
          </a:p>
        </p:txBody>
      </p:sp>
      <p:sp>
        <p:nvSpPr>
          <p:cNvPr id="5" name="amgsds-text-0"/>
          <p:cNvSpPr txBox="1"/>
          <p:nvPr/>
        </p:nvSpPr>
        <p:spPr>
          <a:xfrm>
            <a:off x="3108960" y="1508760"/>
            <a:ext cx="8229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快晴日に過少評価</a:t>
            </a:r>
            <a:endParaRPr lang="en-US" sz="1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AMGSDSの日照予報は快晴日に約5h過少評価（那覇、n=21）。快晴日は制御が最も起きやすい日で不利</a:t>
            </a:r>
            <a:endParaRPr lang="en-US" sz="1900" dirty="0"/>
          </a:p>
        </p:txBody>
      </p:sp>
      <p:sp>
        <p:nvSpPr>
          <p:cNvPr id="6" name="amgsds-card-1"/>
          <p:cNvSpPr/>
          <p:nvPr/>
        </p:nvSpPr>
        <p:spPr>
          <a:xfrm>
            <a:off x="548640" y="301752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7" name="amgsds-num-1"/>
          <p:cNvSpPr txBox="1"/>
          <p:nvPr/>
        </p:nvSpPr>
        <p:spPr>
          <a:xfrm>
            <a:off x="731520" y="3017520"/>
            <a:ext cx="2194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F6DB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0.768</a:t>
            </a:r>
            <a:endParaRPr lang="en-US" sz="3600" dirty="0"/>
          </a:p>
        </p:txBody>
      </p:sp>
      <p:sp>
        <p:nvSpPr>
          <p:cNvPr id="8" name="amgsds-text-1"/>
          <p:cNvSpPr txBox="1"/>
          <p:nvPr/>
        </p:nvSpPr>
        <p:spPr>
          <a:xfrm>
            <a:off x="3108960" y="3108960"/>
            <a:ext cx="8229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簡略化 vs AMGSDS模擬 0.706</a:t>
            </a:r>
            <a:endParaRPr lang="en-US" sz="1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バックテストの ROC-AUC は簡略化（天気カテゴリ→分位点）の方が上</a:t>
            </a:r>
            <a:endParaRPr lang="en-US" sz="1900" dirty="0"/>
          </a:p>
        </p:txBody>
      </p:sp>
      <p:sp>
        <p:nvSpPr>
          <p:cNvPr id="9" name="amgsds-card-2"/>
          <p:cNvSpPr/>
          <p:nvPr/>
        </p:nvSpPr>
        <p:spPr>
          <a:xfrm>
            <a:off x="548640" y="461772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0" name="amgsds-num-2"/>
          <p:cNvSpPr txBox="1"/>
          <p:nvPr/>
        </p:nvSpPr>
        <p:spPr>
          <a:xfrm>
            <a:off x="731520" y="4617720"/>
            <a:ext cx="2194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F6DB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10/06</a:t>
            </a:r>
            <a:endParaRPr lang="en-US" sz="3600" dirty="0"/>
          </a:p>
        </p:txBody>
      </p:sp>
      <p:sp>
        <p:nvSpPr>
          <p:cNvPr id="11" name="amgsds-text-2"/>
          <p:cNvSpPr txBox="1"/>
          <p:nvPr/>
        </p:nvSpPr>
        <p:spPr>
          <a:xfrm>
            <a:off x="3108960" y="4709160"/>
            <a:ext cx="8229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方針変更</a:t>
            </a:r>
            <a:endParaRPr lang="en-US" sz="1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AMGSDS依存を廃止し、気象庁の天気予報（7県集約）だけで完結。3段階判定（低&lt;30%・中&lt;60%・高≥60%）をClaudeが平文で補足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A8B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ユーザー指摘による訂正一覧（1/2）</a:t>
            </a:r>
            <a:endParaRPr lang="en-US" sz="3200" dirty="0"/>
          </a:p>
        </p:txBody>
      </p:sp>
      <p:graphicFrame>
        <p:nvGraphicFramePr>
          <p:cNvPr id="15" name="corrections-table-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200400"/>
                <a:gridCol w="3108960"/>
                <a:gridCol w="42976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#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ユーザーの指摘・質問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当初の問題点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調査・結果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「日照時間より全天日射量の方が発電量との相関が良いが、日射量でも調べた？」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出力制御の判別力（二値）しか見ておらず、全天日射量を試していなかった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制御の判別には日照時間の方が強い（逆の結果）。後に発電量（連続量）では日射量が強いと判明＝目的変数で最適指標が違う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「AMGSDSの日照予報は快晴時に過少。気象庁予報より精度が良いかは不明。過去の制御データで検証できるか？」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「AMGSDSの方が正確」と断定。過去日付の応答が実況（解析値）と気づいていなかった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検証方法を訂正し予報vintage検証を再確認。快晴日に約-5hの過少評価で、優劣はつけられないと訂正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「ml_forecastの沖縄の日照予報の期間で、出力制御の検証はできるか」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（検証を試みる前）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予報アーカイブ（2026年5月〜）と沖縄の制御データ（〜2026年3月）に重複なし。検証不可と明記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「出力制御日は土日に多いというのは、季節による変動はないのか？」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季節を区別せず「土日の割合37.4%」を1つの数字で結論づけた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月別に集計し、季節で正反対の2パターン（春=頻発・曜日差小、夏〜初秋=希少・土日に偏る）が混在と判明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A8B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ユーザー指摘による訂正一覧（2/2）</a:t>
            </a:r>
            <a:endParaRPr lang="en-US" sz="3200" dirty="0"/>
          </a:p>
        </p:txBody>
      </p:sp>
      <p:graphicFrame>
        <p:nvGraphicFramePr>
          <p:cNvPr id="16" name="corrections-table-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200400"/>
                <a:gridCol w="3108960"/>
                <a:gridCol w="42976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#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ユーザーの指摘・質問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当初の問題点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調査・結果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「reportの図も季節別の分析に対応させて変更した？まとめも」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季節変動を文章に書いただけで、図・モデル・まとめ表に未反映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月をダミー変数としてロジスティック回帰に追加。AUC 0.669→0.852。季節が最強の予測因子と判明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「発電量の比較は風力も入れているが日射量と無関係。太陽光のみのデータはないのか？」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風力＋太陽光の合計を、太陽光単独の相関として報告していた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太陽光単独の実績（旧形式＋新形式）を取得。相関が強まり（全天日射量 r 0.819→0.835）データの正確性が向上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「太陽光発電量は、電力会社が太陽光発電の電力を買った量？」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「発電量」を無頓着に使用（パネルの発電能力と誤解されうる）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出典を確認し「系統に実際に流れ込んだ出力」と定義。README・REPORT・docstringに明記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「⑧図の相関図がわからない。日射量が小さい領域では出力制御をかけないのでは？」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【最重要】制御日を前日指示だけで判定し、当日速報による取り消しを無視していた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速報優先に修正。九州1175→715日、沖縄160→44日。全分析を再計算し信号が大幅に強化（d 0.73→1.07、AUC 0.852→0.904）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A8B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限界と今後</a:t>
            </a:r>
            <a:endParaRPr lang="en-US" sz="3200" dirty="0"/>
          </a:p>
        </p:txBody>
      </p:sp>
      <p:sp>
        <p:nvSpPr>
          <p:cNvPr id="3" name="dot-0"/>
          <p:cNvSpPr/>
          <p:nvPr/>
        </p:nvSpPr>
        <p:spPr>
          <a:xfrm>
            <a:off x="548640" y="1463040"/>
            <a:ext cx="365760" cy="365760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4" name="head-0"/>
          <p:cNvSpPr txBox="1"/>
          <p:nvPr/>
        </p:nvSpPr>
        <p:spPr>
          <a:xfrm>
            <a:off x="1051560" y="141732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限界</a:t>
            </a:r>
            <a:endParaRPr lang="en-US" sz="2200" dirty="0"/>
          </a:p>
        </p:txBody>
      </p:sp>
      <p:sp>
        <p:nvSpPr>
          <p:cNvPr id="5" name="list-0"/>
          <p:cNvSpPr txBox="1"/>
          <p:nvPr/>
        </p:nvSpPr>
        <p:spPr>
          <a:xfrm>
            <a:off x="548640" y="210312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制御の</a:t>
            </a:r>
            <a:r>
              <a:rPr lang="en-US" sz="20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量</a:t>
            </a:r>
            <a:r>
              <a:rPr lang="en-US" sz="20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（kW）は未検証（有無の二値のみ）</a:t>
            </a:r>
            <a:endParaRPr lang="en-US" sz="20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沖縄は那覇1地点で代表させており、相関の弱さの原因を分離できていない</a:t>
            </a:r>
            <a:endParaRPr lang="en-US" sz="20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天気予報→日照時間は分位点による簡略化（参考情報の位置づけ）</a:t>
            </a:r>
            <a:endParaRPr lang="en-US" sz="20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予報アーカイブが無く、予報手法の実績での直接検証は不可</a:t>
            </a:r>
            <a:endParaRPr lang="en-US" sz="2000" dirty="0"/>
          </a:p>
        </p:txBody>
      </p:sp>
      <p:sp>
        <p:nvSpPr>
          <p:cNvPr id="6" name="dot-1"/>
          <p:cNvSpPr/>
          <p:nvPr/>
        </p:nvSpPr>
        <p:spPr>
          <a:xfrm>
            <a:off x="6217920" y="1463040"/>
            <a:ext cx="365760" cy="365760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7" name="head-1"/>
          <p:cNvSpPr txBox="1"/>
          <p:nvPr/>
        </p:nvSpPr>
        <p:spPr>
          <a:xfrm>
            <a:off x="6720840" y="141732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次にやること</a:t>
            </a:r>
            <a:endParaRPr lang="en-US" sz="2200" dirty="0"/>
          </a:p>
        </p:txBody>
      </p:sp>
      <p:sp>
        <p:nvSpPr>
          <p:cNvPr id="8" name="list-1"/>
          <p:cNvSpPr txBox="1"/>
          <p:nvPr/>
        </p:nvSpPr>
        <p:spPr>
          <a:xfrm>
            <a:off x="6217920" y="210312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沖縄の代表点見直し／FY2026分公開後の再検証</a:t>
            </a:r>
            <a:endParaRPr lang="en-US" sz="20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天気予報と数値予報を多数日分ペアで集め、分位点マッピングをデータで補正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A8B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31520" y="9144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A9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まとめ</a:t>
            </a:r>
            <a:endParaRPr lang="en-US" sz="2400" dirty="0"/>
          </a:p>
        </p:txBody>
      </p:sp>
      <p:sp>
        <p:nvSpPr>
          <p:cNvPr id="3" name="message"/>
          <p:cNvSpPr txBox="1"/>
          <p:nvPr/>
        </p:nvSpPr>
        <p:spPr>
          <a:xfrm>
            <a:off x="731520" y="173736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出力制御は「晴れ × 低需要（休日・季節）× 導入量の増加」でかなり説明できる</a:t>
            </a:r>
            <a:endParaRPr lang="en-US" sz="3800" dirty="0"/>
          </a:p>
        </p:txBody>
      </p:sp>
      <p:sp>
        <p:nvSpPr>
          <p:cNvPr id="4" name="sub"/>
          <p:cNvSpPr txBox="1"/>
          <p:nvPr/>
        </p:nvSpPr>
        <p:spPr>
          <a:xfrm>
            <a:off x="731520" y="4114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8C4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九州なら ROC-AUC 0.925。ただし最終判断は電力会社の公式発表で。</a:t>
            </a:r>
            <a:endParaRPr lang="en-US" sz="2200" dirty="0"/>
          </a:p>
        </p:txBody>
      </p:sp>
      <p:sp>
        <p:nvSpPr>
          <p:cNvPr id="5" name="refs"/>
          <p:cNvSpPr txBox="1"/>
          <p:nvPr/>
        </p:nvSpPr>
        <p:spPr>
          <a:xfrm>
            <a:off x="731520" y="5943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4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詳細: README.md ／ REPORT.md ／ CORRECTIONS_LOG.md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larCurtailment">
  <a:themeElements>
    <a:clrScheme name="SolarCurtailment">
      <a:dk1>
        <a:srgbClr val="1B2A41"/>
      </a:dk1>
      <a:lt1>
        <a:srgbClr val="FFFFFF"/>
      </a:lt1>
      <a:dk2>
        <a:srgbClr val="324A5F"/>
      </a:dk2>
      <a:lt2>
        <a:srgbClr val="F1F4F8"/>
      </a:lt2>
      <a:accent1>
        <a:srgbClr val="F2A900"/>
      </a:accent1>
      <a:accent2>
        <a:srgbClr val="2F6DB5"/>
      </a:accent2>
      <a:accent3>
        <a:srgbClr val="2E9E6B"/>
      </a:accent3>
      <a:accent4>
        <a:srgbClr val="D1495B"/>
      </a:accent4>
      <a:accent5>
        <a:srgbClr val="7A8BA3"/>
      </a:accent5>
      <a:accent6>
        <a:srgbClr val="0B132B"/>
      </a:accent6>
      <a:hlink>
        <a:srgbClr val="2F6DB5"/>
      </a:hlink>
      <a:folHlink>
        <a:srgbClr val="7A8BA3"/>
      </a:folHlink>
    </a:clrScheme>
    <a:fontScheme name="SolarCurtailment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太陽光の出力制御は天気で説明できるか</dc:title>
  <dc:subject>PptxGenJS Presentation</dc:subject>
  <dc:creator>PptxGenJS</dc:creator>
  <cp:lastModifiedBy>PptxGenJS</cp:lastModifiedBy>
  <cp:revision>1</cp:revision>
  <dcterms:created xsi:type="dcterms:W3CDTF">2026-10-16T06:47:20Z</dcterms:created>
  <dcterms:modified xsi:type="dcterms:W3CDTF">2026-10-16T06:47:20Z</dcterms:modified>
</cp:coreProperties>
</file>