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82D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234440"/>
            <a:ext cx="10789920" cy="2011680"/>
          </a:xfrm>
          <a:prstGeom prst="rect">
            <a:avLst/>
          </a:prstGeom>
          <a:noFill/>
        </p:spPr>
        <p:txBody>
          <a:bodyPr wrap="none">
            <a:spAutoFit/>
          </a:bodyPr>
          <a:lstStyle/>
          <a:p>
            <a:pPr>
              <a:defRPr sz="3400" b="1">
                <a:solidFill>
                  <a:srgbClr val="FFFFFF"/>
                </a:solidFill>
                <a:latin typeface="Noto Sans JP"/>
              </a:defRPr>
            </a:pPr>
            <a:r>
              <a:rPr>
                <a:latin typeface="Noto Sans CJK JP"/>
              </a:rPr>
              <a:t>太陽光の出力制御は</a:t>
            </a:r>
            <a:br/>
            <a:r>
              <a:rPr>
                <a:latin typeface="Noto Sans CJK JP"/>
              </a:rPr>
              <a:t>天気・曜日で説明できるか</a:t>
            </a:r>
          </a:p>
          <a:p>
            <a:pPr>
              <a:spcBef>
                <a:spcPts val="1800"/>
              </a:spcBef>
              <a:defRPr sz="1900">
                <a:solidFill>
                  <a:srgbClr val="DCE6F0"/>
                </a:solidFill>
                <a:latin typeface="Noto Sans JP"/>
              </a:defRPr>
            </a:pPr>
            <a:r>
              <a:rPr>
                <a:latin typeface="Noto Sans CJK JP"/>
              </a:rPr>
              <a:t>九州の出力制御実績データを中心とした検証</a:t>
            </a:r>
          </a:p>
          <a:p>
            <a:pPr>
              <a:spcBef>
                <a:spcPts val="1000"/>
              </a:spcBef>
              <a:defRPr sz="1600">
                <a:solidFill>
                  <a:srgbClr val="DCE6F0"/>
                </a:solidFill>
                <a:latin typeface="Noto Sans JP"/>
              </a:defRPr>
            </a:pPr>
            <a:r>
              <a:rPr>
                <a:latin typeface="Noto Sans CJK JP"/>
              </a:rPr>
              <a:t>― データ分析 → 機械学習 → 生成AI → 訂正の記録 ―</a:t>
            </a:r>
          </a:p>
        </p:txBody>
      </p:sp>
      <p:sp>
        <p:nvSpPr>
          <p:cNvPr id="4" name="TextBox 3"/>
          <p:cNvSpPr txBox="1"/>
          <p:nvPr/>
        </p:nvSpPr>
        <p:spPr>
          <a:xfrm>
            <a:off x="749808" y="5166360"/>
            <a:ext cx="10058400" cy="548640"/>
          </a:xfrm>
          <a:prstGeom prst="rect">
            <a:avLst/>
          </a:prstGeom>
          <a:noFill/>
        </p:spPr>
        <p:txBody>
          <a:bodyPr wrap="none">
            <a:spAutoFit/>
          </a:bodyPr>
          <a:lstStyle/>
          <a:p>
            <a:pPr>
              <a:defRPr sz="1300">
                <a:solidFill>
                  <a:srgbClr val="FFFFFF"/>
                </a:solidFill>
                <a:latin typeface="Noto Sans JP"/>
              </a:defRPr>
            </a:pPr>
            <a:r>
              <a:rPr>
                <a:latin typeface="Noto Sans CJK JP"/>
              </a:rPr>
              <a:t>ID-01 検証まとめ（REPORT.md / CORRECTIONS_LOG.md より）</a:t>
            </a:r>
          </a:p>
        </p:txBody>
      </p:sp>
      <p:sp>
        <p:nvSpPr>
          <p:cNvPr id="5" name="TextBox 4"/>
          <p:cNvSpPr txBox="1"/>
          <p:nvPr/>
        </p:nvSpPr>
        <p:spPr>
          <a:xfrm>
            <a:off x="502920" y="6473952"/>
            <a:ext cx="11155680" cy="228600"/>
          </a:xfrm>
          <a:prstGeom prst="rect">
            <a:avLst/>
          </a:prstGeom>
          <a:noFill/>
        </p:spPr>
        <p:txBody>
          <a:bodyPr wrap="none">
            <a:spAutoFit/>
          </a:bodyPr>
          <a:lstStyle/>
          <a:p>
            <a:pPr>
              <a:defRPr sz="800">
                <a:solidFill>
                  <a:srgbClr val="505A69"/>
                </a:solidFill>
                <a:latin typeface="Noto Sans JP"/>
              </a:defRPr>
            </a:pPr>
            <a:r>
              <a:rPr>
                <a:latin typeface="Noto Sans CJK JP"/>
              </a:rPr>
              <a:t>solar_curtailment_kyushu  |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155680" cy="685800"/>
          </a:xfrm>
          <a:prstGeom prst="rect">
            <a:avLst/>
          </a:prstGeom>
          <a:noFill/>
        </p:spPr>
        <p:txBody>
          <a:bodyPr wrap="none">
            <a:spAutoFit/>
          </a:bodyPr>
          <a:lstStyle/>
          <a:p>
            <a:pPr>
              <a:defRPr sz="2600" b="1">
                <a:solidFill>
                  <a:srgbClr val="182D49"/>
                </a:solidFill>
                <a:latin typeface="Noto Sans JP"/>
              </a:defRPr>
            </a:pPr>
            <a:r>
              <a:rPr>
                <a:latin typeface="Noto Sans CJK JP"/>
              </a:rPr>
              <a:t>1. この分析で何を知りたかったか</a:t>
            </a:r>
          </a:p>
        </p:txBody>
      </p:sp>
      <p:sp>
        <p:nvSpPr>
          <p:cNvPr id="4" name="Rounded Rectangle 3"/>
          <p:cNvSpPr/>
          <p:nvPr/>
        </p:nvSpPr>
        <p:spPr>
          <a:xfrm>
            <a:off x="731520" y="1417320"/>
            <a:ext cx="3246120" cy="1417320"/>
          </a:xfrm>
          <a:prstGeom prst="roundRect">
            <a:avLst/>
          </a:prstGeom>
          <a:solidFill>
            <a:srgbClr val="FFFFFF"/>
          </a:solidFill>
          <a:ln>
            <a:solidFill>
              <a:srgbClr val="E8E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581912"/>
            <a:ext cx="2971800" cy="779526"/>
          </a:xfrm>
          <a:prstGeom prst="rect">
            <a:avLst/>
          </a:prstGeom>
          <a:noFill/>
        </p:spPr>
        <p:txBody>
          <a:bodyPr wrap="none">
            <a:spAutoFit/>
          </a:bodyPr>
          <a:lstStyle/>
          <a:p>
            <a:pPr algn="ctr">
              <a:defRPr sz="3000" b="1">
                <a:solidFill>
                  <a:srgbClr val="2A5C96"/>
                </a:solidFill>
                <a:latin typeface="Noto Sans JP"/>
              </a:defRPr>
            </a:pPr>
            <a:r>
              <a:rPr>
                <a:latin typeface="Noto Sans CJK JP"/>
              </a:rPr>
              <a:t>晴れ</a:t>
            </a:r>
          </a:p>
        </p:txBody>
      </p:sp>
      <p:sp>
        <p:nvSpPr>
          <p:cNvPr id="6" name="TextBox 5"/>
          <p:cNvSpPr txBox="1"/>
          <p:nvPr/>
        </p:nvSpPr>
        <p:spPr>
          <a:xfrm>
            <a:off x="841248" y="2296058"/>
            <a:ext cx="3026663" cy="396849"/>
          </a:xfrm>
          <a:prstGeom prst="rect">
            <a:avLst/>
          </a:prstGeom>
          <a:noFill/>
        </p:spPr>
        <p:txBody>
          <a:bodyPr wrap="none">
            <a:spAutoFit/>
          </a:bodyPr>
          <a:lstStyle/>
          <a:p>
            <a:pPr algn="ctr">
              <a:defRPr sz="1100">
                <a:solidFill>
                  <a:srgbClr val="505A69"/>
                </a:solidFill>
                <a:latin typeface="Noto Sans JP"/>
              </a:defRPr>
            </a:pPr>
            <a:r>
              <a:rPr>
                <a:latin typeface="Noto Sans CJK JP"/>
              </a:rPr>
              <a:t>出力制御は晴天日に多い？</a:t>
            </a:r>
          </a:p>
        </p:txBody>
      </p:sp>
      <p:sp>
        <p:nvSpPr>
          <p:cNvPr id="7" name="Rounded Rectangle 6"/>
          <p:cNvSpPr/>
          <p:nvPr/>
        </p:nvSpPr>
        <p:spPr>
          <a:xfrm>
            <a:off x="4480560" y="1417320"/>
            <a:ext cx="3246120" cy="1417320"/>
          </a:xfrm>
          <a:prstGeom prst="roundRect">
            <a:avLst/>
          </a:prstGeom>
          <a:solidFill>
            <a:srgbClr val="FFFFFF"/>
          </a:solidFill>
          <a:ln>
            <a:solidFill>
              <a:srgbClr val="E8E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17720" y="1581912"/>
            <a:ext cx="2971800" cy="779526"/>
          </a:xfrm>
          <a:prstGeom prst="rect">
            <a:avLst/>
          </a:prstGeom>
          <a:noFill/>
        </p:spPr>
        <p:txBody>
          <a:bodyPr wrap="none">
            <a:spAutoFit/>
          </a:bodyPr>
          <a:lstStyle/>
          <a:p>
            <a:pPr algn="ctr">
              <a:defRPr sz="3000" b="1">
                <a:solidFill>
                  <a:srgbClr val="2A5C96"/>
                </a:solidFill>
                <a:latin typeface="Noto Sans JP"/>
              </a:defRPr>
            </a:pPr>
            <a:r>
              <a:rPr>
                <a:latin typeface="Noto Sans CJK JP"/>
              </a:rPr>
              <a:t>休日</a:t>
            </a:r>
          </a:p>
        </p:txBody>
      </p:sp>
      <p:sp>
        <p:nvSpPr>
          <p:cNvPr id="9" name="TextBox 8"/>
          <p:cNvSpPr txBox="1"/>
          <p:nvPr/>
        </p:nvSpPr>
        <p:spPr>
          <a:xfrm>
            <a:off x="4590288" y="2296058"/>
            <a:ext cx="3026663" cy="396849"/>
          </a:xfrm>
          <a:prstGeom prst="rect">
            <a:avLst/>
          </a:prstGeom>
          <a:noFill/>
        </p:spPr>
        <p:txBody>
          <a:bodyPr wrap="none">
            <a:spAutoFit/>
          </a:bodyPr>
          <a:lstStyle/>
          <a:p>
            <a:pPr algn="ctr">
              <a:defRPr sz="1100">
                <a:solidFill>
                  <a:srgbClr val="505A69"/>
                </a:solidFill>
                <a:latin typeface="Noto Sans JP"/>
              </a:defRPr>
            </a:pPr>
            <a:r>
              <a:rPr>
                <a:latin typeface="Noto Sans CJK JP"/>
              </a:rPr>
              <a:t>土日・祝日に多い？</a:t>
            </a:r>
          </a:p>
        </p:txBody>
      </p:sp>
      <p:sp>
        <p:nvSpPr>
          <p:cNvPr id="10" name="Rounded Rectangle 9"/>
          <p:cNvSpPr/>
          <p:nvPr/>
        </p:nvSpPr>
        <p:spPr>
          <a:xfrm>
            <a:off x="8229600" y="1417320"/>
            <a:ext cx="3246120" cy="1417320"/>
          </a:xfrm>
          <a:prstGeom prst="roundRect">
            <a:avLst/>
          </a:prstGeom>
          <a:solidFill>
            <a:srgbClr val="FFFFFF"/>
          </a:solidFill>
          <a:ln>
            <a:solidFill>
              <a:srgbClr val="E8E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66760" y="1581912"/>
            <a:ext cx="2971800" cy="779526"/>
          </a:xfrm>
          <a:prstGeom prst="rect">
            <a:avLst/>
          </a:prstGeom>
          <a:noFill/>
        </p:spPr>
        <p:txBody>
          <a:bodyPr wrap="none">
            <a:spAutoFit/>
          </a:bodyPr>
          <a:lstStyle/>
          <a:p>
            <a:pPr algn="ctr">
              <a:defRPr sz="3000" b="1">
                <a:solidFill>
                  <a:srgbClr val="2A5C96"/>
                </a:solidFill>
                <a:latin typeface="Noto Sans JP"/>
              </a:defRPr>
            </a:pPr>
            <a:r>
              <a:rPr>
                <a:latin typeface="Noto Sans CJK JP"/>
              </a:rPr>
              <a:t>季節</a:t>
            </a:r>
          </a:p>
        </p:txBody>
      </p:sp>
      <p:sp>
        <p:nvSpPr>
          <p:cNvPr id="12" name="TextBox 11"/>
          <p:cNvSpPr txBox="1"/>
          <p:nvPr/>
        </p:nvSpPr>
        <p:spPr>
          <a:xfrm>
            <a:off x="8339327" y="2296058"/>
            <a:ext cx="3026663" cy="396849"/>
          </a:xfrm>
          <a:prstGeom prst="rect">
            <a:avLst/>
          </a:prstGeom>
          <a:noFill/>
        </p:spPr>
        <p:txBody>
          <a:bodyPr wrap="none">
            <a:spAutoFit/>
          </a:bodyPr>
          <a:lstStyle/>
          <a:p>
            <a:pPr algn="ctr">
              <a:defRPr sz="1100">
                <a:solidFill>
                  <a:srgbClr val="505A69"/>
                </a:solidFill>
                <a:latin typeface="Noto Sans JP"/>
              </a:defRPr>
            </a:pPr>
            <a:r>
              <a:rPr>
                <a:latin typeface="Noto Sans CJK JP"/>
              </a:rPr>
              <a:t>月によって変わる？</a:t>
            </a:r>
          </a:p>
        </p:txBody>
      </p:sp>
      <p:sp>
        <p:nvSpPr>
          <p:cNvPr id="13" name="TextBox 12"/>
          <p:cNvSpPr txBox="1"/>
          <p:nvPr/>
        </p:nvSpPr>
        <p:spPr>
          <a:xfrm>
            <a:off x="685800" y="3246120"/>
            <a:ext cx="10789920" cy="2240280"/>
          </a:xfrm>
          <a:prstGeom prst="rect">
            <a:avLst/>
          </a:prstGeom>
          <a:noFill/>
        </p:spPr>
        <p:txBody>
          <a:bodyPr wrap="square">
            <a:spAutoFit/>
          </a:bodyPr>
          <a:lstStyle/>
          <a:p>
            <a:pPr>
              <a:spcAft>
                <a:spcPts val="1200"/>
              </a:spcAft>
              <a:defRPr sz="1800">
                <a:solidFill>
                  <a:srgbClr val="505A69"/>
                </a:solidFill>
                <a:latin typeface="Noto Sans JP"/>
              </a:defRPr>
            </a:pPr>
            <a:r>
              <a:rPr>
                <a:latin typeface="Noto Sans CJK JP"/>
              </a:rPr>
              <a:t>単なる「日射量と発電量の相関」ではなく、出力制御という実務的なイベントを対象にした。</a:t>
            </a:r>
          </a:p>
          <a:p>
            <a:pPr>
              <a:spcAft>
                <a:spcPts val="1200"/>
              </a:spcAft>
              <a:defRPr sz="1800">
                <a:solidFill>
                  <a:srgbClr val="505A69"/>
                </a:solidFill>
                <a:latin typeface="Noto Sans JP"/>
              </a:defRPr>
            </a:pPr>
            <a:r>
              <a:rPr>
                <a:latin typeface="Noto Sans CJK JP"/>
              </a:rPr>
              <a:t>九州電力送配電・沖縄電力の公開実績と、気象庁の実測気象データを組み合わせた。</a:t>
            </a:r>
          </a:p>
          <a:p>
            <a:pPr>
              <a:spcAft>
                <a:spcPts val="1200"/>
              </a:spcAft>
              <a:defRPr sz="1800">
                <a:solidFill>
                  <a:srgbClr val="505A69"/>
                </a:solidFill>
                <a:latin typeface="Noto Sans JP"/>
              </a:defRPr>
            </a:pPr>
            <a:r>
              <a:rPr>
                <a:latin typeface="Noto Sans CJK JP"/>
              </a:rPr>
              <a:t>最終的には「翌日の出力制御の可能性」を確率で示し、生成AIで説明するところまで試した。</a:t>
            </a:r>
          </a:p>
        </p:txBody>
      </p:sp>
      <p:sp>
        <p:nvSpPr>
          <p:cNvPr id="14" name="TextBox 13"/>
          <p:cNvSpPr txBox="1"/>
          <p:nvPr/>
        </p:nvSpPr>
        <p:spPr>
          <a:xfrm>
            <a:off x="502920" y="6473952"/>
            <a:ext cx="11155680" cy="228600"/>
          </a:xfrm>
          <a:prstGeom prst="rect">
            <a:avLst/>
          </a:prstGeom>
          <a:noFill/>
        </p:spPr>
        <p:txBody>
          <a:bodyPr wrap="none">
            <a:spAutoFit/>
          </a:bodyPr>
          <a:lstStyle/>
          <a:p>
            <a:pPr>
              <a:defRPr sz="800">
                <a:solidFill>
                  <a:srgbClr val="505A69"/>
                </a:solidFill>
                <a:latin typeface="Noto Sans JP"/>
              </a:defRPr>
            </a:pPr>
            <a:r>
              <a:rPr>
                <a:latin typeface="Noto Sans CJK JP"/>
              </a:rPr>
              <a:t>solar_curtailment_kyushu  |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155680" cy="685800"/>
          </a:xfrm>
          <a:prstGeom prst="rect">
            <a:avLst/>
          </a:prstGeom>
          <a:noFill/>
        </p:spPr>
        <p:txBody>
          <a:bodyPr wrap="none">
            <a:spAutoFit/>
          </a:bodyPr>
          <a:lstStyle/>
          <a:p>
            <a:pPr>
              <a:defRPr sz="2600" b="1">
                <a:solidFill>
                  <a:srgbClr val="182D49"/>
                </a:solidFill>
                <a:latin typeface="Noto Sans JP"/>
              </a:defRPr>
            </a:pPr>
            <a:r>
              <a:rPr>
                <a:latin typeface="Noto Sans CJK JP"/>
              </a:rPr>
              <a:t>2. 使用したデータと分析パイプライン</a:t>
            </a:r>
          </a:p>
        </p:txBody>
      </p:sp>
      <p:sp>
        <p:nvSpPr>
          <p:cNvPr id="4" name="Rounded Rectangle 3"/>
          <p:cNvSpPr/>
          <p:nvPr/>
        </p:nvSpPr>
        <p:spPr>
          <a:xfrm>
            <a:off x="502920" y="1828800"/>
            <a:ext cx="2057400" cy="1965960"/>
          </a:xfrm>
          <a:prstGeom prst="roundRect">
            <a:avLst/>
          </a:prstGeom>
          <a:solidFill>
            <a:srgbClr val="FFFFFF"/>
          </a:solidFill>
          <a:ln>
            <a:solidFill>
              <a:srgbClr val="E8E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12648" y="2011680"/>
            <a:ext cx="1828800" cy="1645920"/>
          </a:xfrm>
          <a:prstGeom prst="rect">
            <a:avLst/>
          </a:prstGeom>
          <a:noFill/>
        </p:spPr>
        <p:txBody>
          <a:bodyPr wrap="none">
            <a:spAutoFit/>
          </a:bodyPr>
          <a:lstStyle/>
          <a:p>
            <a:pPr algn="ctr">
              <a:defRPr sz="1600" b="1">
                <a:solidFill>
                  <a:srgbClr val="2A5C96"/>
                </a:solidFill>
                <a:latin typeface="Noto Sans JP"/>
              </a:defRPr>
            </a:pPr>
            <a:r>
              <a:rPr>
                <a:latin typeface="Noto Sans CJK JP"/>
              </a:rPr>
              <a:t>① 出力制御実績</a:t>
            </a:r>
          </a:p>
          <a:p>
            <a:pPr algn="ctr">
              <a:spcBef>
                <a:spcPts val="1000"/>
              </a:spcBef>
              <a:defRPr sz="1100">
                <a:solidFill>
                  <a:srgbClr val="505A69"/>
                </a:solidFill>
                <a:latin typeface="Noto Sans JP"/>
              </a:defRPr>
            </a:pPr>
            <a:r>
              <a:rPr>
                <a:latin typeface="Noto Sans CJK JP"/>
              </a:rPr>
              <a:t>九州：2018〜2025年度</a:t>
            </a:r>
            <a:br/>
            <a:r>
              <a:rPr>
                <a:latin typeface="Noto Sans CJK JP"/>
              </a:rPr>
              <a:t>沖縄：2022〜2025年度</a:t>
            </a:r>
          </a:p>
        </p:txBody>
      </p:sp>
      <p:sp>
        <p:nvSpPr>
          <p:cNvPr id="6" name="TextBox 5"/>
          <p:cNvSpPr txBox="1"/>
          <p:nvPr/>
        </p:nvSpPr>
        <p:spPr>
          <a:xfrm>
            <a:off x="2578608" y="2468880"/>
            <a:ext cx="274320" cy="365760"/>
          </a:xfrm>
          <a:prstGeom prst="rect">
            <a:avLst/>
          </a:prstGeom>
          <a:noFill/>
        </p:spPr>
        <p:txBody>
          <a:bodyPr wrap="none">
            <a:spAutoFit/>
          </a:bodyPr>
          <a:lstStyle/>
          <a:p>
            <a:pPr>
              <a:defRPr sz="2000">
                <a:solidFill>
                  <a:srgbClr val="505A69"/>
                </a:solidFill>
              </a:defRPr>
            </a:pPr>
            <a:r>
              <a:rPr>
                <a:latin typeface="Noto Sans CJK JP"/>
              </a:rPr>
              <a:t>→</a:t>
            </a:r>
          </a:p>
        </p:txBody>
      </p:sp>
      <p:sp>
        <p:nvSpPr>
          <p:cNvPr id="7" name="Rounded Rectangle 6"/>
          <p:cNvSpPr/>
          <p:nvPr/>
        </p:nvSpPr>
        <p:spPr>
          <a:xfrm>
            <a:off x="2834639" y="1828800"/>
            <a:ext cx="2057400" cy="1965960"/>
          </a:xfrm>
          <a:prstGeom prst="roundRect">
            <a:avLst/>
          </a:prstGeom>
          <a:solidFill>
            <a:srgbClr val="FFFFFF"/>
          </a:solidFill>
          <a:ln>
            <a:solidFill>
              <a:srgbClr val="E8E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944368" y="2011680"/>
            <a:ext cx="1828800" cy="1645920"/>
          </a:xfrm>
          <a:prstGeom prst="rect">
            <a:avLst/>
          </a:prstGeom>
          <a:noFill/>
        </p:spPr>
        <p:txBody>
          <a:bodyPr wrap="none">
            <a:spAutoFit/>
          </a:bodyPr>
          <a:lstStyle/>
          <a:p>
            <a:pPr algn="ctr">
              <a:defRPr sz="1600" b="1">
                <a:solidFill>
                  <a:srgbClr val="2A5C96"/>
                </a:solidFill>
                <a:latin typeface="Noto Sans JP"/>
              </a:defRPr>
            </a:pPr>
            <a:r>
              <a:rPr>
                <a:latin typeface="Noto Sans CJK JP"/>
              </a:rPr>
              <a:t>② 気象</a:t>
            </a:r>
          </a:p>
          <a:p>
            <a:pPr algn="ctr">
              <a:spcBef>
                <a:spcPts val="1000"/>
              </a:spcBef>
              <a:defRPr sz="1100">
                <a:solidFill>
                  <a:srgbClr val="505A69"/>
                </a:solidFill>
                <a:latin typeface="Noto Sans JP"/>
              </a:defRPr>
            </a:pPr>
            <a:r>
              <a:rPr>
                <a:latin typeface="Noto Sans CJK JP"/>
              </a:rPr>
              <a:t>日照時間・全天日射量</a:t>
            </a:r>
            <a:br/>
            <a:r>
              <a:rPr>
                <a:latin typeface="Noto Sans CJK JP"/>
              </a:rPr>
              <a:t>気象庁の実測値</a:t>
            </a:r>
          </a:p>
        </p:txBody>
      </p:sp>
      <p:sp>
        <p:nvSpPr>
          <p:cNvPr id="9" name="TextBox 8"/>
          <p:cNvSpPr txBox="1"/>
          <p:nvPr/>
        </p:nvSpPr>
        <p:spPr>
          <a:xfrm>
            <a:off x="4910327" y="2468880"/>
            <a:ext cx="274320" cy="365760"/>
          </a:xfrm>
          <a:prstGeom prst="rect">
            <a:avLst/>
          </a:prstGeom>
          <a:noFill/>
        </p:spPr>
        <p:txBody>
          <a:bodyPr wrap="none">
            <a:spAutoFit/>
          </a:bodyPr>
          <a:lstStyle/>
          <a:p>
            <a:pPr>
              <a:defRPr sz="2000">
                <a:solidFill>
                  <a:srgbClr val="505A69"/>
                </a:solidFill>
              </a:defRPr>
            </a:pPr>
            <a:r>
              <a:rPr>
                <a:latin typeface="Noto Sans CJK JP"/>
              </a:rPr>
              <a:t>→</a:t>
            </a:r>
          </a:p>
        </p:txBody>
      </p:sp>
      <p:sp>
        <p:nvSpPr>
          <p:cNvPr id="10" name="Rounded Rectangle 9"/>
          <p:cNvSpPr/>
          <p:nvPr/>
        </p:nvSpPr>
        <p:spPr>
          <a:xfrm>
            <a:off x="5166359" y="1828800"/>
            <a:ext cx="2057400" cy="1965960"/>
          </a:xfrm>
          <a:prstGeom prst="roundRect">
            <a:avLst/>
          </a:prstGeom>
          <a:solidFill>
            <a:srgbClr val="FFFFFF"/>
          </a:solidFill>
          <a:ln>
            <a:solidFill>
              <a:srgbClr val="E8E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276088" y="2011680"/>
            <a:ext cx="1828800" cy="1645920"/>
          </a:xfrm>
          <a:prstGeom prst="rect">
            <a:avLst/>
          </a:prstGeom>
          <a:noFill/>
        </p:spPr>
        <p:txBody>
          <a:bodyPr wrap="none">
            <a:spAutoFit/>
          </a:bodyPr>
          <a:lstStyle/>
          <a:p>
            <a:pPr algn="ctr">
              <a:defRPr sz="1600" b="1">
                <a:solidFill>
                  <a:srgbClr val="2A5C96"/>
                </a:solidFill>
                <a:latin typeface="Noto Sans JP"/>
              </a:defRPr>
            </a:pPr>
            <a:r>
              <a:rPr>
                <a:latin typeface="Noto Sans CJK JP"/>
              </a:rPr>
              <a:t>③ 統計分析</a:t>
            </a:r>
          </a:p>
          <a:p>
            <a:pPr algn="ctr">
              <a:spcBef>
                <a:spcPts val="1000"/>
              </a:spcBef>
              <a:defRPr sz="1100">
                <a:solidFill>
                  <a:srgbClr val="505A69"/>
                </a:solidFill>
                <a:latin typeface="Noto Sans JP"/>
              </a:defRPr>
            </a:pPr>
            <a:r>
              <a:rPr>
                <a:latin typeface="Noto Sans CJK JP"/>
              </a:rPr>
              <a:t>平均差・Cohen's d</a:t>
            </a:r>
            <a:br/>
            <a:r>
              <a:rPr>
                <a:latin typeface="Noto Sans CJK JP"/>
              </a:rPr>
              <a:t>季節・曜日別集計</a:t>
            </a:r>
          </a:p>
        </p:txBody>
      </p:sp>
      <p:sp>
        <p:nvSpPr>
          <p:cNvPr id="12" name="TextBox 11"/>
          <p:cNvSpPr txBox="1"/>
          <p:nvPr/>
        </p:nvSpPr>
        <p:spPr>
          <a:xfrm>
            <a:off x="7242048" y="2468880"/>
            <a:ext cx="274320" cy="365760"/>
          </a:xfrm>
          <a:prstGeom prst="rect">
            <a:avLst/>
          </a:prstGeom>
          <a:noFill/>
        </p:spPr>
        <p:txBody>
          <a:bodyPr wrap="none">
            <a:spAutoFit/>
          </a:bodyPr>
          <a:lstStyle/>
          <a:p>
            <a:pPr>
              <a:defRPr sz="2000">
                <a:solidFill>
                  <a:srgbClr val="505A69"/>
                </a:solidFill>
              </a:defRPr>
            </a:pPr>
            <a:r>
              <a:rPr>
                <a:latin typeface="Noto Sans CJK JP"/>
              </a:rPr>
              <a:t>→</a:t>
            </a:r>
          </a:p>
        </p:txBody>
      </p:sp>
      <p:sp>
        <p:nvSpPr>
          <p:cNvPr id="13" name="Rounded Rectangle 12"/>
          <p:cNvSpPr/>
          <p:nvPr/>
        </p:nvSpPr>
        <p:spPr>
          <a:xfrm>
            <a:off x="7498079" y="1828800"/>
            <a:ext cx="2057400" cy="1965960"/>
          </a:xfrm>
          <a:prstGeom prst="roundRect">
            <a:avLst/>
          </a:prstGeom>
          <a:solidFill>
            <a:srgbClr val="FFFFFF"/>
          </a:solidFill>
          <a:ln>
            <a:solidFill>
              <a:srgbClr val="E8E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07807" y="2011680"/>
            <a:ext cx="1828800" cy="1645920"/>
          </a:xfrm>
          <a:prstGeom prst="rect">
            <a:avLst/>
          </a:prstGeom>
          <a:noFill/>
        </p:spPr>
        <p:txBody>
          <a:bodyPr wrap="none">
            <a:spAutoFit/>
          </a:bodyPr>
          <a:lstStyle/>
          <a:p>
            <a:pPr algn="ctr">
              <a:defRPr sz="1600" b="1">
                <a:solidFill>
                  <a:srgbClr val="2A5C96"/>
                </a:solidFill>
                <a:latin typeface="Noto Sans JP"/>
              </a:defRPr>
            </a:pPr>
            <a:r>
              <a:rPr>
                <a:latin typeface="Noto Sans CJK JP"/>
              </a:rPr>
              <a:t>④ 予測モデル</a:t>
            </a:r>
          </a:p>
          <a:p>
            <a:pPr algn="ctr">
              <a:spcBef>
                <a:spcPts val="1000"/>
              </a:spcBef>
              <a:defRPr sz="1100">
                <a:solidFill>
                  <a:srgbClr val="505A69"/>
                </a:solidFill>
                <a:latin typeface="Noto Sans JP"/>
              </a:defRPr>
            </a:pPr>
            <a:r>
              <a:rPr>
                <a:latin typeface="Noto Sans CJK JP"/>
              </a:rPr>
              <a:t>ロジスティック回帰</a:t>
            </a:r>
            <a:br/>
            <a:r>
              <a:rPr>
                <a:latin typeface="Noto Sans CJK JP"/>
              </a:rPr>
              <a:t>ROC-AUC / Precision / Recall</a:t>
            </a:r>
          </a:p>
        </p:txBody>
      </p:sp>
      <p:sp>
        <p:nvSpPr>
          <p:cNvPr id="15" name="TextBox 14"/>
          <p:cNvSpPr txBox="1"/>
          <p:nvPr/>
        </p:nvSpPr>
        <p:spPr>
          <a:xfrm>
            <a:off x="9573767" y="2468880"/>
            <a:ext cx="274320" cy="365760"/>
          </a:xfrm>
          <a:prstGeom prst="rect">
            <a:avLst/>
          </a:prstGeom>
          <a:noFill/>
        </p:spPr>
        <p:txBody>
          <a:bodyPr wrap="none">
            <a:spAutoFit/>
          </a:bodyPr>
          <a:lstStyle/>
          <a:p>
            <a:pPr>
              <a:defRPr sz="2000">
                <a:solidFill>
                  <a:srgbClr val="505A69"/>
                </a:solidFill>
              </a:defRPr>
            </a:pPr>
            <a:r>
              <a:rPr>
                <a:latin typeface="Noto Sans CJK JP"/>
              </a:rPr>
              <a:t>→</a:t>
            </a:r>
          </a:p>
        </p:txBody>
      </p:sp>
      <p:sp>
        <p:nvSpPr>
          <p:cNvPr id="16" name="Rounded Rectangle 15"/>
          <p:cNvSpPr/>
          <p:nvPr/>
        </p:nvSpPr>
        <p:spPr>
          <a:xfrm>
            <a:off x="9829800" y="1828800"/>
            <a:ext cx="2057400" cy="1965960"/>
          </a:xfrm>
          <a:prstGeom prst="roundRect">
            <a:avLst/>
          </a:prstGeom>
          <a:solidFill>
            <a:srgbClr val="FFFFFF"/>
          </a:solidFill>
          <a:ln>
            <a:solidFill>
              <a:srgbClr val="E8E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939528" y="2011680"/>
            <a:ext cx="1828800" cy="1645920"/>
          </a:xfrm>
          <a:prstGeom prst="rect">
            <a:avLst/>
          </a:prstGeom>
          <a:noFill/>
        </p:spPr>
        <p:txBody>
          <a:bodyPr wrap="none">
            <a:spAutoFit/>
          </a:bodyPr>
          <a:lstStyle/>
          <a:p>
            <a:pPr algn="ctr">
              <a:defRPr sz="1600" b="1">
                <a:solidFill>
                  <a:srgbClr val="2A5C96"/>
                </a:solidFill>
                <a:latin typeface="Noto Sans JP"/>
              </a:defRPr>
            </a:pPr>
            <a:r>
              <a:rPr>
                <a:latin typeface="Noto Sans CJK JP"/>
              </a:rPr>
              <a:t>⑤ GenAI</a:t>
            </a:r>
          </a:p>
          <a:p>
            <a:pPr algn="ctr">
              <a:spcBef>
                <a:spcPts val="1000"/>
              </a:spcBef>
              <a:defRPr sz="1100">
                <a:solidFill>
                  <a:srgbClr val="505A69"/>
                </a:solidFill>
                <a:latin typeface="Noto Sans JP"/>
              </a:defRPr>
            </a:pPr>
            <a:r>
              <a:rPr>
                <a:latin typeface="Noto Sans CJK JP"/>
              </a:rPr>
              <a:t>翌日の予測確率を</a:t>
            </a:r>
            <a:br/>
            <a:r>
              <a:rPr>
                <a:latin typeface="Noto Sans CJK JP"/>
              </a:rPr>
              <a:t>平文で説明</a:t>
            </a:r>
          </a:p>
        </p:txBody>
      </p:sp>
      <p:sp>
        <p:nvSpPr>
          <p:cNvPr id="18" name="TextBox 17"/>
          <p:cNvSpPr txBox="1"/>
          <p:nvPr/>
        </p:nvSpPr>
        <p:spPr>
          <a:xfrm>
            <a:off x="685800" y="5715000"/>
            <a:ext cx="10789920" cy="502920"/>
          </a:xfrm>
          <a:prstGeom prst="rect">
            <a:avLst/>
          </a:prstGeom>
          <a:noFill/>
        </p:spPr>
        <p:txBody>
          <a:bodyPr wrap="none">
            <a:spAutoFit/>
          </a:bodyPr>
          <a:lstStyle/>
          <a:p>
            <a:pPr>
              <a:defRPr sz="1000">
                <a:solidFill>
                  <a:srgbClr val="505A69"/>
                </a:solidFill>
                <a:latin typeface="Noto Sans JP"/>
              </a:defRPr>
            </a:pPr>
            <a:r>
              <a:rPr>
                <a:latin typeface="Noto Sans CJK JP"/>
              </a:rPr>
              <a:t>公開データをPythonで取得・解析し、目的に応じて気象指標を使い分けた。</a:t>
            </a:r>
          </a:p>
        </p:txBody>
      </p:sp>
      <p:sp>
        <p:nvSpPr>
          <p:cNvPr id="19" name="TextBox 18"/>
          <p:cNvSpPr txBox="1"/>
          <p:nvPr/>
        </p:nvSpPr>
        <p:spPr>
          <a:xfrm>
            <a:off x="502920" y="6473952"/>
            <a:ext cx="11155680" cy="228600"/>
          </a:xfrm>
          <a:prstGeom prst="rect">
            <a:avLst/>
          </a:prstGeom>
          <a:noFill/>
        </p:spPr>
        <p:txBody>
          <a:bodyPr wrap="none">
            <a:spAutoFit/>
          </a:bodyPr>
          <a:lstStyle/>
          <a:p>
            <a:pPr>
              <a:defRPr sz="800">
                <a:solidFill>
                  <a:srgbClr val="505A69"/>
                </a:solidFill>
                <a:latin typeface="Noto Sans JP"/>
              </a:defRPr>
            </a:pPr>
            <a:r>
              <a:rPr>
                <a:latin typeface="Noto Sans CJK JP"/>
              </a:rPr>
              <a:t>solar_curtailment_kyushu  |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155680" cy="685800"/>
          </a:xfrm>
          <a:prstGeom prst="rect">
            <a:avLst/>
          </a:prstGeom>
          <a:noFill/>
        </p:spPr>
        <p:txBody>
          <a:bodyPr wrap="none">
            <a:spAutoFit/>
          </a:bodyPr>
          <a:lstStyle/>
          <a:p>
            <a:pPr>
              <a:defRPr sz="2600" b="1">
                <a:solidFill>
                  <a:srgbClr val="182D49"/>
                </a:solidFill>
                <a:latin typeface="Noto Sans JP"/>
              </a:defRPr>
            </a:pPr>
            <a:r>
              <a:rPr>
                <a:latin typeface="Noto Sans CJK JP"/>
              </a:rPr>
              <a:t>3. 最初の発見：「晴れの日」に出力制御が集中</a:t>
            </a:r>
          </a:p>
        </p:txBody>
      </p:sp>
      <p:sp>
        <p:nvSpPr>
          <p:cNvPr id="4" name="Rounded Rectangle 3"/>
          <p:cNvSpPr/>
          <p:nvPr/>
        </p:nvSpPr>
        <p:spPr>
          <a:xfrm>
            <a:off x="822960" y="1325880"/>
            <a:ext cx="2926080" cy="1417320"/>
          </a:xfrm>
          <a:prstGeom prst="roundRect">
            <a:avLst/>
          </a:prstGeom>
          <a:solidFill>
            <a:srgbClr val="FFFFFF"/>
          </a:solidFill>
          <a:ln>
            <a:solidFill>
              <a:srgbClr val="E8E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490472"/>
            <a:ext cx="2651760" cy="779526"/>
          </a:xfrm>
          <a:prstGeom prst="rect">
            <a:avLst/>
          </a:prstGeom>
          <a:noFill/>
        </p:spPr>
        <p:txBody>
          <a:bodyPr wrap="none">
            <a:spAutoFit/>
          </a:bodyPr>
          <a:lstStyle/>
          <a:p>
            <a:pPr algn="ctr">
              <a:defRPr sz="3000" b="1">
                <a:solidFill>
                  <a:srgbClr val="2A5C96"/>
                </a:solidFill>
                <a:latin typeface="Noto Sans JP"/>
              </a:defRPr>
            </a:pPr>
            <a:r>
              <a:rPr>
                <a:latin typeface="Noto Sans CJK JP"/>
              </a:rPr>
              <a:t>8.46 h</a:t>
            </a:r>
          </a:p>
        </p:txBody>
      </p:sp>
      <p:sp>
        <p:nvSpPr>
          <p:cNvPr id="6" name="TextBox 5"/>
          <p:cNvSpPr txBox="1"/>
          <p:nvPr/>
        </p:nvSpPr>
        <p:spPr>
          <a:xfrm>
            <a:off x="932688" y="2204618"/>
            <a:ext cx="2706624" cy="396849"/>
          </a:xfrm>
          <a:prstGeom prst="rect">
            <a:avLst/>
          </a:prstGeom>
          <a:noFill/>
        </p:spPr>
        <p:txBody>
          <a:bodyPr wrap="none">
            <a:spAutoFit/>
          </a:bodyPr>
          <a:lstStyle/>
          <a:p>
            <a:pPr algn="ctr">
              <a:defRPr sz="1100">
                <a:solidFill>
                  <a:srgbClr val="505A69"/>
                </a:solidFill>
                <a:latin typeface="Noto Sans JP"/>
              </a:defRPr>
            </a:pPr>
            <a:r>
              <a:rPr>
                <a:latin typeface="Noto Sans CJK JP"/>
              </a:rPr>
              <a:t>九州・制御日の平均日照時間</a:t>
            </a:r>
          </a:p>
        </p:txBody>
      </p:sp>
      <p:sp>
        <p:nvSpPr>
          <p:cNvPr id="7" name="Rounded Rectangle 6"/>
          <p:cNvSpPr/>
          <p:nvPr/>
        </p:nvSpPr>
        <p:spPr>
          <a:xfrm>
            <a:off x="4526280" y="1325880"/>
            <a:ext cx="2926080" cy="1417320"/>
          </a:xfrm>
          <a:prstGeom prst="roundRect">
            <a:avLst/>
          </a:prstGeom>
          <a:solidFill>
            <a:srgbClr val="FFFFFF"/>
          </a:solidFill>
          <a:ln>
            <a:solidFill>
              <a:srgbClr val="E8E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63440" y="1490472"/>
            <a:ext cx="2651760" cy="779526"/>
          </a:xfrm>
          <a:prstGeom prst="rect">
            <a:avLst/>
          </a:prstGeom>
          <a:noFill/>
        </p:spPr>
        <p:txBody>
          <a:bodyPr wrap="none">
            <a:spAutoFit/>
          </a:bodyPr>
          <a:lstStyle/>
          <a:p>
            <a:pPr algn="ctr">
              <a:defRPr sz="3000" b="1">
                <a:solidFill>
                  <a:srgbClr val="2A5C96"/>
                </a:solidFill>
                <a:latin typeface="Noto Sans JP"/>
              </a:defRPr>
            </a:pPr>
            <a:r>
              <a:rPr>
                <a:latin typeface="Noto Sans CJK JP"/>
              </a:rPr>
              <a:t>4.58 h</a:t>
            </a:r>
          </a:p>
        </p:txBody>
      </p:sp>
      <p:sp>
        <p:nvSpPr>
          <p:cNvPr id="9" name="TextBox 8"/>
          <p:cNvSpPr txBox="1"/>
          <p:nvPr/>
        </p:nvSpPr>
        <p:spPr>
          <a:xfrm>
            <a:off x="4636008" y="2204618"/>
            <a:ext cx="2706624" cy="396849"/>
          </a:xfrm>
          <a:prstGeom prst="rect">
            <a:avLst/>
          </a:prstGeom>
          <a:noFill/>
        </p:spPr>
        <p:txBody>
          <a:bodyPr wrap="none">
            <a:spAutoFit/>
          </a:bodyPr>
          <a:lstStyle/>
          <a:p>
            <a:pPr algn="ctr">
              <a:defRPr sz="1100">
                <a:solidFill>
                  <a:srgbClr val="505A69"/>
                </a:solidFill>
                <a:latin typeface="Noto Sans JP"/>
              </a:defRPr>
            </a:pPr>
            <a:r>
              <a:rPr>
                <a:latin typeface="Noto Sans CJK JP"/>
              </a:rPr>
              <a:t>九州・非制御日の平均日照時間</a:t>
            </a:r>
          </a:p>
        </p:txBody>
      </p:sp>
      <p:sp>
        <p:nvSpPr>
          <p:cNvPr id="10" name="Rounded Rectangle 9"/>
          <p:cNvSpPr/>
          <p:nvPr/>
        </p:nvSpPr>
        <p:spPr>
          <a:xfrm>
            <a:off x="8229600" y="1325880"/>
            <a:ext cx="2926080" cy="1417320"/>
          </a:xfrm>
          <a:prstGeom prst="roundRect">
            <a:avLst/>
          </a:prstGeom>
          <a:solidFill>
            <a:srgbClr val="FFFFFF"/>
          </a:solidFill>
          <a:ln>
            <a:solidFill>
              <a:srgbClr val="E8E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66760" y="1490472"/>
            <a:ext cx="2651760" cy="779526"/>
          </a:xfrm>
          <a:prstGeom prst="rect">
            <a:avLst/>
          </a:prstGeom>
          <a:noFill/>
        </p:spPr>
        <p:txBody>
          <a:bodyPr wrap="none">
            <a:spAutoFit/>
          </a:bodyPr>
          <a:lstStyle/>
          <a:p>
            <a:pPr algn="ctr">
              <a:defRPr sz="3000" b="1">
                <a:solidFill>
                  <a:srgbClr val="2A5C96"/>
                </a:solidFill>
                <a:latin typeface="Noto Sans JP"/>
              </a:defRPr>
            </a:pPr>
            <a:r>
              <a:rPr>
                <a:latin typeface="Noto Sans CJK JP"/>
              </a:rPr>
              <a:t>1.07</a:t>
            </a:r>
          </a:p>
        </p:txBody>
      </p:sp>
      <p:sp>
        <p:nvSpPr>
          <p:cNvPr id="12" name="TextBox 11"/>
          <p:cNvSpPr txBox="1"/>
          <p:nvPr/>
        </p:nvSpPr>
        <p:spPr>
          <a:xfrm>
            <a:off x="8339327" y="2204618"/>
            <a:ext cx="2706624" cy="396849"/>
          </a:xfrm>
          <a:prstGeom prst="rect">
            <a:avLst/>
          </a:prstGeom>
          <a:noFill/>
        </p:spPr>
        <p:txBody>
          <a:bodyPr wrap="none">
            <a:spAutoFit/>
          </a:bodyPr>
          <a:lstStyle/>
          <a:p>
            <a:pPr algn="ctr">
              <a:defRPr sz="1100">
                <a:solidFill>
                  <a:srgbClr val="505A69"/>
                </a:solidFill>
                <a:latin typeface="Noto Sans JP"/>
              </a:defRPr>
            </a:pPr>
            <a:r>
              <a:rPr>
                <a:latin typeface="Noto Sans CJK JP"/>
              </a:rPr>
              <a:t>Cohen's d（九州）</a:t>
            </a:r>
          </a:p>
        </p:txBody>
      </p:sp>
      <p:sp>
        <p:nvSpPr>
          <p:cNvPr id="13" name="TextBox 12"/>
          <p:cNvSpPr txBox="1"/>
          <p:nvPr/>
        </p:nvSpPr>
        <p:spPr>
          <a:xfrm>
            <a:off x="685800" y="3246120"/>
            <a:ext cx="10789920" cy="2011680"/>
          </a:xfrm>
          <a:prstGeom prst="rect">
            <a:avLst/>
          </a:prstGeom>
          <a:noFill/>
        </p:spPr>
        <p:txBody>
          <a:bodyPr wrap="square">
            <a:spAutoFit/>
          </a:bodyPr>
          <a:lstStyle/>
          <a:p>
            <a:pPr>
              <a:spcAft>
                <a:spcPts val="1200"/>
              </a:spcAft>
              <a:defRPr sz="1800">
                <a:solidFill>
                  <a:srgbClr val="505A69"/>
                </a:solidFill>
                <a:latin typeface="Noto Sans JP"/>
              </a:defRPr>
            </a:pPr>
            <a:r>
              <a:rPr>
                <a:latin typeface="Noto Sans CJK JP"/>
              </a:rPr>
              <a:t>九州では制御日の日照時間が非制御日より明確に長い。</a:t>
            </a:r>
          </a:p>
          <a:p>
            <a:pPr>
              <a:spcAft>
                <a:spcPts val="1200"/>
              </a:spcAft>
              <a:defRPr sz="1800">
                <a:solidFill>
                  <a:srgbClr val="505A69"/>
                </a:solidFill>
                <a:latin typeface="Noto Sans JP"/>
              </a:defRPr>
            </a:pPr>
            <a:r>
              <a:rPr>
                <a:latin typeface="Noto Sans CJK JP"/>
              </a:rPr>
              <a:t>日曜だけに限定しても差は残り、曜日だけでは説明できない「晴天効果」が確認された。</a:t>
            </a:r>
          </a:p>
          <a:p>
            <a:pPr>
              <a:spcAft>
                <a:spcPts val="1200"/>
              </a:spcAft>
              <a:defRPr sz="1800">
                <a:solidFill>
                  <a:srgbClr val="505A69"/>
                </a:solidFill>
                <a:latin typeface="Noto Sans JP"/>
              </a:defRPr>
            </a:pPr>
            <a:r>
              <a:rPr>
                <a:latin typeface="Noto Sans CJK JP"/>
              </a:rPr>
              <a:t>沖縄でも同方向だが、九州より信号が弱く、サンプル数も少ない。</a:t>
            </a:r>
          </a:p>
        </p:txBody>
      </p:sp>
      <p:sp>
        <p:nvSpPr>
          <p:cNvPr id="14" name="TextBox 13"/>
          <p:cNvSpPr txBox="1"/>
          <p:nvPr/>
        </p:nvSpPr>
        <p:spPr>
          <a:xfrm>
            <a:off x="502920" y="6473952"/>
            <a:ext cx="11155680" cy="228600"/>
          </a:xfrm>
          <a:prstGeom prst="rect">
            <a:avLst/>
          </a:prstGeom>
          <a:noFill/>
        </p:spPr>
        <p:txBody>
          <a:bodyPr wrap="none">
            <a:spAutoFit/>
          </a:bodyPr>
          <a:lstStyle/>
          <a:p>
            <a:pPr>
              <a:defRPr sz="800">
                <a:solidFill>
                  <a:srgbClr val="505A69"/>
                </a:solidFill>
                <a:latin typeface="Noto Sans JP"/>
              </a:defRPr>
            </a:pPr>
            <a:r>
              <a:rPr>
                <a:latin typeface="Noto Sans CJK JP"/>
              </a:rPr>
              <a:t>solar_curtailment_kyushu  |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155680" cy="685800"/>
          </a:xfrm>
          <a:prstGeom prst="rect">
            <a:avLst/>
          </a:prstGeom>
          <a:noFill/>
        </p:spPr>
        <p:txBody>
          <a:bodyPr wrap="none">
            <a:spAutoFit/>
          </a:bodyPr>
          <a:lstStyle/>
          <a:p>
            <a:pPr>
              <a:defRPr sz="2600" b="1">
                <a:solidFill>
                  <a:srgbClr val="182D49"/>
                </a:solidFill>
                <a:latin typeface="Noto Sans JP"/>
              </a:defRPr>
            </a:pPr>
            <a:r>
              <a:rPr>
                <a:latin typeface="Noto Sans CJK JP"/>
              </a:rPr>
              <a:t>4. 「土日に多い」は、そのままでは正しくない</a:t>
            </a:r>
          </a:p>
        </p:txBody>
      </p:sp>
      <p:sp>
        <p:nvSpPr>
          <p:cNvPr id="4" name="TextBox 3"/>
          <p:cNvSpPr txBox="1"/>
          <p:nvPr/>
        </p:nvSpPr>
        <p:spPr>
          <a:xfrm>
            <a:off x="685800" y="1417320"/>
            <a:ext cx="10789920" cy="4389120"/>
          </a:xfrm>
          <a:prstGeom prst="rect">
            <a:avLst/>
          </a:prstGeom>
          <a:noFill/>
        </p:spPr>
        <p:txBody>
          <a:bodyPr wrap="square">
            <a:spAutoFit/>
          </a:bodyPr>
          <a:lstStyle/>
          <a:p>
            <a:pPr>
              <a:spcAft>
                <a:spcPts val="1200"/>
              </a:spcAft>
              <a:defRPr sz="1700">
                <a:solidFill>
                  <a:srgbClr val="505A69"/>
                </a:solidFill>
                <a:latin typeface="Noto Sans JP"/>
              </a:defRPr>
            </a:pPr>
            <a:r>
              <a:rPr>
                <a:latin typeface="Noto Sans CJK JP"/>
              </a:rPr>
              <a:t>全体では出力制御日の土日比率が高く見える。</a:t>
            </a:r>
          </a:p>
          <a:p>
            <a:pPr>
              <a:spcAft>
                <a:spcPts val="1200"/>
              </a:spcAft>
              <a:defRPr sz="1700">
                <a:solidFill>
                  <a:srgbClr val="505A69"/>
                </a:solidFill>
                <a:latin typeface="Noto Sans JP"/>
              </a:defRPr>
            </a:pPr>
            <a:r>
              <a:rPr>
                <a:latin typeface="Noto Sans CJK JP"/>
              </a:rPr>
              <a:t>しかし月別に分解すると、季節によってパターンが大きく異なった。</a:t>
            </a:r>
          </a:p>
          <a:p>
            <a:pPr lvl="1">
              <a:spcAft>
                <a:spcPts val="600"/>
              </a:spcAft>
              <a:defRPr sz="1400">
                <a:solidFill>
                  <a:srgbClr val="505A69"/>
                </a:solidFill>
                <a:latin typeface="Noto Sans JP"/>
              </a:defRPr>
            </a:pPr>
            <a:r>
              <a:rPr>
                <a:latin typeface="Noto Sans CJK JP"/>
              </a:rPr>
              <a:t>春（3〜5月）：制御そのものが多い。平日でも供給過多になりやすく、曜日差は小さい。</a:t>
            </a:r>
          </a:p>
          <a:p>
            <a:pPr lvl="1">
              <a:spcAft>
                <a:spcPts val="600"/>
              </a:spcAft>
              <a:defRPr sz="1400">
                <a:solidFill>
                  <a:srgbClr val="505A69"/>
                </a:solidFill>
                <a:latin typeface="Noto Sans JP"/>
              </a:defRPr>
            </a:pPr>
            <a:r>
              <a:rPr>
                <a:latin typeface="Noto Sans CJK JP"/>
              </a:rPr>
              <a:t>夏〜初秋（7〜9月）：制御は少ないが、発生時は土日に極端に偏る。冷房需要の影響と整合的。</a:t>
            </a:r>
          </a:p>
          <a:p>
            <a:pPr lvl="1">
              <a:spcAft>
                <a:spcPts val="600"/>
              </a:spcAft>
              <a:defRPr sz="1400">
                <a:solidFill>
                  <a:srgbClr val="505A69"/>
                </a:solidFill>
                <a:latin typeface="Noto Sans JP"/>
              </a:defRPr>
            </a:pPr>
            <a:r>
              <a:rPr>
                <a:latin typeface="Noto Sans CJK JP"/>
              </a:rPr>
              <a:t>秋冬（10〜2月）：両者の中間的な傾向。</a:t>
            </a:r>
          </a:p>
          <a:p>
            <a:pPr>
              <a:spcAft>
                <a:spcPts val="1200"/>
              </a:spcAft>
              <a:defRPr sz="1700">
                <a:solidFill>
                  <a:srgbClr val="505A69"/>
                </a:solidFill>
                <a:latin typeface="Noto Sans JP"/>
              </a:defRPr>
            </a:pPr>
            <a:r>
              <a:rPr>
                <a:latin typeface="Noto Sans CJK JP"/>
              </a:rPr>
              <a:t>したがって「土日要因」だけでなく、季節を同時に扱う必要がある。</a:t>
            </a:r>
          </a:p>
        </p:txBody>
      </p:sp>
      <p:sp>
        <p:nvSpPr>
          <p:cNvPr id="5" name="TextBox 4"/>
          <p:cNvSpPr txBox="1"/>
          <p:nvPr/>
        </p:nvSpPr>
        <p:spPr>
          <a:xfrm>
            <a:off x="502920" y="6473952"/>
            <a:ext cx="11155680" cy="228600"/>
          </a:xfrm>
          <a:prstGeom prst="rect">
            <a:avLst/>
          </a:prstGeom>
          <a:noFill/>
        </p:spPr>
        <p:txBody>
          <a:bodyPr wrap="none">
            <a:spAutoFit/>
          </a:bodyPr>
          <a:lstStyle/>
          <a:p>
            <a:pPr>
              <a:defRPr sz="800">
                <a:solidFill>
                  <a:srgbClr val="505A69"/>
                </a:solidFill>
                <a:latin typeface="Noto Sans JP"/>
              </a:defRPr>
            </a:pPr>
            <a:r>
              <a:rPr>
                <a:latin typeface="Noto Sans CJK JP"/>
              </a:rPr>
              <a:t>solar_curtailment_kyushu  |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155680" cy="685800"/>
          </a:xfrm>
          <a:prstGeom prst="rect">
            <a:avLst/>
          </a:prstGeom>
          <a:noFill/>
        </p:spPr>
        <p:txBody>
          <a:bodyPr wrap="none">
            <a:spAutoFit/>
          </a:bodyPr>
          <a:lstStyle/>
          <a:p>
            <a:pPr>
              <a:defRPr sz="2600" b="1">
                <a:solidFill>
                  <a:srgbClr val="182D49"/>
                </a:solidFill>
                <a:latin typeface="Noto Sans JP"/>
              </a:defRPr>
            </a:pPr>
            <a:r>
              <a:rPr>
                <a:latin typeface="Noto Sans CJK JP"/>
              </a:rPr>
              <a:t>5. 日照時間 vs 全天日射量：目的によって答えが違う</a:t>
            </a:r>
          </a:p>
        </p:txBody>
      </p:sp>
      <p:sp>
        <p:nvSpPr>
          <p:cNvPr id="5" name="TextBox 4"/>
          <p:cNvSpPr txBox="1"/>
          <p:nvPr/>
        </p:nvSpPr>
        <p:spPr>
          <a:xfrm>
            <a:off x="6903720" y="1508760"/>
            <a:ext cx="4572000" cy="3474720"/>
          </a:xfrm>
          <a:prstGeom prst="rect">
            <a:avLst/>
          </a:prstGeom>
          <a:noFill/>
        </p:spPr>
        <p:txBody>
          <a:bodyPr wrap="square">
            <a:spAutoFit/>
          </a:bodyPr>
          <a:lstStyle/>
          <a:p>
            <a:pPr>
              <a:spcAft>
                <a:spcPts val="1200"/>
              </a:spcAft>
              <a:defRPr sz="1600">
                <a:solidFill>
                  <a:srgbClr val="505A69"/>
                </a:solidFill>
                <a:latin typeface="Noto Sans JP"/>
              </a:defRPr>
            </a:pPr>
            <a:r>
              <a:rPr>
                <a:latin typeface="Noto Sans CJK JP"/>
              </a:rPr>
              <a:t>出力制御の有無（二値）の判別 → 日照時間が優位</a:t>
            </a:r>
          </a:p>
          <a:p>
            <a:pPr>
              <a:spcAft>
                <a:spcPts val="1200"/>
              </a:spcAft>
              <a:defRPr sz="1600">
                <a:solidFill>
                  <a:srgbClr val="505A69"/>
                </a:solidFill>
                <a:latin typeface="Noto Sans JP"/>
              </a:defRPr>
            </a:pPr>
            <a:r>
              <a:rPr>
                <a:latin typeface="Noto Sans CJK JP"/>
              </a:rPr>
              <a:t>九州：Cohen's d = 1.07（日照） &gt; 0.93（日射）</a:t>
            </a:r>
          </a:p>
          <a:p>
            <a:pPr>
              <a:spcAft>
                <a:spcPts val="1200"/>
              </a:spcAft>
              <a:defRPr sz="1600">
                <a:solidFill>
                  <a:srgbClr val="505A69"/>
                </a:solidFill>
                <a:latin typeface="Noto Sans JP"/>
              </a:defRPr>
            </a:pPr>
            <a:r>
              <a:rPr>
                <a:latin typeface="Noto Sans CJK JP"/>
              </a:rPr>
              <a:t>一方、実際の発電量（連続量）との相関では全天日射量が優位</a:t>
            </a:r>
          </a:p>
          <a:p>
            <a:pPr>
              <a:spcAft>
                <a:spcPts val="1200"/>
              </a:spcAft>
              <a:defRPr sz="1600">
                <a:solidFill>
                  <a:srgbClr val="505A69"/>
                </a:solidFill>
                <a:latin typeface="Noto Sans JP"/>
              </a:defRPr>
            </a:pPr>
            <a:r>
              <a:rPr>
                <a:latin typeface="Noto Sans CJK JP"/>
              </a:rPr>
              <a:t>つまり「最適な気象指標」は目的変数に依存する。</a:t>
            </a:r>
          </a:p>
        </p:txBody>
      </p:sp>
      <p:sp>
        <p:nvSpPr>
          <p:cNvPr id="6" name="TextBox 5"/>
          <p:cNvSpPr txBox="1"/>
          <p:nvPr/>
        </p:nvSpPr>
        <p:spPr>
          <a:xfrm>
            <a:off x="502920" y="6473952"/>
            <a:ext cx="11155680" cy="228600"/>
          </a:xfrm>
          <a:prstGeom prst="rect">
            <a:avLst/>
          </a:prstGeom>
          <a:noFill/>
        </p:spPr>
        <p:txBody>
          <a:bodyPr wrap="none">
            <a:spAutoFit/>
          </a:bodyPr>
          <a:lstStyle/>
          <a:p>
            <a:pPr>
              <a:defRPr sz="800">
                <a:solidFill>
                  <a:srgbClr val="505A69"/>
                </a:solidFill>
                <a:latin typeface="Noto Sans JP"/>
              </a:defRPr>
            </a:pPr>
            <a:r>
              <a:rPr>
                <a:latin typeface="Noto Sans CJK JP"/>
              </a:rPr>
              <a:t>solar_curtailment_kyushu  |  6</a:t>
            </a:r>
          </a:p>
        </p:txBody>
      </p:sp>
      <p:pic>
        <p:nvPicPr>
          <p:cNvPr id="7" name="Picture 6" descr="cohen.png"/>
          <p:cNvPicPr>
            <a:picLocks noChangeAspect="1"/>
          </p:cNvPicPr>
          <p:nvPr/>
        </p:nvPicPr>
        <p:blipFill>
          <a:blip r:embed="rId3"/>
          <a:stretch>
            <a:fillRect/>
          </a:stretch>
        </p:blipFill>
        <p:spPr>
          <a:xfrm>
            <a:off x="685800" y="1325880"/>
            <a:ext cx="6035040" cy="3193772"/>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155680" cy="685800"/>
          </a:xfrm>
          <a:prstGeom prst="rect">
            <a:avLst/>
          </a:prstGeom>
          <a:noFill/>
        </p:spPr>
        <p:txBody>
          <a:bodyPr wrap="none">
            <a:spAutoFit/>
          </a:bodyPr>
          <a:lstStyle/>
          <a:p>
            <a:pPr>
              <a:defRPr sz="2600" b="1">
                <a:solidFill>
                  <a:srgbClr val="182D49"/>
                </a:solidFill>
                <a:latin typeface="Noto Sans JP"/>
              </a:defRPr>
            </a:pPr>
            <a:r>
              <a:rPr>
                <a:latin typeface="Noto Sans CJK JP"/>
              </a:rPr>
              <a:t>6. ロジスティック回帰：季節を入れると精度が大きく向上</a:t>
            </a:r>
          </a:p>
        </p:txBody>
      </p:sp>
      <p:sp>
        <p:nvSpPr>
          <p:cNvPr id="5" name="TextBox 4"/>
          <p:cNvSpPr txBox="1"/>
          <p:nvPr/>
        </p:nvSpPr>
        <p:spPr>
          <a:xfrm>
            <a:off x="7223760" y="1371600"/>
            <a:ext cx="4297680" cy="4297680"/>
          </a:xfrm>
          <a:prstGeom prst="rect">
            <a:avLst/>
          </a:prstGeom>
          <a:noFill/>
        </p:spPr>
        <p:txBody>
          <a:bodyPr wrap="square">
            <a:spAutoFit/>
          </a:bodyPr>
          <a:lstStyle/>
          <a:p>
            <a:pPr>
              <a:spcAft>
                <a:spcPts val="1200"/>
              </a:spcAft>
              <a:defRPr sz="1500">
                <a:solidFill>
                  <a:srgbClr val="505A69"/>
                </a:solidFill>
                <a:latin typeface="Noto Sans JP"/>
              </a:defRPr>
            </a:pPr>
            <a:r>
              <a:rPr>
                <a:latin typeface="Noto Sans CJK JP"/>
              </a:rPr>
              <a:t>日照＋曜日＋トレンド：AUC 0.777</a:t>
            </a:r>
          </a:p>
          <a:p>
            <a:pPr>
              <a:spcAft>
                <a:spcPts val="1200"/>
              </a:spcAft>
              <a:defRPr sz="1500">
                <a:solidFill>
                  <a:srgbClr val="505A69"/>
                </a:solidFill>
                <a:latin typeface="Noto Sans JP"/>
              </a:defRPr>
            </a:pPr>
            <a:r>
              <a:rPr>
                <a:latin typeface="Noto Sans CJK JP"/>
              </a:rPr>
              <a:t>月＋日照＋トレンド：AUC 0.894</a:t>
            </a:r>
          </a:p>
          <a:p>
            <a:pPr>
              <a:spcAft>
                <a:spcPts val="1200"/>
              </a:spcAft>
              <a:defRPr sz="1500">
                <a:solidFill>
                  <a:srgbClr val="505A69"/>
                </a:solidFill>
                <a:latin typeface="Noto Sans JP"/>
              </a:defRPr>
            </a:pPr>
            <a:r>
              <a:rPr>
                <a:latin typeface="Noto Sans CJK JP"/>
              </a:rPr>
              <a:t>月＋日照＋曜日＋トレンド：AUC 0.904</a:t>
            </a:r>
          </a:p>
          <a:p>
            <a:pPr>
              <a:spcAft>
                <a:spcPts val="1200"/>
              </a:spcAft>
              <a:defRPr sz="1500">
                <a:solidFill>
                  <a:srgbClr val="505A69"/>
                </a:solidFill>
                <a:latin typeface="Noto Sans JP"/>
              </a:defRPr>
            </a:pPr>
            <a:r>
              <a:rPr>
                <a:latin typeface="Noto Sans CJK JP"/>
              </a:rPr>
              <a:t>季節（月）は、日照時間・曜日に匹敵する強力な予測因子。</a:t>
            </a:r>
          </a:p>
          <a:p>
            <a:pPr>
              <a:spcAft>
                <a:spcPts val="1200"/>
              </a:spcAft>
              <a:defRPr sz="1500">
                <a:solidFill>
                  <a:srgbClr val="505A69"/>
                </a:solidFill>
                <a:latin typeface="Noto Sans JP"/>
              </a:defRPr>
            </a:pPr>
            <a:r>
              <a:rPr>
                <a:latin typeface="Noto Sans CJK JP"/>
              </a:rPr>
              <a:t>曜日を追加する効果は小さく、0.894 → 0.904。</a:t>
            </a:r>
          </a:p>
        </p:txBody>
      </p:sp>
      <p:sp>
        <p:nvSpPr>
          <p:cNvPr id="6" name="TextBox 5"/>
          <p:cNvSpPr txBox="1"/>
          <p:nvPr/>
        </p:nvSpPr>
        <p:spPr>
          <a:xfrm>
            <a:off x="502920" y="6473952"/>
            <a:ext cx="11155680" cy="228600"/>
          </a:xfrm>
          <a:prstGeom prst="rect">
            <a:avLst/>
          </a:prstGeom>
          <a:noFill/>
        </p:spPr>
        <p:txBody>
          <a:bodyPr wrap="none">
            <a:spAutoFit/>
          </a:bodyPr>
          <a:lstStyle/>
          <a:p>
            <a:pPr>
              <a:defRPr sz="800">
                <a:solidFill>
                  <a:srgbClr val="505A69"/>
                </a:solidFill>
                <a:latin typeface="Noto Sans JP"/>
              </a:defRPr>
            </a:pPr>
            <a:r>
              <a:rPr>
                <a:latin typeface="Noto Sans CJK JP"/>
              </a:rPr>
              <a:t>solar_curtailment_kyushu  |  7</a:t>
            </a:r>
          </a:p>
        </p:txBody>
      </p:sp>
      <p:pic>
        <p:nvPicPr>
          <p:cNvPr id="7" name="Picture 6" descr="auc.png"/>
          <p:cNvPicPr>
            <a:picLocks noChangeAspect="1"/>
          </p:cNvPicPr>
          <p:nvPr/>
        </p:nvPicPr>
        <p:blipFill>
          <a:blip r:embed="rId3"/>
          <a:stretch>
            <a:fillRect/>
          </a:stretch>
        </p:blipFill>
        <p:spPr>
          <a:xfrm>
            <a:off x="594360" y="1234440"/>
            <a:ext cx="6400800" cy="3146427"/>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155680" cy="685800"/>
          </a:xfrm>
          <a:prstGeom prst="rect">
            <a:avLst/>
          </a:prstGeom>
          <a:noFill/>
        </p:spPr>
        <p:txBody>
          <a:bodyPr wrap="none">
            <a:spAutoFit/>
          </a:bodyPr>
          <a:lstStyle/>
          <a:p>
            <a:pPr>
              <a:defRPr sz="2600" b="1">
                <a:solidFill>
                  <a:srgbClr val="182D49"/>
                </a:solidFill>
                <a:latin typeface="Noto Sans JP"/>
              </a:defRPr>
            </a:pPr>
            <a:r>
              <a:rPr>
                <a:latin typeface="Noto Sans CJK JP"/>
              </a:rPr>
              <a:t>7. 太陽光の導入量が増えると、同じ天気でも制御リスクが上がる</a:t>
            </a:r>
          </a:p>
        </p:txBody>
      </p:sp>
      <p:sp>
        <p:nvSpPr>
          <p:cNvPr id="4" name="Rounded Rectangle 3"/>
          <p:cNvSpPr/>
          <p:nvPr/>
        </p:nvSpPr>
        <p:spPr>
          <a:xfrm>
            <a:off x="822960" y="1417320"/>
            <a:ext cx="2926080" cy="1463040"/>
          </a:xfrm>
          <a:prstGeom prst="roundRect">
            <a:avLst/>
          </a:prstGeom>
          <a:solidFill>
            <a:srgbClr val="FFFFFF"/>
          </a:solidFill>
          <a:ln>
            <a:solidFill>
              <a:srgbClr val="E8E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581912"/>
            <a:ext cx="2651760" cy="804672"/>
          </a:xfrm>
          <a:prstGeom prst="rect">
            <a:avLst/>
          </a:prstGeom>
          <a:noFill/>
        </p:spPr>
        <p:txBody>
          <a:bodyPr wrap="none">
            <a:spAutoFit/>
          </a:bodyPr>
          <a:lstStyle/>
          <a:p>
            <a:pPr algn="ctr">
              <a:defRPr sz="3000" b="1">
                <a:solidFill>
                  <a:srgbClr val="2A5C96"/>
                </a:solidFill>
                <a:latin typeface="Noto Sans JP"/>
              </a:defRPr>
            </a:pPr>
            <a:r>
              <a:rPr>
                <a:latin typeface="Noto Sans CJK JP"/>
              </a:rPr>
              <a:t>738万 kW</a:t>
            </a:r>
          </a:p>
        </p:txBody>
      </p:sp>
      <p:sp>
        <p:nvSpPr>
          <p:cNvPr id="6" name="TextBox 5"/>
          <p:cNvSpPr txBox="1"/>
          <p:nvPr/>
        </p:nvSpPr>
        <p:spPr>
          <a:xfrm>
            <a:off x="932688" y="2324404"/>
            <a:ext cx="2706624" cy="409651"/>
          </a:xfrm>
          <a:prstGeom prst="rect">
            <a:avLst/>
          </a:prstGeom>
          <a:noFill/>
        </p:spPr>
        <p:txBody>
          <a:bodyPr wrap="none">
            <a:spAutoFit/>
          </a:bodyPr>
          <a:lstStyle/>
          <a:p>
            <a:pPr algn="ctr">
              <a:defRPr sz="1100">
                <a:solidFill>
                  <a:srgbClr val="505A69"/>
                </a:solidFill>
                <a:latin typeface="Noto Sans JP"/>
              </a:defRPr>
            </a:pPr>
            <a:r>
              <a:rPr>
                <a:latin typeface="Noto Sans CJK JP"/>
              </a:rPr>
              <a:t>2017年6月末：九州7県</a:t>
            </a:r>
          </a:p>
        </p:txBody>
      </p:sp>
      <p:sp>
        <p:nvSpPr>
          <p:cNvPr id="7" name="Rounded Rectangle 6"/>
          <p:cNvSpPr/>
          <p:nvPr/>
        </p:nvSpPr>
        <p:spPr>
          <a:xfrm>
            <a:off x="4526280" y="1417320"/>
            <a:ext cx="2926080" cy="1463040"/>
          </a:xfrm>
          <a:prstGeom prst="roundRect">
            <a:avLst/>
          </a:prstGeom>
          <a:solidFill>
            <a:srgbClr val="FFFFFF"/>
          </a:solidFill>
          <a:ln>
            <a:solidFill>
              <a:srgbClr val="E8E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63440" y="1581912"/>
            <a:ext cx="2651760" cy="804672"/>
          </a:xfrm>
          <a:prstGeom prst="rect">
            <a:avLst/>
          </a:prstGeom>
          <a:noFill/>
        </p:spPr>
        <p:txBody>
          <a:bodyPr wrap="none">
            <a:spAutoFit/>
          </a:bodyPr>
          <a:lstStyle/>
          <a:p>
            <a:pPr algn="ctr">
              <a:defRPr sz="3000" b="1">
                <a:solidFill>
                  <a:srgbClr val="2A5C96"/>
                </a:solidFill>
                <a:latin typeface="Noto Sans JP"/>
              </a:defRPr>
            </a:pPr>
            <a:r>
              <a:rPr>
                <a:latin typeface="Noto Sans CJK JP"/>
              </a:rPr>
              <a:t>1,270万 kW</a:t>
            </a:r>
          </a:p>
        </p:txBody>
      </p:sp>
      <p:sp>
        <p:nvSpPr>
          <p:cNvPr id="9" name="TextBox 8"/>
          <p:cNvSpPr txBox="1"/>
          <p:nvPr/>
        </p:nvSpPr>
        <p:spPr>
          <a:xfrm>
            <a:off x="4636008" y="2324404"/>
            <a:ext cx="2706624" cy="409651"/>
          </a:xfrm>
          <a:prstGeom prst="rect">
            <a:avLst/>
          </a:prstGeom>
          <a:noFill/>
        </p:spPr>
        <p:txBody>
          <a:bodyPr wrap="none">
            <a:spAutoFit/>
          </a:bodyPr>
          <a:lstStyle/>
          <a:p>
            <a:pPr algn="ctr">
              <a:defRPr sz="1100">
                <a:solidFill>
                  <a:srgbClr val="505A69"/>
                </a:solidFill>
                <a:latin typeface="Noto Sans JP"/>
              </a:defRPr>
            </a:pPr>
            <a:r>
              <a:rPr>
                <a:latin typeface="Noto Sans CJK JP"/>
              </a:rPr>
              <a:t>2026年3月末：九州7県</a:t>
            </a:r>
          </a:p>
        </p:txBody>
      </p:sp>
      <p:sp>
        <p:nvSpPr>
          <p:cNvPr id="10" name="Rounded Rectangle 9"/>
          <p:cNvSpPr/>
          <p:nvPr/>
        </p:nvSpPr>
        <p:spPr>
          <a:xfrm>
            <a:off x="8229600" y="1417320"/>
            <a:ext cx="2926080" cy="1463040"/>
          </a:xfrm>
          <a:prstGeom prst="roundRect">
            <a:avLst/>
          </a:prstGeom>
          <a:solidFill>
            <a:srgbClr val="FFFFFF"/>
          </a:solidFill>
          <a:ln>
            <a:solidFill>
              <a:srgbClr val="E8E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66760" y="1581912"/>
            <a:ext cx="2651760" cy="804672"/>
          </a:xfrm>
          <a:prstGeom prst="rect">
            <a:avLst/>
          </a:prstGeom>
          <a:noFill/>
        </p:spPr>
        <p:txBody>
          <a:bodyPr wrap="none">
            <a:spAutoFit/>
          </a:bodyPr>
          <a:lstStyle/>
          <a:p>
            <a:pPr algn="ctr">
              <a:defRPr sz="3000" b="1">
                <a:solidFill>
                  <a:srgbClr val="2A5C96"/>
                </a:solidFill>
                <a:latin typeface="Noto Sans JP"/>
              </a:defRPr>
            </a:pPr>
            <a:r>
              <a:rPr>
                <a:latin typeface="Noto Sans CJK JP"/>
              </a:rPr>
              <a:t>+0.506</a:t>
            </a:r>
          </a:p>
        </p:txBody>
      </p:sp>
      <p:sp>
        <p:nvSpPr>
          <p:cNvPr id="12" name="TextBox 11"/>
          <p:cNvSpPr txBox="1"/>
          <p:nvPr/>
        </p:nvSpPr>
        <p:spPr>
          <a:xfrm>
            <a:off x="8339327" y="2324404"/>
            <a:ext cx="2706624" cy="409651"/>
          </a:xfrm>
          <a:prstGeom prst="rect">
            <a:avLst/>
          </a:prstGeom>
          <a:noFill/>
        </p:spPr>
        <p:txBody>
          <a:bodyPr wrap="none">
            <a:spAutoFit/>
          </a:bodyPr>
          <a:lstStyle/>
          <a:p>
            <a:pPr algn="ctr">
              <a:defRPr sz="1100">
                <a:solidFill>
                  <a:srgbClr val="505A69"/>
                </a:solidFill>
                <a:latin typeface="Noto Sans JP"/>
              </a:defRPr>
            </a:pPr>
            <a:r>
              <a:rPr>
                <a:latin typeface="Noto Sans CJK JP"/>
              </a:rPr>
              <a:t>導入容量のモデル係数</a:t>
            </a:r>
          </a:p>
        </p:txBody>
      </p:sp>
      <p:sp>
        <p:nvSpPr>
          <p:cNvPr id="13" name="TextBox 12"/>
          <p:cNvSpPr txBox="1"/>
          <p:nvPr/>
        </p:nvSpPr>
        <p:spPr>
          <a:xfrm>
            <a:off x="685800" y="3383280"/>
            <a:ext cx="10789920" cy="2103120"/>
          </a:xfrm>
          <a:prstGeom prst="rect">
            <a:avLst/>
          </a:prstGeom>
          <a:noFill/>
        </p:spPr>
        <p:txBody>
          <a:bodyPr wrap="square">
            <a:spAutoFit/>
          </a:bodyPr>
          <a:lstStyle/>
          <a:p>
            <a:pPr>
              <a:spcAft>
                <a:spcPts val="1200"/>
              </a:spcAft>
              <a:defRPr sz="1700">
                <a:solidFill>
                  <a:srgbClr val="505A69"/>
                </a:solidFill>
                <a:latin typeface="Noto Sans JP"/>
              </a:defRPr>
            </a:pPr>
            <a:r>
              <a:rPr>
                <a:latin typeface="Noto Sans CJK JP"/>
              </a:rPr>
              <a:t>「開始から何年経ったか」という簡単なトレンドでもAUCはほぼ同じ。</a:t>
            </a:r>
          </a:p>
          <a:p>
            <a:pPr>
              <a:spcAft>
                <a:spcPts val="1200"/>
              </a:spcAft>
              <a:defRPr sz="1700">
                <a:solidFill>
                  <a:srgbClr val="505A69"/>
                </a:solidFill>
                <a:latin typeface="Noto Sans JP"/>
              </a:defRPr>
            </a:pPr>
            <a:r>
              <a:rPr>
                <a:latin typeface="Noto Sans CJK JP"/>
              </a:rPr>
              <a:t>実際の導入容量を入れても、フルモデルのAUCは0.904 → 0.905。</a:t>
            </a:r>
          </a:p>
          <a:p>
            <a:pPr>
              <a:spcAft>
                <a:spcPts val="1200"/>
              </a:spcAft>
              <a:defRPr sz="1700">
                <a:solidFill>
                  <a:srgbClr val="505A69"/>
                </a:solidFill>
                <a:latin typeface="Noto Sans JP"/>
              </a:defRPr>
            </a:pPr>
            <a:r>
              <a:rPr>
                <a:latin typeface="Noto Sans CJK JP"/>
              </a:rPr>
              <a:t>導入容量は「予測確率の水準」を調整するうえで意味があり、設備増加を無視すると現在のリスクを過小評価しやすい。</a:t>
            </a:r>
          </a:p>
        </p:txBody>
      </p:sp>
      <p:sp>
        <p:nvSpPr>
          <p:cNvPr id="14" name="TextBox 13"/>
          <p:cNvSpPr txBox="1"/>
          <p:nvPr/>
        </p:nvSpPr>
        <p:spPr>
          <a:xfrm>
            <a:off x="502920" y="6473952"/>
            <a:ext cx="11155680" cy="228600"/>
          </a:xfrm>
          <a:prstGeom prst="rect">
            <a:avLst/>
          </a:prstGeom>
          <a:noFill/>
        </p:spPr>
        <p:txBody>
          <a:bodyPr wrap="none">
            <a:spAutoFit/>
          </a:bodyPr>
          <a:lstStyle/>
          <a:p>
            <a:pPr>
              <a:defRPr sz="800">
                <a:solidFill>
                  <a:srgbClr val="505A69"/>
                </a:solidFill>
                <a:latin typeface="Noto Sans JP"/>
              </a:defRPr>
            </a:pPr>
            <a:r>
              <a:rPr>
                <a:latin typeface="Noto Sans CJK JP"/>
              </a:rPr>
              <a:t>solar_curtailment_kyushu  |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155680" cy="685800"/>
          </a:xfrm>
          <a:prstGeom prst="rect">
            <a:avLst/>
          </a:prstGeom>
          <a:noFill/>
        </p:spPr>
        <p:txBody>
          <a:bodyPr wrap="none">
            <a:spAutoFit/>
          </a:bodyPr>
          <a:lstStyle/>
          <a:p>
            <a:pPr>
              <a:defRPr sz="2600" b="1">
                <a:solidFill>
                  <a:srgbClr val="182D49"/>
                </a:solidFill>
                <a:latin typeface="Noto Sans JP"/>
              </a:defRPr>
            </a:pPr>
            <a:r>
              <a:rPr>
                <a:latin typeface="Noto Sans CJK JP"/>
              </a:rPr>
              <a:t>8. 福岡1地点より「九州全体の晴れ」を見ると精度が上がる</a:t>
            </a:r>
          </a:p>
        </p:txBody>
      </p:sp>
      <p:sp>
        <p:nvSpPr>
          <p:cNvPr id="4" name="Rounded Rectangle 3"/>
          <p:cNvSpPr/>
          <p:nvPr/>
        </p:nvSpPr>
        <p:spPr>
          <a:xfrm>
            <a:off x="685800" y="1325880"/>
            <a:ext cx="2743200" cy="1463040"/>
          </a:xfrm>
          <a:prstGeom prst="roundRect">
            <a:avLst/>
          </a:prstGeom>
          <a:solidFill>
            <a:srgbClr val="FFFFFF"/>
          </a:solidFill>
          <a:ln>
            <a:solidFill>
              <a:srgbClr val="E8E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490472"/>
            <a:ext cx="2468880" cy="804672"/>
          </a:xfrm>
          <a:prstGeom prst="rect">
            <a:avLst/>
          </a:prstGeom>
          <a:noFill/>
        </p:spPr>
        <p:txBody>
          <a:bodyPr wrap="none">
            <a:spAutoFit/>
          </a:bodyPr>
          <a:lstStyle/>
          <a:p>
            <a:pPr algn="ctr">
              <a:defRPr sz="3000" b="1">
                <a:solidFill>
                  <a:srgbClr val="2A5C96"/>
                </a:solidFill>
                <a:latin typeface="Noto Sans JP"/>
              </a:defRPr>
            </a:pPr>
            <a:r>
              <a:rPr>
                <a:latin typeface="Noto Sans CJK JP"/>
              </a:rPr>
              <a:t>0.904</a:t>
            </a:r>
          </a:p>
        </p:txBody>
      </p:sp>
      <p:sp>
        <p:nvSpPr>
          <p:cNvPr id="6" name="TextBox 5"/>
          <p:cNvSpPr txBox="1"/>
          <p:nvPr/>
        </p:nvSpPr>
        <p:spPr>
          <a:xfrm>
            <a:off x="795528" y="2232964"/>
            <a:ext cx="2523744" cy="409651"/>
          </a:xfrm>
          <a:prstGeom prst="rect">
            <a:avLst/>
          </a:prstGeom>
          <a:noFill/>
        </p:spPr>
        <p:txBody>
          <a:bodyPr wrap="none">
            <a:spAutoFit/>
          </a:bodyPr>
          <a:lstStyle/>
          <a:p>
            <a:pPr algn="ctr">
              <a:defRPr sz="1100">
                <a:solidFill>
                  <a:srgbClr val="505A69"/>
                </a:solidFill>
                <a:latin typeface="Noto Sans JP"/>
              </a:defRPr>
            </a:pPr>
            <a:r>
              <a:rPr>
                <a:latin typeface="Noto Sans CJK JP"/>
              </a:rPr>
              <a:t>福岡・単一点</a:t>
            </a:r>
          </a:p>
        </p:txBody>
      </p:sp>
      <p:sp>
        <p:nvSpPr>
          <p:cNvPr id="7" name="Rounded Rectangle 6"/>
          <p:cNvSpPr/>
          <p:nvPr/>
        </p:nvSpPr>
        <p:spPr>
          <a:xfrm>
            <a:off x="3703320" y="1325880"/>
            <a:ext cx="2743200" cy="1463040"/>
          </a:xfrm>
          <a:prstGeom prst="roundRect">
            <a:avLst/>
          </a:prstGeom>
          <a:solidFill>
            <a:srgbClr val="FFFFFF"/>
          </a:solidFill>
          <a:ln>
            <a:solidFill>
              <a:srgbClr val="E8E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840480" y="1490472"/>
            <a:ext cx="2468880" cy="804672"/>
          </a:xfrm>
          <a:prstGeom prst="rect">
            <a:avLst/>
          </a:prstGeom>
          <a:noFill/>
        </p:spPr>
        <p:txBody>
          <a:bodyPr wrap="none">
            <a:spAutoFit/>
          </a:bodyPr>
          <a:lstStyle/>
          <a:p>
            <a:pPr algn="ctr">
              <a:defRPr sz="3000" b="1">
                <a:solidFill>
                  <a:srgbClr val="2A5C96"/>
                </a:solidFill>
                <a:latin typeface="Noto Sans JP"/>
              </a:defRPr>
            </a:pPr>
            <a:r>
              <a:rPr>
                <a:latin typeface="Noto Sans CJK JP"/>
              </a:rPr>
              <a:t>0.925</a:t>
            </a:r>
          </a:p>
        </p:txBody>
      </p:sp>
      <p:sp>
        <p:nvSpPr>
          <p:cNvPr id="9" name="TextBox 8"/>
          <p:cNvSpPr txBox="1"/>
          <p:nvPr/>
        </p:nvSpPr>
        <p:spPr>
          <a:xfrm>
            <a:off x="3813048" y="2232964"/>
            <a:ext cx="2523744" cy="409651"/>
          </a:xfrm>
          <a:prstGeom prst="rect">
            <a:avLst/>
          </a:prstGeom>
          <a:noFill/>
        </p:spPr>
        <p:txBody>
          <a:bodyPr wrap="none">
            <a:spAutoFit/>
          </a:bodyPr>
          <a:lstStyle/>
          <a:p>
            <a:pPr algn="ctr">
              <a:defRPr sz="1100">
                <a:solidFill>
                  <a:srgbClr val="505A69"/>
                </a:solidFill>
                <a:latin typeface="Noto Sans JP"/>
              </a:defRPr>
            </a:pPr>
            <a:r>
              <a:rPr>
                <a:latin typeface="Noto Sans CJK JP"/>
              </a:rPr>
              <a:t>AMeDAS 7県平均</a:t>
            </a:r>
          </a:p>
        </p:txBody>
      </p:sp>
      <p:sp>
        <p:nvSpPr>
          <p:cNvPr id="10" name="Rounded Rectangle 9"/>
          <p:cNvSpPr/>
          <p:nvPr/>
        </p:nvSpPr>
        <p:spPr>
          <a:xfrm>
            <a:off x="6720840" y="1325880"/>
            <a:ext cx="2743200" cy="1463040"/>
          </a:xfrm>
          <a:prstGeom prst="roundRect">
            <a:avLst/>
          </a:prstGeom>
          <a:solidFill>
            <a:srgbClr val="FFFFFF"/>
          </a:solidFill>
          <a:ln>
            <a:solidFill>
              <a:srgbClr val="E8E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0" y="1490472"/>
            <a:ext cx="2468880" cy="804672"/>
          </a:xfrm>
          <a:prstGeom prst="rect">
            <a:avLst/>
          </a:prstGeom>
          <a:noFill/>
        </p:spPr>
        <p:txBody>
          <a:bodyPr wrap="none">
            <a:spAutoFit/>
          </a:bodyPr>
          <a:lstStyle/>
          <a:p>
            <a:pPr algn="ctr">
              <a:defRPr sz="3000" b="1">
                <a:solidFill>
                  <a:srgbClr val="2A5C96"/>
                </a:solidFill>
                <a:latin typeface="Noto Sans JP"/>
              </a:defRPr>
            </a:pPr>
            <a:r>
              <a:rPr>
                <a:latin typeface="Noto Sans CJK JP"/>
              </a:rPr>
              <a:t>0.924</a:t>
            </a:r>
          </a:p>
        </p:txBody>
      </p:sp>
      <p:sp>
        <p:nvSpPr>
          <p:cNvPr id="12" name="TextBox 11"/>
          <p:cNvSpPr txBox="1"/>
          <p:nvPr/>
        </p:nvSpPr>
        <p:spPr>
          <a:xfrm>
            <a:off x="6830568" y="2232964"/>
            <a:ext cx="2523744" cy="409651"/>
          </a:xfrm>
          <a:prstGeom prst="rect">
            <a:avLst/>
          </a:prstGeom>
          <a:noFill/>
        </p:spPr>
        <p:txBody>
          <a:bodyPr wrap="none">
            <a:spAutoFit/>
          </a:bodyPr>
          <a:lstStyle/>
          <a:p>
            <a:pPr algn="ctr">
              <a:defRPr sz="1100">
                <a:solidFill>
                  <a:srgbClr val="505A69"/>
                </a:solidFill>
                <a:latin typeface="Noto Sans JP"/>
              </a:defRPr>
            </a:pPr>
            <a:r>
              <a:rPr>
                <a:latin typeface="Noto Sans CJK JP"/>
              </a:rPr>
              <a:t>AMGSDS 九州メッシュ</a:t>
            </a:r>
          </a:p>
        </p:txBody>
      </p:sp>
      <p:sp>
        <p:nvSpPr>
          <p:cNvPr id="13" name="Rounded Rectangle 12"/>
          <p:cNvSpPr/>
          <p:nvPr/>
        </p:nvSpPr>
        <p:spPr>
          <a:xfrm>
            <a:off x="9738360" y="1325880"/>
            <a:ext cx="1737360" cy="1463040"/>
          </a:xfrm>
          <a:prstGeom prst="roundRect">
            <a:avLst/>
          </a:prstGeom>
          <a:solidFill>
            <a:srgbClr val="FFFFFF"/>
          </a:solidFill>
          <a:ln>
            <a:solidFill>
              <a:srgbClr val="E8E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875520" y="1490472"/>
            <a:ext cx="1463039" cy="804672"/>
          </a:xfrm>
          <a:prstGeom prst="rect">
            <a:avLst/>
          </a:prstGeom>
          <a:noFill/>
        </p:spPr>
        <p:txBody>
          <a:bodyPr wrap="none">
            <a:spAutoFit/>
          </a:bodyPr>
          <a:lstStyle/>
          <a:p>
            <a:pPr algn="ctr">
              <a:defRPr sz="3000" b="1">
                <a:solidFill>
                  <a:srgbClr val="2A5C96"/>
                </a:solidFill>
                <a:latin typeface="Noto Sans JP"/>
              </a:defRPr>
            </a:pPr>
            <a:r>
              <a:rPr>
                <a:latin typeface="Noto Sans CJK JP"/>
              </a:rPr>
              <a:t>最高</a:t>
            </a:r>
          </a:p>
        </p:txBody>
      </p:sp>
      <p:sp>
        <p:nvSpPr>
          <p:cNvPr id="15" name="TextBox 14"/>
          <p:cNvSpPr txBox="1"/>
          <p:nvPr/>
        </p:nvSpPr>
        <p:spPr>
          <a:xfrm>
            <a:off x="9848088" y="2232964"/>
            <a:ext cx="1517904" cy="409651"/>
          </a:xfrm>
          <a:prstGeom prst="rect">
            <a:avLst/>
          </a:prstGeom>
          <a:noFill/>
        </p:spPr>
        <p:txBody>
          <a:bodyPr wrap="none">
            <a:spAutoFit/>
          </a:bodyPr>
          <a:lstStyle/>
          <a:p>
            <a:pPr algn="ctr">
              <a:defRPr sz="1100">
                <a:solidFill>
                  <a:srgbClr val="505A69"/>
                </a:solidFill>
                <a:latin typeface="Noto Sans JP"/>
              </a:defRPr>
            </a:pPr>
            <a:r>
              <a:rPr>
                <a:latin typeface="Noto Sans CJK JP"/>
              </a:rPr>
              <a:t>AUC</a:t>
            </a:r>
          </a:p>
        </p:txBody>
      </p:sp>
      <p:sp>
        <p:nvSpPr>
          <p:cNvPr id="16" name="TextBox 15"/>
          <p:cNvSpPr txBox="1"/>
          <p:nvPr/>
        </p:nvSpPr>
        <p:spPr>
          <a:xfrm>
            <a:off x="685800" y="3246120"/>
            <a:ext cx="10789920" cy="2194560"/>
          </a:xfrm>
          <a:prstGeom prst="rect">
            <a:avLst/>
          </a:prstGeom>
          <a:noFill/>
        </p:spPr>
        <p:txBody>
          <a:bodyPr wrap="square">
            <a:spAutoFit/>
          </a:bodyPr>
          <a:lstStyle/>
          <a:p>
            <a:pPr>
              <a:spcAft>
                <a:spcPts val="1200"/>
              </a:spcAft>
              <a:defRPr sz="1700">
                <a:solidFill>
                  <a:srgbClr val="505A69"/>
                </a:solidFill>
                <a:latin typeface="Noto Sans JP"/>
              </a:defRPr>
            </a:pPr>
            <a:r>
              <a:rPr>
                <a:latin typeface="Noto Sans CJK JP"/>
              </a:rPr>
              <a:t>出力制御は九州本土の系統全体で起きるため、気象も面的に捉える方が自然。</a:t>
            </a:r>
          </a:p>
          <a:p>
            <a:pPr>
              <a:spcAft>
                <a:spcPts val="1200"/>
              </a:spcAft>
              <a:defRPr sz="1700">
                <a:solidFill>
                  <a:srgbClr val="505A69"/>
                </a:solidFill>
                <a:latin typeface="Noto Sans JP"/>
              </a:defRPr>
            </a:pPr>
            <a:r>
              <a:rPr>
                <a:latin typeface="Noto Sans CJK JP"/>
              </a:rPr>
              <a:t>AMeDAS 7県平均とAMGSDSメッシュ面平均はほぼ同等。</a:t>
            </a:r>
          </a:p>
          <a:p>
            <a:pPr>
              <a:spcAft>
                <a:spcPts val="1200"/>
              </a:spcAft>
              <a:defRPr sz="1700">
                <a:solidFill>
                  <a:srgbClr val="505A69"/>
                </a:solidFill>
                <a:latin typeface="Noto Sans JP"/>
              </a:defRPr>
            </a:pPr>
            <a:r>
              <a:rPr>
                <a:latin typeface="Noto Sans CJK JP"/>
              </a:rPr>
              <a:t>実務上は、高解像度メッシュを使わなくても「7県の気象官署平均」で十分な精度が得られる可能性がある。</a:t>
            </a:r>
          </a:p>
        </p:txBody>
      </p:sp>
      <p:sp>
        <p:nvSpPr>
          <p:cNvPr id="17" name="TextBox 16"/>
          <p:cNvSpPr txBox="1"/>
          <p:nvPr/>
        </p:nvSpPr>
        <p:spPr>
          <a:xfrm>
            <a:off x="502920" y="6473952"/>
            <a:ext cx="11155680" cy="228600"/>
          </a:xfrm>
          <a:prstGeom prst="rect">
            <a:avLst/>
          </a:prstGeom>
          <a:noFill/>
        </p:spPr>
        <p:txBody>
          <a:bodyPr wrap="none">
            <a:spAutoFit/>
          </a:bodyPr>
          <a:lstStyle/>
          <a:p>
            <a:pPr>
              <a:defRPr sz="800">
                <a:solidFill>
                  <a:srgbClr val="505A69"/>
                </a:solidFill>
                <a:latin typeface="Noto Sans JP"/>
              </a:defRPr>
            </a:pPr>
            <a:r>
              <a:rPr>
                <a:latin typeface="Noto Sans CJK JP"/>
              </a:rPr>
              <a:t>solar_curtailment_kyushu  |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155680" cy="685800"/>
          </a:xfrm>
          <a:prstGeom prst="rect">
            <a:avLst/>
          </a:prstGeom>
          <a:noFill/>
        </p:spPr>
        <p:txBody>
          <a:bodyPr wrap="none">
            <a:spAutoFit/>
          </a:bodyPr>
          <a:lstStyle/>
          <a:p>
            <a:pPr>
              <a:defRPr sz="2600" b="1">
                <a:solidFill>
                  <a:srgbClr val="182D49"/>
                </a:solidFill>
                <a:latin typeface="Noto Sans JP"/>
              </a:defRPr>
            </a:pPr>
            <a:r>
              <a:rPr>
                <a:latin typeface="Noto Sans CJK JP"/>
              </a:rPr>
              <a:t>9. 重要な訂正①：「AMGSDSの方が正確」は誤り</a:t>
            </a:r>
          </a:p>
        </p:txBody>
      </p:sp>
      <p:sp>
        <p:nvSpPr>
          <p:cNvPr id="4" name="Rounded Rectangle 3"/>
          <p:cNvSpPr/>
          <p:nvPr/>
        </p:nvSpPr>
        <p:spPr>
          <a:xfrm>
            <a:off x="914400" y="1417320"/>
            <a:ext cx="2834640" cy="1508760"/>
          </a:xfrm>
          <a:prstGeom prst="roundRect">
            <a:avLst/>
          </a:prstGeom>
          <a:solidFill>
            <a:srgbClr val="FFFFFF"/>
          </a:solidFill>
          <a:ln>
            <a:solidFill>
              <a:srgbClr val="E8E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 y="1581912"/>
            <a:ext cx="2560320" cy="829818"/>
          </a:xfrm>
          <a:prstGeom prst="rect">
            <a:avLst/>
          </a:prstGeom>
          <a:noFill/>
        </p:spPr>
        <p:txBody>
          <a:bodyPr wrap="none">
            <a:spAutoFit/>
          </a:bodyPr>
          <a:lstStyle/>
          <a:p>
            <a:pPr algn="ctr">
              <a:defRPr sz="3000" b="1">
                <a:solidFill>
                  <a:srgbClr val="2A5C96"/>
                </a:solidFill>
                <a:latin typeface="Noto Sans JP"/>
              </a:defRPr>
            </a:pPr>
            <a:r>
              <a:rPr>
                <a:latin typeface="Noto Sans CJK JP"/>
              </a:rPr>
              <a:t>0.706</a:t>
            </a:r>
          </a:p>
        </p:txBody>
      </p:sp>
      <p:sp>
        <p:nvSpPr>
          <p:cNvPr id="6" name="TextBox 5"/>
          <p:cNvSpPr txBox="1"/>
          <p:nvPr/>
        </p:nvSpPr>
        <p:spPr>
          <a:xfrm>
            <a:off x="1024128" y="2352751"/>
            <a:ext cx="2615184" cy="422452"/>
          </a:xfrm>
          <a:prstGeom prst="rect">
            <a:avLst/>
          </a:prstGeom>
          <a:noFill/>
        </p:spPr>
        <p:txBody>
          <a:bodyPr wrap="none">
            <a:spAutoFit/>
          </a:bodyPr>
          <a:lstStyle/>
          <a:p>
            <a:pPr algn="ctr">
              <a:defRPr sz="1100">
                <a:solidFill>
                  <a:srgbClr val="505A69"/>
                </a:solidFill>
                <a:latin typeface="Noto Sans JP"/>
              </a:defRPr>
            </a:pPr>
            <a:r>
              <a:rPr>
                <a:latin typeface="Noto Sans CJK JP"/>
              </a:rPr>
              <a:t>AMGSDS模擬予報</a:t>
            </a:r>
          </a:p>
        </p:txBody>
      </p:sp>
      <p:sp>
        <p:nvSpPr>
          <p:cNvPr id="7" name="Rounded Rectangle 6"/>
          <p:cNvSpPr/>
          <p:nvPr/>
        </p:nvSpPr>
        <p:spPr>
          <a:xfrm>
            <a:off x="4663440" y="1417320"/>
            <a:ext cx="2834640" cy="1508760"/>
          </a:xfrm>
          <a:prstGeom prst="roundRect">
            <a:avLst/>
          </a:prstGeom>
          <a:solidFill>
            <a:srgbClr val="FFFFFF"/>
          </a:solidFill>
          <a:ln>
            <a:solidFill>
              <a:srgbClr val="E8E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800600" y="1581912"/>
            <a:ext cx="2560320" cy="829818"/>
          </a:xfrm>
          <a:prstGeom prst="rect">
            <a:avLst/>
          </a:prstGeom>
          <a:noFill/>
        </p:spPr>
        <p:txBody>
          <a:bodyPr wrap="none">
            <a:spAutoFit/>
          </a:bodyPr>
          <a:lstStyle/>
          <a:p>
            <a:pPr algn="ctr">
              <a:defRPr sz="3000" b="1">
                <a:solidFill>
                  <a:srgbClr val="2A5C96"/>
                </a:solidFill>
                <a:latin typeface="Noto Sans JP"/>
              </a:defRPr>
            </a:pPr>
            <a:r>
              <a:rPr>
                <a:latin typeface="Noto Sans CJK JP"/>
              </a:rPr>
              <a:t>0.768</a:t>
            </a:r>
          </a:p>
        </p:txBody>
      </p:sp>
      <p:sp>
        <p:nvSpPr>
          <p:cNvPr id="9" name="TextBox 8"/>
          <p:cNvSpPr txBox="1"/>
          <p:nvPr/>
        </p:nvSpPr>
        <p:spPr>
          <a:xfrm>
            <a:off x="4773168" y="2352751"/>
            <a:ext cx="2615184" cy="422452"/>
          </a:xfrm>
          <a:prstGeom prst="rect">
            <a:avLst/>
          </a:prstGeom>
          <a:noFill/>
        </p:spPr>
        <p:txBody>
          <a:bodyPr wrap="none">
            <a:spAutoFit/>
          </a:bodyPr>
          <a:lstStyle/>
          <a:p>
            <a:pPr algn="ctr">
              <a:defRPr sz="1100">
                <a:solidFill>
                  <a:srgbClr val="505A69"/>
                </a:solidFill>
                <a:latin typeface="Noto Sans JP"/>
              </a:defRPr>
            </a:pPr>
            <a:r>
              <a:rPr>
                <a:latin typeface="Noto Sans CJK JP"/>
              </a:rPr>
              <a:t>天気カテゴリ→分位点</a:t>
            </a:r>
          </a:p>
        </p:txBody>
      </p:sp>
      <p:sp>
        <p:nvSpPr>
          <p:cNvPr id="10" name="Rounded Rectangle 9"/>
          <p:cNvSpPr/>
          <p:nvPr/>
        </p:nvSpPr>
        <p:spPr>
          <a:xfrm>
            <a:off x="8412480" y="1417320"/>
            <a:ext cx="2834640" cy="1508760"/>
          </a:xfrm>
          <a:prstGeom prst="roundRect">
            <a:avLst/>
          </a:prstGeom>
          <a:solidFill>
            <a:srgbClr val="FFFFFF"/>
          </a:solidFill>
          <a:ln>
            <a:solidFill>
              <a:srgbClr val="E8E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49640" y="1581912"/>
            <a:ext cx="2560320" cy="829818"/>
          </a:xfrm>
          <a:prstGeom prst="rect">
            <a:avLst/>
          </a:prstGeom>
          <a:noFill/>
        </p:spPr>
        <p:txBody>
          <a:bodyPr wrap="none">
            <a:spAutoFit/>
          </a:bodyPr>
          <a:lstStyle/>
          <a:p>
            <a:pPr algn="ctr">
              <a:defRPr sz="3000" b="1">
                <a:solidFill>
                  <a:srgbClr val="2A5C96"/>
                </a:solidFill>
                <a:latin typeface="Noto Sans JP"/>
              </a:defRPr>
            </a:pPr>
            <a:r>
              <a:rPr>
                <a:latin typeface="Noto Sans CJK JP"/>
              </a:rPr>
              <a:t>0.777</a:t>
            </a:r>
          </a:p>
        </p:txBody>
      </p:sp>
      <p:sp>
        <p:nvSpPr>
          <p:cNvPr id="12" name="TextBox 11"/>
          <p:cNvSpPr txBox="1"/>
          <p:nvPr/>
        </p:nvSpPr>
        <p:spPr>
          <a:xfrm>
            <a:off x="8522207" y="2352751"/>
            <a:ext cx="2615184" cy="422452"/>
          </a:xfrm>
          <a:prstGeom prst="rect">
            <a:avLst/>
          </a:prstGeom>
          <a:noFill/>
        </p:spPr>
        <p:txBody>
          <a:bodyPr wrap="none">
            <a:spAutoFit/>
          </a:bodyPr>
          <a:lstStyle/>
          <a:p>
            <a:pPr algn="ctr">
              <a:defRPr sz="1100">
                <a:solidFill>
                  <a:srgbClr val="505A69"/>
                </a:solidFill>
                <a:latin typeface="Noto Sans JP"/>
              </a:defRPr>
            </a:pPr>
            <a:r>
              <a:rPr>
                <a:latin typeface="Noto Sans CJK JP"/>
              </a:rPr>
              <a:t>実測そのまま</a:t>
            </a:r>
          </a:p>
        </p:txBody>
      </p:sp>
      <p:sp>
        <p:nvSpPr>
          <p:cNvPr id="13" name="TextBox 12"/>
          <p:cNvSpPr txBox="1"/>
          <p:nvPr/>
        </p:nvSpPr>
        <p:spPr>
          <a:xfrm>
            <a:off x="685800" y="3383280"/>
            <a:ext cx="10789920" cy="2011680"/>
          </a:xfrm>
          <a:prstGeom prst="rect">
            <a:avLst/>
          </a:prstGeom>
          <a:noFill/>
        </p:spPr>
        <p:txBody>
          <a:bodyPr wrap="square">
            <a:spAutoFit/>
          </a:bodyPr>
          <a:lstStyle/>
          <a:p>
            <a:pPr>
              <a:spcAft>
                <a:spcPts val="1200"/>
              </a:spcAft>
              <a:defRPr sz="1600">
                <a:solidFill>
                  <a:srgbClr val="505A69"/>
                </a:solidFill>
                <a:latin typeface="Noto Sans JP"/>
              </a:defRPr>
            </a:pPr>
            <a:r>
              <a:rPr>
                <a:latin typeface="Noto Sans CJK JP"/>
              </a:rPr>
              <a:t>AMGSDSの日照時間予報は、快晴日に実際より約5時間少なくなる既知の系統バイアスがある。</a:t>
            </a:r>
          </a:p>
          <a:p>
            <a:pPr>
              <a:spcAft>
                <a:spcPts val="1200"/>
              </a:spcAft>
              <a:defRPr sz="1600">
                <a:solidFill>
                  <a:srgbClr val="505A69"/>
                </a:solidFill>
                <a:latin typeface="Noto Sans JP"/>
              </a:defRPr>
            </a:pPr>
            <a:r>
              <a:rPr>
                <a:latin typeface="Noto Sans CJK JP"/>
              </a:rPr>
              <a:t>出力制御が最も起きやすい快晴日のリスク信号を弱めてしまうため、「数値予報だから高精度」とは言えない。</a:t>
            </a:r>
          </a:p>
          <a:p>
            <a:pPr>
              <a:spcAft>
                <a:spcPts val="1200"/>
              </a:spcAft>
              <a:defRPr sz="1600">
                <a:solidFill>
                  <a:srgbClr val="505A69"/>
                </a:solidFill>
                <a:latin typeface="Noto Sans JP"/>
              </a:defRPr>
            </a:pPr>
            <a:r>
              <a:rPr>
                <a:latin typeface="Noto Sans CJK JP"/>
              </a:rPr>
              <a:t>結論：簡略化にも価値があり、両手法は異なる系統誤差を持つ。単純な優劣はつけられない。</a:t>
            </a:r>
          </a:p>
        </p:txBody>
      </p:sp>
      <p:sp>
        <p:nvSpPr>
          <p:cNvPr id="14" name="TextBox 13"/>
          <p:cNvSpPr txBox="1"/>
          <p:nvPr/>
        </p:nvSpPr>
        <p:spPr>
          <a:xfrm>
            <a:off x="502920" y="6473952"/>
            <a:ext cx="11155680" cy="228600"/>
          </a:xfrm>
          <a:prstGeom prst="rect">
            <a:avLst/>
          </a:prstGeom>
          <a:noFill/>
        </p:spPr>
        <p:txBody>
          <a:bodyPr wrap="none">
            <a:spAutoFit/>
          </a:bodyPr>
          <a:lstStyle/>
          <a:p>
            <a:pPr>
              <a:defRPr sz="800">
                <a:solidFill>
                  <a:srgbClr val="505A69"/>
                </a:solidFill>
                <a:latin typeface="Noto Sans JP"/>
              </a:defRPr>
            </a:pPr>
            <a:r>
              <a:rPr>
                <a:latin typeface="Noto Sans CJK JP"/>
              </a:rPr>
              <a:t>solar_curtailment_kyushu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155680" cy="685800"/>
          </a:xfrm>
          <a:prstGeom prst="rect">
            <a:avLst/>
          </a:prstGeom>
          <a:noFill/>
        </p:spPr>
        <p:txBody>
          <a:bodyPr wrap="none">
            <a:spAutoFit/>
          </a:bodyPr>
          <a:lstStyle/>
          <a:p>
            <a:pPr>
              <a:defRPr sz="2600" b="1">
                <a:solidFill>
                  <a:srgbClr val="182D49"/>
                </a:solidFill>
                <a:latin typeface="Noto Sans JP"/>
              </a:defRPr>
            </a:pPr>
            <a:r>
              <a:rPr>
                <a:latin typeface="Noto Sans CJK JP"/>
              </a:rPr>
              <a:t>10. 重要な訂正②：「制御日」のラベル自体に約4割の誤り</a:t>
            </a:r>
          </a:p>
        </p:txBody>
      </p:sp>
      <p:sp>
        <p:nvSpPr>
          <p:cNvPr id="5" name="TextBox 4"/>
          <p:cNvSpPr txBox="1"/>
          <p:nvPr/>
        </p:nvSpPr>
        <p:spPr>
          <a:xfrm>
            <a:off x="6995160" y="1234440"/>
            <a:ext cx="4480560" cy="4480560"/>
          </a:xfrm>
          <a:prstGeom prst="rect">
            <a:avLst/>
          </a:prstGeom>
          <a:noFill/>
        </p:spPr>
        <p:txBody>
          <a:bodyPr wrap="square">
            <a:spAutoFit/>
          </a:bodyPr>
          <a:lstStyle/>
          <a:p>
            <a:pPr>
              <a:spcAft>
                <a:spcPts val="1200"/>
              </a:spcAft>
              <a:defRPr sz="1500">
                <a:solidFill>
                  <a:srgbClr val="505A69"/>
                </a:solidFill>
                <a:latin typeface="Noto Sans JP"/>
              </a:defRPr>
            </a:pPr>
            <a:r>
              <a:rPr>
                <a:latin typeface="Noto Sans CJK JP"/>
              </a:rPr>
              <a:t>前日の予報に基づく「前日指示」だけを読んでいた。</a:t>
            </a:r>
          </a:p>
          <a:p>
            <a:pPr>
              <a:spcAft>
                <a:spcPts val="1200"/>
              </a:spcAft>
              <a:defRPr sz="1500">
                <a:solidFill>
                  <a:srgbClr val="505A69"/>
                </a:solidFill>
                <a:latin typeface="Noto Sans JP"/>
              </a:defRPr>
            </a:pPr>
            <a:r>
              <a:rPr>
                <a:latin typeface="Noto Sans CJK JP"/>
              </a:rPr>
              <a:t>実際には、当日の実況を踏まえた「速報」で制御が取り消されるケースがある。</a:t>
            </a:r>
          </a:p>
          <a:p>
            <a:pPr>
              <a:spcAft>
                <a:spcPts val="1200"/>
              </a:spcAft>
              <a:defRPr sz="1500">
                <a:solidFill>
                  <a:srgbClr val="505A69"/>
                </a:solidFill>
                <a:latin typeface="Noto Sans JP"/>
              </a:defRPr>
            </a:pPr>
            <a:r>
              <a:rPr>
                <a:latin typeface="Noto Sans CJK JP"/>
              </a:rPr>
              <a:t>速報を優先するようパーサーを修正。</a:t>
            </a:r>
          </a:p>
          <a:p>
            <a:pPr>
              <a:spcAft>
                <a:spcPts val="1200"/>
              </a:spcAft>
              <a:defRPr sz="1500">
                <a:solidFill>
                  <a:srgbClr val="505A69"/>
                </a:solidFill>
                <a:latin typeface="Noto Sans JP"/>
              </a:defRPr>
            </a:pPr>
            <a:r>
              <a:rPr>
                <a:latin typeface="Noto Sans CJK JP"/>
              </a:rPr>
              <a:t>九州：1,175 → 715日（−39%）</a:t>
            </a:r>
          </a:p>
          <a:p>
            <a:pPr>
              <a:spcAft>
                <a:spcPts val="1200"/>
              </a:spcAft>
              <a:defRPr sz="1500">
                <a:solidFill>
                  <a:srgbClr val="505A69"/>
                </a:solidFill>
                <a:latin typeface="Noto Sans JP"/>
              </a:defRPr>
            </a:pPr>
            <a:r>
              <a:rPr>
                <a:latin typeface="Noto Sans CJK JP"/>
              </a:rPr>
              <a:t>沖縄：160 → 44日（−72.5%）</a:t>
            </a:r>
          </a:p>
          <a:p>
            <a:pPr>
              <a:spcAft>
                <a:spcPts val="1200"/>
              </a:spcAft>
              <a:defRPr sz="1500">
                <a:solidFill>
                  <a:srgbClr val="505A69"/>
                </a:solidFill>
                <a:latin typeface="Noto Sans JP"/>
              </a:defRPr>
            </a:pPr>
            <a:r>
              <a:rPr>
                <a:latin typeface="Noto Sans CJK JP"/>
              </a:rPr>
              <a:t>これは統計手法では発見できない「データの意味」の誤りだった。</a:t>
            </a:r>
          </a:p>
        </p:txBody>
      </p:sp>
      <p:sp>
        <p:nvSpPr>
          <p:cNvPr id="6" name="TextBox 5"/>
          <p:cNvSpPr txBox="1"/>
          <p:nvPr/>
        </p:nvSpPr>
        <p:spPr>
          <a:xfrm>
            <a:off x="502920" y="6473952"/>
            <a:ext cx="11155680" cy="228600"/>
          </a:xfrm>
          <a:prstGeom prst="rect">
            <a:avLst/>
          </a:prstGeom>
          <a:noFill/>
        </p:spPr>
        <p:txBody>
          <a:bodyPr wrap="none">
            <a:spAutoFit/>
          </a:bodyPr>
          <a:lstStyle/>
          <a:p>
            <a:pPr>
              <a:defRPr sz="800">
                <a:solidFill>
                  <a:srgbClr val="505A69"/>
                </a:solidFill>
                <a:latin typeface="Noto Sans JP"/>
              </a:defRPr>
            </a:pPr>
            <a:r>
              <a:rPr>
                <a:latin typeface="Noto Sans CJK JP"/>
              </a:rPr>
              <a:t>solar_curtailment_kyushu  |  11</a:t>
            </a:r>
          </a:p>
        </p:txBody>
      </p:sp>
      <p:pic>
        <p:nvPicPr>
          <p:cNvPr id="7" name="Picture 6" descr="correction.png"/>
          <p:cNvPicPr>
            <a:picLocks noChangeAspect="1"/>
          </p:cNvPicPr>
          <p:nvPr/>
        </p:nvPicPr>
        <p:blipFill>
          <a:blip r:embed="rId3"/>
          <a:stretch>
            <a:fillRect/>
          </a:stretch>
        </p:blipFill>
        <p:spPr>
          <a:xfrm>
            <a:off x="640080" y="1325880"/>
            <a:ext cx="6126480" cy="337854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155680" cy="685800"/>
          </a:xfrm>
          <a:prstGeom prst="rect">
            <a:avLst/>
          </a:prstGeom>
          <a:noFill/>
        </p:spPr>
        <p:txBody>
          <a:bodyPr wrap="none">
            <a:spAutoFit/>
          </a:bodyPr>
          <a:lstStyle/>
          <a:p>
            <a:pPr>
              <a:defRPr sz="2600" b="1">
                <a:solidFill>
                  <a:srgbClr val="182D49"/>
                </a:solidFill>
                <a:latin typeface="Noto Sans JP"/>
              </a:defRPr>
            </a:pPr>
            <a:r>
              <a:rPr>
                <a:latin typeface="Noto Sans CJK JP"/>
              </a:rPr>
              <a:t>11. 訂正後、信号はむしろ明瞭になった</a:t>
            </a:r>
          </a:p>
        </p:txBody>
      </p:sp>
      <p:sp>
        <p:nvSpPr>
          <p:cNvPr id="4" name="Rounded Rectangle 3"/>
          <p:cNvSpPr/>
          <p:nvPr/>
        </p:nvSpPr>
        <p:spPr>
          <a:xfrm>
            <a:off x="731520" y="1371600"/>
            <a:ext cx="2926080" cy="1463040"/>
          </a:xfrm>
          <a:prstGeom prst="roundRect">
            <a:avLst/>
          </a:prstGeom>
          <a:solidFill>
            <a:srgbClr val="FFFFFF"/>
          </a:solidFill>
          <a:ln>
            <a:solidFill>
              <a:srgbClr val="E8E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536192"/>
            <a:ext cx="2651760" cy="804672"/>
          </a:xfrm>
          <a:prstGeom prst="rect">
            <a:avLst/>
          </a:prstGeom>
          <a:noFill/>
        </p:spPr>
        <p:txBody>
          <a:bodyPr wrap="none">
            <a:spAutoFit/>
          </a:bodyPr>
          <a:lstStyle/>
          <a:p>
            <a:pPr algn="ctr">
              <a:defRPr sz="3000" b="1">
                <a:solidFill>
                  <a:srgbClr val="2A5C96"/>
                </a:solidFill>
                <a:latin typeface="Noto Sans JP"/>
              </a:defRPr>
            </a:pPr>
            <a:r>
              <a:rPr>
                <a:latin typeface="Noto Sans CJK JP"/>
              </a:rPr>
              <a:t>0.73 → 1.07</a:t>
            </a:r>
          </a:p>
        </p:txBody>
      </p:sp>
      <p:sp>
        <p:nvSpPr>
          <p:cNvPr id="6" name="TextBox 5"/>
          <p:cNvSpPr txBox="1"/>
          <p:nvPr/>
        </p:nvSpPr>
        <p:spPr>
          <a:xfrm>
            <a:off x="841248" y="2278684"/>
            <a:ext cx="2706624" cy="409651"/>
          </a:xfrm>
          <a:prstGeom prst="rect">
            <a:avLst/>
          </a:prstGeom>
          <a:noFill/>
        </p:spPr>
        <p:txBody>
          <a:bodyPr wrap="none">
            <a:spAutoFit/>
          </a:bodyPr>
          <a:lstStyle/>
          <a:p>
            <a:pPr algn="ctr">
              <a:defRPr sz="1100">
                <a:solidFill>
                  <a:srgbClr val="505A69"/>
                </a:solidFill>
                <a:latin typeface="Noto Sans JP"/>
              </a:defRPr>
            </a:pPr>
            <a:r>
              <a:rPr>
                <a:latin typeface="Noto Sans CJK JP"/>
              </a:rPr>
              <a:t>九州：日照時間 Cohen's d</a:t>
            </a:r>
          </a:p>
        </p:txBody>
      </p:sp>
      <p:sp>
        <p:nvSpPr>
          <p:cNvPr id="7" name="Rounded Rectangle 6"/>
          <p:cNvSpPr/>
          <p:nvPr/>
        </p:nvSpPr>
        <p:spPr>
          <a:xfrm>
            <a:off x="4526280" y="1371600"/>
            <a:ext cx="2926080" cy="1463040"/>
          </a:xfrm>
          <a:prstGeom prst="roundRect">
            <a:avLst/>
          </a:prstGeom>
          <a:solidFill>
            <a:srgbClr val="FFFFFF"/>
          </a:solidFill>
          <a:ln>
            <a:solidFill>
              <a:srgbClr val="E8E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63440" y="1536192"/>
            <a:ext cx="2651760" cy="804672"/>
          </a:xfrm>
          <a:prstGeom prst="rect">
            <a:avLst/>
          </a:prstGeom>
          <a:noFill/>
        </p:spPr>
        <p:txBody>
          <a:bodyPr wrap="none">
            <a:spAutoFit/>
          </a:bodyPr>
          <a:lstStyle/>
          <a:p>
            <a:pPr algn="ctr">
              <a:defRPr sz="3000" b="1">
                <a:solidFill>
                  <a:srgbClr val="2A5C96"/>
                </a:solidFill>
                <a:latin typeface="Noto Sans JP"/>
              </a:defRPr>
            </a:pPr>
            <a:r>
              <a:rPr>
                <a:latin typeface="Noto Sans CJK JP"/>
              </a:rPr>
              <a:t>0.852 → 0.904</a:t>
            </a:r>
          </a:p>
        </p:txBody>
      </p:sp>
      <p:sp>
        <p:nvSpPr>
          <p:cNvPr id="9" name="TextBox 8"/>
          <p:cNvSpPr txBox="1"/>
          <p:nvPr/>
        </p:nvSpPr>
        <p:spPr>
          <a:xfrm>
            <a:off x="4636008" y="2278684"/>
            <a:ext cx="2706624" cy="409651"/>
          </a:xfrm>
          <a:prstGeom prst="rect">
            <a:avLst/>
          </a:prstGeom>
          <a:noFill/>
        </p:spPr>
        <p:txBody>
          <a:bodyPr wrap="none">
            <a:spAutoFit/>
          </a:bodyPr>
          <a:lstStyle/>
          <a:p>
            <a:pPr algn="ctr">
              <a:defRPr sz="1100">
                <a:solidFill>
                  <a:srgbClr val="505A69"/>
                </a:solidFill>
                <a:latin typeface="Noto Sans JP"/>
              </a:defRPr>
            </a:pPr>
            <a:r>
              <a:rPr>
                <a:latin typeface="Noto Sans CJK JP"/>
              </a:rPr>
              <a:t>フルモデル AUC</a:t>
            </a:r>
          </a:p>
        </p:txBody>
      </p:sp>
      <p:sp>
        <p:nvSpPr>
          <p:cNvPr id="10" name="Rounded Rectangle 9"/>
          <p:cNvSpPr/>
          <p:nvPr/>
        </p:nvSpPr>
        <p:spPr>
          <a:xfrm>
            <a:off x="8321040" y="1371600"/>
            <a:ext cx="2926080" cy="1463040"/>
          </a:xfrm>
          <a:prstGeom prst="roundRect">
            <a:avLst/>
          </a:prstGeom>
          <a:solidFill>
            <a:srgbClr val="FFFFFF"/>
          </a:solidFill>
          <a:ln>
            <a:solidFill>
              <a:srgbClr val="E8E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58200" y="1536192"/>
            <a:ext cx="2651760" cy="804672"/>
          </a:xfrm>
          <a:prstGeom prst="rect">
            <a:avLst/>
          </a:prstGeom>
          <a:noFill/>
        </p:spPr>
        <p:txBody>
          <a:bodyPr wrap="none">
            <a:spAutoFit/>
          </a:bodyPr>
          <a:lstStyle/>
          <a:p>
            <a:pPr algn="ctr">
              <a:defRPr sz="3000" b="1">
                <a:solidFill>
                  <a:srgbClr val="2A5C96"/>
                </a:solidFill>
                <a:latin typeface="Noto Sans JP"/>
              </a:defRPr>
            </a:pPr>
            <a:r>
              <a:rPr>
                <a:latin typeface="Noto Sans CJK JP"/>
              </a:rPr>
              <a:t>−39%</a:t>
            </a:r>
          </a:p>
        </p:txBody>
      </p:sp>
      <p:sp>
        <p:nvSpPr>
          <p:cNvPr id="12" name="TextBox 11"/>
          <p:cNvSpPr txBox="1"/>
          <p:nvPr/>
        </p:nvSpPr>
        <p:spPr>
          <a:xfrm>
            <a:off x="8430767" y="2278684"/>
            <a:ext cx="2706624" cy="409651"/>
          </a:xfrm>
          <a:prstGeom prst="rect">
            <a:avLst/>
          </a:prstGeom>
          <a:noFill/>
        </p:spPr>
        <p:txBody>
          <a:bodyPr wrap="none">
            <a:spAutoFit/>
          </a:bodyPr>
          <a:lstStyle/>
          <a:p>
            <a:pPr algn="ctr">
              <a:defRPr sz="1100">
                <a:solidFill>
                  <a:srgbClr val="505A69"/>
                </a:solidFill>
                <a:latin typeface="Noto Sans JP"/>
              </a:defRPr>
            </a:pPr>
            <a:r>
              <a:rPr>
                <a:latin typeface="Noto Sans CJK JP"/>
              </a:rPr>
              <a:t>九州の制御日ラベル</a:t>
            </a:r>
          </a:p>
        </p:txBody>
      </p:sp>
      <p:sp>
        <p:nvSpPr>
          <p:cNvPr id="13" name="TextBox 12"/>
          <p:cNvSpPr txBox="1"/>
          <p:nvPr/>
        </p:nvSpPr>
        <p:spPr>
          <a:xfrm>
            <a:off x="685800" y="3383280"/>
            <a:ext cx="10789920" cy="2103120"/>
          </a:xfrm>
          <a:prstGeom prst="rect">
            <a:avLst/>
          </a:prstGeom>
          <a:noFill/>
        </p:spPr>
        <p:txBody>
          <a:bodyPr wrap="square">
            <a:spAutoFit/>
          </a:bodyPr>
          <a:lstStyle/>
          <a:p>
            <a:pPr>
              <a:spcAft>
                <a:spcPts val="1200"/>
              </a:spcAft>
              <a:defRPr sz="1700">
                <a:solidFill>
                  <a:srgbClr val="505A69"/>
                </a:solidFill>
                <a:latin typeface="Noto Sans JP"/>
              </a:defRPr>
            </a:pPr>
            <a:r>
              <a:rPr>
                <a:latin typeface="Noto Sans CJK JP"/>
              </a:rPr>
              <a:t>誤ったラベルを除くと「晴天の日に制御される」という本来の信号が強くなった。</a:t>
            </a:r>
          </a:p>
          <a:p>
            <a:pPr>
              <a:spcAft>
                <a:spcPts val="1200"/>
              </a:spcAft>
              <a:defRPr sz="1700">
                <a:solidFill>
                  <a:srgbClr val="505A69"/>
                </a:solidFill>
                <a:latin typeface="Noto Sans JP"/>
              </a:defRPr>
            </a:pPr>
            <a:r>
              <a:rPr>
                <a:latin typeface="Noto Sans CJK JP"/>
              </a:rPr>
              <a:t>つまり、分析の高度さより先に「そのデータが何を意味するか」を確認することが重要。</a:t>
            </a:r>
          </a:p>
          <a:p>
            <a:pPr>
              <a:spcAft>
                <a:spcPts val="1200"/>
              </a:spcAft>
              <a:defRPr sz="1700">
                <a:solidFill>
                  <a:srgbClr val="505A69"/>
                </a:solidFill>
                <a:latin typeface="Noto Sans JP"/>
              </a:defRPr>
            </a:pPr>
            <a:r>
              <a:rPr>
                <a:latin typeface="Noto Sans CJK JP"/>
              </a:rPr>
              <a:t>散布図の違和感を起点に、元資料の構造まで戻って確認したことが決定的だった。</a:t>
            </a:r>
          </a:p>
        </p:txBody>
      </p:sp>
      <p:sp>
        <p:nvSpPr>
          <p:cNvPr id="14" name="TextBox 13"/>
          <p:cNvSpPr txBox="1"/>
          <p:nvPr/>
        </p:nvSpPr>
        <p:spPr>
          <a:xfrm>
            <a:off x="502920" y="6473952"/>
            <a:ext cx="11155680" cy="228600"/>
          </a:xfrm>
          <a:prstGeom prst="rect">
            <a:avLst/>
          </a:prstGeom>
          <a:noFill/>
        </p:spPr>
        <p:txBody>
          <a:bodyPr wrap="none">
            <a:spAutoFit/>
          </a:bodyPr>
          <a:lstStyle/>
          <a:p>
            <a:pPr>
              <a:defRPr sz="800">
                <a:solidFill>
                  <a:srgbClr val="505A69"/>
                </a:solidFill>
                <a:latin typeface="Noto Sans JP"/>
              </a:defRPr>
            </a:pPr>
            <a:r>
              <a:rPr>
                <a:latin typeface="Noto Sans CJK JP"/>
              </a:rPr>
              <a:t>solar_curtailment_kyushu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155680" cy="685800"/>
          </a:xfrm>
          <a:prstGeom prst="rect">
            <a:avLst/>
          </a:prstGeom>
          <a:noFill/>
        </p:spPr>
        <p:txBody>
          <a:bodyPr wrap="none">
            <a:spAutoFit/>
          </a:bodyPr>
          <a:lstStyle/>
          <a:p>
            <a:pPr>
              <a:defRPr sz="2600" b="1">
                <a:solidFill>
                  <a:srgbClr val="182D49"/>
                </a:solidFill>
                <a:latin typeface="Noto Sans JP"/>
              </a:defRPr>
            </a:pPr>
            <a:r>
              <a:rPr>
                <a:latin typeface="Noto Sans CJK JP"/>
              </a:rPr>
              <a:t>12. 実際の太陽光出力でも「制御による頭打ち」を確認</a:t>
            </a:r>
          </a:p>
        </p:txBody>
      </p:sp>
      <p:sp>
        <p:nvSpPr>
          <p:cNvPr id="5" name="TextBox 4"/>
          <p:cNvSpPr txBox="1"/>
          <p:nvPr/>
        </p:nvSpPr>
        <p:spPr>
          <a:xfrm>
            <a:off x="6858000" y="1234440"/>
            <a:ext cx="4663440" cy="4663440"/>
          </a:xfrm>
          <a:prstGeom prst="rect">
            <a:avLst/>
          </a:prstGeom>
          <a:noFill/>
        </p:spPr>
        <p:txBody>
          <a:bodyPr wrap="square">
            <a:spAutoFit/>
          </a:bodyPr>
          <a:lstStyle/>
          <a:p>
            <a:pPr>
              <a:spcAft>
                <a:spcPts val="1200"/>
              </a:spcAft>
              <a:defRPr sz="1400">
                <a:solidFill>
                  <a:srgbClr val="505A69"/>
                </a:solidFill>
                <a:latin typeface="Noto Sans JP"/>
              </a:defRPr>
            </a:pPr>
            <a:r>
              <a:rPr>
                <a:latin typeface="Noto Sans CJK JP"/>
              </a:rPr>
              <a:t>太陽光単独の系統への出力実績を使用。</a:t>
            </a:r>
          </a:p>
          <a:p>
            <a:pPr>
              <a:spcAft>
                <a:spcPts val="1200"/>
              </a:spcAft>
              <a:defRPr sz="1400">
                <a:solidFill>
                  <a:srgbClr val="505A69"/>
                </a:solidFill>
                <a:latin typeface="Noto Sans JP"/>
              </a:defRPr>
            </a:pPr>
            <a:r>
              <a:rPr>
                <a:latin typeface="Noto Sans CJK JP"/>
              </a:rPr>
              <a:t>全天日射量と出力の相関：r = 0.835</a:t>
            </a:r>
          </a:p>
          <a:p>
            <a:pPr>
              <a:spcAft>
                <a:spcPts val="1200"/>
              </a:spcAft>
              <a:defRPr sz="1400">
                <a:solidFill>
                  <a:srgbClr val="505A69"/>
                </a:solidFill>
                <a:latin typeface="Noto Sans JP"/>
              </a:defRPr>
            </a:pPr>
            <a:r>
              <a:rPr>
                <a:latin typeface="Noto Sans CJK JP"/>
              </a:rPr>
              <a:t>日照時間との相関：r = 0.799</a:t>
            </a:r>
          </a:p>
          <a:p>
            <a:pPr>
              <a:spcAft>
                <a:spcPts val="1200"/>
              </a:spcAft>
              <a:defRPr sz="1400">
                <a:solidFill>
                  <a:srgbClr val="505A69"/>
                </a:solidFill>
                <a:latin typeface="Noto Sans JP"/>
              </a:defRPr>
            </a:pPr>
            <a:r>
              <a:rPr>
                <a:latin typeface="Noto Sans CJK JP"/>
              </a:rPr>
              <a:t>非制御日は日射量に応じて出力がほぼ直線的に増える。</a:t>
            </a:r>
          </a:p>
          <a:p>
            <a:pPr>
              <a:spcAft>
                <a:spcPts val="1200"/>
              </a:spcAft>
              <a:defRPr sz="1400">
                <a:solidFill>
                  <a:srgbClr val="505A69"/>
                </a:solidFill>
                <a:latin typeface="Noto Sans JP"/>
              </a:defRPr>
            </a:pPr>
            <a:r>
              <a:rPr>
                <a:latin typeface="Noto Sans CJK JP"/>
              </a:rPr>
              <a:t>制御日は同じ日射量でも出力が下側に外れ、供給過多を抑える「頭打ち」が見える。</a:t>
            </a:r>
          </a:p>
          <a:p>
            <a:pPr>
              <a:spcAft>
                <a:spcPts val="1200"/>
              </a:spcAft>
              <a:defRPr sz="1400">
                <a:solidFill>
                  <a:srgbClr val="505A69"/>
                </a:solidFill>
                <a:latin typeface="Noto Sans JP"/>
              </a:defRPr>
            </a:pPr>
            <a:r>
              <a:rPr>
                <a:latin typeface="Noto Sans CJK JP"/>
              </a:rPr>
              <a:t>2023年以降の比較では、晴れ日に制御日の出力平均が低いことも確認。</a:t>
            </a:r>
          </a:p>
        </p:txBody>
      </p:sp>
      <p:sp>
        <p:nvSpPr>
          <p:cNvPr id="6" name="TextBox 5"/>
          <p:cNvSpPr txBox="1"/>
          <p:nvPr/>
        </p:nvSpPr>
        <p:spPr>
          <a:xfrm>
            <a:off x="502920" y="6473952"/>
            <a:ext cx="11155680" cy="228600"/>
          </a:xfrm>
          <a:prstGeom prst="rect">
            <a:avLst/>
          </a:prstGeom>
          <a:noFill/>
        </p:spPr>
        <p:txBody>
          <a:bodyPr wrap="none">
            <a:spAutoFit/>
          </a:bodyPr>
          <a:lstStyle/>
          <a:p>
            <a:pPr>
              <a:defRPr sz="800">
                <a:solidFill>
                  <a:srgbClr val="505A69"/>
                </a:solidFill>
                <a:latin typeface="Noto Sans JP"/>
              </a:defRPr>
            </a:pPr>
            <a:r>
              <a:rPr>
                <a:latin typeface="Noto Sans CJK JP"/>
              </a:rPr>
              <a:t>solar_curtailment_kyushu  |  13</a:t>
            </a:r>
          </a:p>
        </p:txBody>
      </p:sp>
      <p:pic>
        <p:nvPicPr>
          <p:cNvPr id="7" name="Picture 6" descr="corr.png"/>
          <p:cNvPicPr>
            <a:picLocks noChangeAspect="1"/>
          </p:cNvPicPr>
          <p:nvPr/>
        </p:nvPicPr>
        <p:blipFill>
          <a:blip r:embed="rId3"/>
          <a:stretch>
            <a:fillRect/>
          </a:stretch>
        </p:blipFill>
        <p:spPr>
          <a:xfrm>
            <a:off x="731520" y="1325880"/>
            <a:ext cx="5852160" cy="3068976"/>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155680" cy="685800"/>
          </a:xfrm>
          <a:prstGeom prst="rect">
            <a:avLst/>
          </a:prstGeom>
          <a:noFill/>
        </p:spPr>
        <p:txBody>
          <a:bodyPr wrap="none">
            <a:spAutoFit/>
          </a:bodyPr>
          <a:lstStyle/>
          <a:p>
            <a:pPr>
              <a:defRPr sz="2600" b="1">
                <a:solidFill>
                  <a:srgbClr val="182D49"/>
                </a:solidFill>
                <a:latin typeface="Noto Sans JP"/>
              </a:defRPr>
            </a:pPr>
            <a:r>
              <a:rPr>
                <a:latin typeface="Noto Sans CJK JP"/>
              </a:rPr>
              <a:t>13. 生成AIで「明日の出力制御リスク」を説明する</a:t>
            </a:r>
          </a:p>
        </p:txBody>
      </p:sp>
      <p:sp>
        <p:nvSpPr>
          <p:cNvPr id="4" name="Rounded Rectangle 3"/>
          <p:cNvSpPr/>
          <p:nvPr/>
        </p:nvSpPr>
        <p:spPr>
          <a:xfrm>
            <a:off x="731520" y="1325880"/>
            <a:ext cx="3017520" cy="1463040"/>
          </a:xfrm>
          <a:prstGeom prst="roundRect">
            <a:avLst/>
          </a:prstGeom>
          <a:solidFill>
            <a:srgbClr val="FFFFFF"/>
          </a:solidFill>
          <a:ln>
            <a:solidFill>
              <a:srgbClr val="E8E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490472"/>
            <a:ext cx="2743200" cy="804672"/>
          </a:xfrm>
          <a:prstGeom prst="rect">
            <a:avLst/>
          </a:prstGeom>
          <a:noFill/>
        </p:spPr>
        <p:txBody>
          <a:bodyPr wrap="none">
            <a:spAutoFit/>
          </a:bodyPr>
          <a:lstStyle/>
          <a:p>
            <a:pPr algn="ctr">
              <a:defRPr sz="3000" b="1">
                <a:solidFill>
                  <a:srgbClr val="2A5C96"/>
                </a:solidFill>
                <a:latin typeface="Noto Sans JP"/>
              </a:defRPr>
            </a:pPr>
            <a:r>
              <a:rPr>
                <a:latin typeface="Noto Sans CJK JP"/>
              </a:rPr>
              <a:t>75%</a:t>
            </a:r>
          </a:p>
        </p:txBody>
      </p:sp>
      <p:sp>
        <p:nvSpPr>
          <p:cNvPr id="6" name="TextBox 5"/>
          <p:cNvSpPr txBox="1"/>
          <p:nvPr/>
        </p:nvSpPr>
        <p:spPr>
          <a:xfrm>
            <a:off x="841248" y="2232964"/>
            <a:ext cx="2798063" cy="409651"/>
          </a:xfrm>
          <a:prstGeom prst="rect">
            <a:avLst/>
          </a:prstGeom>
          <a:noFill/>
        </p:spPr>
        <p:txBody>
          <a:bodyPr wrap="none">
            <a:spAutoFit/>
          </a:bodyPr>
          <a:lstStyle/>
          <a:p>
            <a:pPr algn="ctr">
              <a:defRPr sz="1100">
                <a:solidFill>
                  <a:srgbClr val="505A69"/>
                </a:solidFill>
                <a:latin typeface="Noto Sans JP"/>
              </a:defRPr>
            </a:pPr>
            <a:r>
              <a:rPr>
                <a:latin typeface="Noto Sans CJK JP"/>
              </a:rPr>
              <a:t>2026-10-03の予測例</a:t>
            </a:r>
          </a:p>
        </p:txBody>
      </p:sp>
      <p:sp>
        <p:nvSpPr>
          <p:cNvPr id="7" name="Rounded Rectangle 6"/>
          <p:cNvSpPr/>
          <p:nvPr/>
        </p:nvSpPr>
        <p:spPr>
          <a:xfrm>
            <a:off x="4297680" y="1325880"/>
            <a:ext cx="3017520" cy="1463040"/>
          </a:xfrm>
          <a:prstGeom prst="roundRect">
            <a:avLst/>
          </a:prstGeom>
          <a:solidFill>
            <a:srgbClr val="FFFFFF"/>
          </a:solidFill>
          <a:ln>
            <a:solidFill>
              <a:srgbClr val="E8E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434840" y="1490472"/>
            <a:ext cx="2743200" cy="804672"/>
          </a:xfrm>
          <a:prstGeom prst="rect">
            <a:avLst/>
          </a:prstGeom>
          <a:noFill/>
        </p:spPr>
        <p:txBody>
          <a:bodyPr wrap="none">
            <a:spAutoFit/>
          </a:bodyPr>
          <a:lstStyle/>
          <a:p>
            <a:pPr algn="ctr">
              <a:defRPr sz="3000" b="1">
                <a:solidFill>
                  <a:srgbClr val="2A5C96"/>
                </a:solidFill>
                <a:latin typeface="Noto Sans JP"/>
              </a:defRPr>
            </a:pPr>
            <a:r>
              <a:rPr>
                <a:latin typeface="Noto Sans CJK JP"/>
              </a:rPr>
              <a:t>高い</a:t>
            </a:r>
          </a:p>
        </p:txBody>
      </p:sp>
      <p:sp>
        <p:nvSpPr>
          <p:cNvPr id="9" name="TextBox 8"/>
          <p:cNvSpPr txBox="1"/>
          <p:nvPr/>
        </p:nvSpPr>
        <p:spPr>
          <a:xfrm>
            <a:off x="4407408" y="2232964"/>
            <a:ext cx="2798063" cy="409651"/>
          </a:xfrm>
          <a:prstGeom prst="rect">
            <a:avLst/>
          </a:prstGeom>
          <a:noFill/>
        </p:spPr>
        <p:txBody>
          <a:bodyPr wrap="none">
            <a:spAutoFit/>
          </a:bodyPr>
          <a:lstStyle/>
          <a:p>
            <a:pPr algn="ctr">
              <a:defRPr sz="1100">
                <a:solidFill>
                  <a:srgbClr val="505A69"/>
                </a:solidFill>
                <a:latin typeface="Noto Sans JP"/>
              </a:defRPr>
            </a:pPr>
            <a:r>
              <a:rPr>
                <a:latin typeface="Noto Sans CJK JP"/>
              </a:rPr>
              <a:t>60%以上の判定</a:t>
            </a:r>
          </a:p>
        </p:txBody>
      </p:sp>
      <p:sp>
        <p:nvSpPr>
          <p:cNvPr id="10" name="Rounded Rectangle 9"/>
          <p:cNvSpPr/>
          <p:nvPr/>
        </p:nvSpPr>
        <p:spPr>
          <a:xfrm>
            <a:off x="7863840" y="1325880"/>
            <a:ext cx="3017520" cy="1463040"/>
          </a:xfrm>
          <a:prstGeom prst="roundRect">
            <a:avLst/>
          </a:prstGeom>
          <a:solidFill>
            <a:srgbClr val="FFFFFF"/>
          </a:solidFill>
          <a:ln>
            <a:solidFill>
              <a:srgbClr val="E8E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01000" y="1490472"/>
            <a:ext cx="2743200" cy="804672"/>
          </a:xfrm>
          <a:prstGeom prst="rect">
            <a:avLst/>
          </a:prstGeom>
          <a:noFill/>
        </p:spPr>
        <p:txBody>
          <a:bodyPr wrap="none">
            <a:spAutoFit/>
          </a:bodyPr>
          <a:lstStyle/>
          <a:p>
            <a:pPr algn="ctr">
              <a:defRPr sz="3000" b="1">
                <a:solidFill>
                  <a:srgbClr val="2A5C96"/>
                </a:solidFill>
                <a:latin typeface="Noto Sans JP"/>
              </a:defRPr>
            </a:pPr>
            <a:r>
              <a:rPr>
                <a:latin typeface="Noto Sans CJK JP"/>
              </a:rPr>
              <a:t>$0.0026</a:t>
            </a:r>
          </a:p>
        </p:txBody>
      </p:sp>
      <p:sp>
        <p:nvSpPr>
          <p:cNvPr id="12" name="TextBox 11"/>
          <p:cNvSpPr txBox="1"/>
          <p:nvPr/>
        </p:nvSpPr>
        <p:spPr>
          <a:xfrm>
            <a:off x="7973567" y="2232964"/>
            <a:ext cx="2798063" cy="409651"/>
          </a:xfrm>
          <a:prstGeom prst="rect">
            <a:avLst/>
          </a:prstGeom>
          <a:noFill/>
        </p:spPr>
        <p:txBody>
          <a:bodyPr wrap="none">
            <a:spAutoFit/>
          </a:bodyPr>
          <a:lstStyle/>
          <a:p>
            <a:pPr algn="ctr">
              <a:defRPr sz="1100">
                <a:solidFill>
                  <a:srgbClr val="505A69"/>
                </a:solidFill>
                <a:latin typeface="Noto Sans JP"/>
              </a:defRPr>
            </a:pPr>
            <a:r>
              <a:rPr>
                <a:latin typeface="Noto Sans CJK JP"/>
              </a:rPr>
              <a:t>1回あたりの例示コスト</a:t>
            </a:r>
          </a:p>
        </p:txBody>
      </p:sp>
      <p:sp>
        <p:nvSpPr>
          <p:cNvPr id="13" name="TextBox 12"/>
          <p:cNvSpPr txBox="1"/>
          <p:nvPr/>
        </p:nvSpPr>
        <p:spPr>
          <a:xfrm>
            <a:off x="685800" y="3337560"/>
            <a:ext cx="10789920" cy="2240280"/>
          </a:xfrm>
          <a:prstGeom prst="rect">
            <a:avLst/>
          </a:prstGeom>
          <a:noFill/>
        </p:spPr>
        <p:txBody>
          <a:bodyPr wrap="square">
            <a:spAutoFit/>
          </a:bodyPr>
          <a:lstStyle/>
          <a:p>
            <a:pPr>
              <a:spcAft>
                <a:spcPts val="1200"/>
              </a:spcAft>
              <a:defRPr sz="1600">
                <a:solidFill>
                  <a:srgbClr val="505A69"/>
                </a:solidFill>
                <a:latin typeface="Noto Sans JP"/>
              </a:defRPr>
            </a:pPr>
            <a:r>
              <a:rPr>
                <a:latin typeface="Noto Sans CJK JP"/>
              </a:rPr>
              <a:t>入力：翌日の天気・日照予報、月、曜日、トレンド。</a:t>
            </a:r>
          </a:p>
          <a:p>
            <a:pPr>
              <a:spcAft>
                <a:spcPts val="1200"/>
              </a:spcAft>
              <a:defRPr sz="1600">
                <a:solidFill>
                  <a:srgbClr val="505A69"/>
                </a:solidFill>
                <a:latin typeface="Noto Sans JP"/>
              </a:defRPr>
            </a:pPr>
            <a:r>
              <a:rPr>
                <a:latin typeface="Noto Sans CJK JP"/>
              </a:rPr>
              <a:t>モデルの確率・判定ラベルは数値モデルが決定し、Claudeには背景や注意点の説明だけをさせる。</a:t>
            </a:r>
          </a:p>
          <a:p>
            <a:pPr>
              <a:spcAft>
                <a:spcPts val="1200"/>
              </a:spcAft>
              <a:defRPr sz="1600">
                <a:solidFill>
                  <a:srgbClr val="505A69"/>
                </a:solidFill>
                <a:latin typeface="Noto Sans JP"/>
              </a:defRPr>
            </a:pPr>
            <a:r>
              <a:rPr>
                <a:latin typeface="Noto Sans CJK JP"/>
              </a:rPr>
              <a:t>既知のAMGSDSバイアスも説明文に含めることで、生成AIの「言い換えによる誤判定」を抑制。</a:t>
            </a:r>
          </a:p>
          <a:p>
            <a:pPr>
              <a:spcAft>
                <a:spcPts val="1200"/>
              </a:spcAft>
              <a:defRPr sz="1600">
                <a:solidFill>
                  <a:srgbClr val="505A69"/>
                </a:solidFill>
                <a:latin typeface="Noto Sans JP"/>
              </a:defRPr>
            </a:pPr>
            <a:r>
              <a:rPr>
                <a:latin typeface="Noto Sans CJK JP"/>
              </a:rPr>
              <a:t>ただし、予測は出力制御の有無を保証せず、公式発表を最終確認とする。</a:t>
            </a:r>
          </a:p>
        </p:txBody>
      </p:sp>
      <p:sp>
        <p:nvSpPr>
          <p:cNvPr id="14" name="TextBox 13"/>
          <p:cNvSpPr txBox="1"/>
          <p:nvPr/>
        </p:nvSpPr>
        <p:spPr>
          <a:xfrm>
            <a:off x="502920" y="6473952"/>
            <a:ext cx="11155680" cy="228600"/>
          </a:xfrm>
          <a:prstGeom prst="rect">
            <a:avLst/>
          </a:prstGeom>
          <a:noFill/>
        </p:spPr>
        <p:txBody>
          <a:bodyPr wrap="none">
            <a:spAutoFit/>
          </a:bodyPr>
          <a:lstStyle/>
          <a:p>
            <a:pPr>
              <a:defRPr sz="800">
                <a:solidFill>
                  <a:srgbClr val="505A69"/>
                </a:solidFill>
                <a:latin typeface="Noto Sans JP"/>
              </a:defRPr>
            </a:pPr>
            <a:r>
              <a:rPr>
                <a:latin typeface="Noto Sans CJK JP"/>
              </a:rPr>
              <a:t>solar_curtailment_kyushu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155680" cy="685800"/>
          </a:xfrm>
          <a:prstGeom prst="rect">
            <a:avLst/>
          </a:prstGeom>
          <a:noFill/>
        </p:spPr>
        <p:txBody>
          <a:bodyPr wrap="none">
            <a:spAutoFit/>
          </a:bodyPr>
          <a:lstStyle/>
          <a:p>
            <a:pPr>
              <a:defRPr sz="2600" b="1">
                <a:solidFill>
                  <a:srgbClr val="182D49"/>
                </a:solidFill>
                <a:latin typeface="Noto Sans JP"/>
              </a:defRPr>
            </a:pPr>
            <a:r>
              <a:rPr>
                <a:latin typeface="Noto Sans CJK JP"/>
              </a:rPr>
              <a:t>14. 結論 ― この分析から得られたこと</a:t>
            </a:r>
          </a:p>
        </p:txBody>
      </p:sp>
      <p:sp>
        <p:nvSpPr>
          <p:cNvPr id="4" name="TextBox 3"/>
          <p:cNvSpPr txBox="1"/>
          <p:nvPr/>
        </p:nvSpPr>
        <p:spPr>
          <a:xfrm>
            <a:off x="685800" y="1234440"/>
            <a:ext cx="10789920" cy="4526280"/>
          </a:xfrm>
          <a:prstGeom prst="rect">
            <a:avLst/>
          </a:prstGeom>
          <a:noFill/>
        </p:spPr>
        <p:txBody>
          <a:bodyPr wrap="square">
            <a:spAutoFit/>
          </a:bodyPr>
          <a:lstStyle/>
          <a:p>
            <a:pPr>
              <a:spcAft>
                <a:spcPts val="1200"/>
              </a:spcAft>
              <a:defRPr sz="1700">
                <a:solidFill>
                  <a:srgbClr val="505A69"/>
                </a:solidFill>
                <a:latin typeface="Noto Sans JP"/>
              </a:defRPr>
            </a:pPr>
            <a:r>
              <a:rPr>
                <a:latin typeface="Noto Sans CJK JP"/>
              </a:rPr>
              <a:t>① 九州の出力制御は、晴天・季節・太陽光導入量の影響を強く受ける。</a:t>
            </a:r>
          </a:p>
          <a:p>
            <a:pPr>
              <a:spcAft>
                <a:spcPts val="1200"/>
              </a:spcAft>
              <a:defRPr sz="1700">
                <a:solidFill>
                  <a:srgbClr val="505A69"/>
                </a:solidFill>
                <a:latin typeface="Noto Sans JP"/>
              </a:defRPr>
            </a:pPr>
            <a:r>
              <a:rPr>
                <a:latin typeface="Noto Sans CJK JP"/>
              </a:rPr>
              <a:t>② 「土日に多い」は季節を入れて見ると単純ではない。春と夏で構造が違う。</a:t>
            </a:r>
          </a:p>
          <a:p>
            <a:pPr>
              <a:spcAft>
                <a:spcPts val="1200"/>
              </a:spcAft>
              <a:defRPr sz="1700">
                <a:solidFill>
                  <a:srgbClr val="505A69"/>
                </a:solidFill>
                <a:latin typeface="Noto Sans JP"/>
              </a:defRPr>
            </a:pPr>
            <a:r>
              <a:rPr>
                <a:latin typeface="Noto Sans CJK JP"/>
              </a:rPr>
              <a:t>③ 出力制御の有無には日照時間、発電量そのものには全天日射量が有効。</a:t>
            </a:r>
          </a:p>
          <a:p>
            <a:pPr>
              <a:spcAft>
                <a:spcPts val="1200"/>
              </a:spcAft>
              <a:defRPr sz="1700">
                <a:solidFill>
                  <a:srgbClr val="505A69"/>
                </a:solidFill>
                <a:latin typeface="Noto Sans JP"/>
              </a:defRPr>
            </a:pPr>
            <a:r>
              <a:rPr>
                <a:latin typeface="Noto Sans CJK JP"/>
              </a:rPr>
              <a:t>④ 九州全体の気象を平均すると、AUCは0.924〜0.925まで向上。</a:t>
            </a:r>
          </a:p>
          <a:p>
            <a:pPr>
              <a:spcAft>
                <a:spcPts val="1200"/>
              </a:spcAft>
              <a:defRPr sz="1700">
                <a:solidFill>
                  <a:srgbClr val="505A69"/>
                </a:solidFill>
                <a:latin typeface="Noto Sans JP"/>
              </a:defRPr>
            </a:pPr>
            <a:r>
              <a:rPr>
                <a:latin typeface="Noto Sans CJK JP"/>
              </a:rPr>
              <a:t>⑤ 生成AIは「予測結果の説明役」として有用。ただし数値判定そのものは統計モデル側で固定する。</a:t>
            </a:r>
          </a:p>
          <a:p>
            <a:pPr>
              <a:spcAft>
                <a:spcPts val="1200"/>
              </a:spcAft>
              <a:defRPr sz="1700">
                <a:solidFill>
                  <a:srgbClr val="505A69"/>
                </a:solidFill>
                <a:latin typeface="Noto Sans JP"/>
              </a:defRPr>
            </a:pPr>
            <a:r>
              <a:rPr>
                <a:latin typeface="Noto Sans CJK JP"/>
              </a:rPr>
              <a:t>⑥ 最も重要なのは、データの意味・ラベル・取得方法を疑い、指摘を受けたら元データまで戻って再検証すること。</a:t>
            </a:r>
          </a:p>
        </p:txBody>
      </p:sp>
      <p:sp>
        <p:nvSpPr>
          <p:cNvPr id="5" name="TextBox 4"/>
          <p:cNvSpPr txBox="1"/>
          <p:nvPr/>
        </p:nvSpPr>
        <p:spPr>
          <a:xfrm>
            <a:off x="685800" y="5715000"/>
            <a:ext cx="10789920" cy="502920"/>
          </a:xfrm>
          <a:prstGeom prst="rect">
            <a:avLst/>
          </a:prstGeom>
          <a:noFill/>
        </p:spPr>
        <p:txBody>
          <a:bodyPr wrap="none">
            <a:spAutoFit/>
          </a:bodyPr>
          <a:lstStyle/>
          <a:p>
            <a:pPr>
              <a:defRPr sz="1000">
                <a:solidFill>
                  <a:srgbClr val="505A69"/>
                </a:solidFill>
                <a:latin typeface="Noto Sans JP"/>
              </a:defRPr>
            </a:pPr>
            <a:r>
              <a:rPr>
                <a:latin typeface="Noto Sans CJK JP"/>
              </a:rPr>
              <a:t>未検証：過去の実際の「予報vintage」と出力制御実績を直接突き合わせた予報精度評価。現時点では重複期間がなく実施困難。</a:t>
            </a:r>
          </a:p>
        </p:txBody>
      </p:sp>
      <p:sp>
        <p:nvSpPr>
          <p:cNvPr id="6" name="TextBox 5"/>
          <p:cNvSpPr txBox="1"/>
          <p:nvPr/>
        </p:nvSpPr>
        <p:spPr>
          <a:xfrm>
            <a:off x="502920" y="6473952"/>
            <a:ext cx="11155680" cy="228600"/>
          </a:xfrm>
          <a:prstGeom prst="rect">
            <a:avLst/>
          </a:prstGeom>
          <a:noFill/>
        </p:spPr>
        <p:txBody>
          <a:bodyPr wrap="none">
            <a:spAutoFit/>
          </a:bodyPr>
          <a:lstStyle/>
          <a:p>
            <a:pPr>
              <a:defRPr sz="800">
                <a:solidFill>
                  <a:srgbClr val="505A69"/>
                </a:solidFill>
                <a:latin typeface="Noto Sans JP"/>
              </a:defRPr>
            </a:pPr>
            <a:r>
              <a:rPr>
                <a:latin typeface="Noto Sans CJK JP"/>
              </a:rPr>
              <a:t>solar_curtailment_kyushu  |  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